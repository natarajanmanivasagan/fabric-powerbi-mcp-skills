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60" r:id="rId5"/>
    <p:sldId id="277" r:id="rId6"/>
    <p:sldId id="259" r:id="rId7"/>
    <p:sldId id="261" r:id="rId8"/>
    <p:sldId id="262" r:id="rId9"/>
    <p:sldId id="264" r:id="rId10"/>
    <p:sldId id="263"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4" d="100"/>
          <a:sy n="74" d="100"/>
        </p:scale>
        <p:origin x="3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43949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30 minutes, hard stop. Half of it is live demo on a PBIP. Set the frame: all of this is still labelled preview (the local server extension reached 1.0 on 25 September, but Microsoft's docs still call it preview), and the demo model is one I'm allowed to break.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seconds, no more. The room came for MCP, not for me. The one line worth saying out loud: I use this on real models, and the limits slide later is written from things that actually burned me.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timings out loud so people know the demo is coming. If setup questions start early, park them - the runbook has the configs.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the word before you use it for 25 minutes. The progression lands it: autocomplete suggests, chat answers, agentic acts and then checks. The last column is the only one that touches your model.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minutes. The handshake on the left is the whole protocol - four messages. The right column is why that matters: the agent is not compiled against your API, it asks at runtime. That is the thing a REST API cannot do.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trace from the demo model, not a mock-up. The point to land: nobody wrote an API call. The agent read 21 tool descriptions and picked. Each server response decides the next step.</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Microsoft's own framing under 'Power BI Agentic'. Skills tell the agent what good looks like; tools let it act. Without skills the agent guesses conventions; without tools it just writes advice.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Sixty seconds. No JSON to hand-write any more - the extension is the install. Say the npx footnote out loud: if they later install the powerbi-authoring plugin it registers this same server via npx, so Node still has to be there.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Do route 1 live if you are already in VS Code - it takes ten seconds and needs no terminal. The trap line is the one people thank you for: their server is installed and working, it just is not in mcp.json, and they conclude it is broken. The amber callout is the actual point of the slide.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fast. The point is that the modeling surface is genuinely complete - this is not a toy.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most valuable slide in the deck. Do not soften any of these. Every one has burned somebody. The synonyms row is the one people argue with - no tool in the 1.0 server reads or writes linguistic metadata, and the official skill leaves synonyms to you.</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Switch to the machine here. State the before/after in one sentence: a raw warehouse model in, a business-readable AI-ready model out, without opening a single properties pane.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Steps 1 and 2. Always GetSchema before renaming - rename from what is actually there, not from memory. Mention formula fixup: measures usually follow the rename, but verify.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Steps 3 and 4 - the AI-readiness core. Descriptions are the single biggest lever on Copilot answer quality. The naming card is the one that lands with architects: a written standard becomes one prompt instead of a code review. Deliver the synonyms aside as a fact, not an apology.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 this is where you show breadth. Keys hidden and summarizeBy None is the fix for the classic 'sum of CityKey' bug. Relationships bind by object, so renames don't break them, but list them anyway.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This is the gotcha that ruins demos and real work alike. Say it twice: nothing is saved until Ctrl+S or an export. End the demo by proving it on disk.</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minutes. Different server, different job - this one runs the platform, not the model. Lead with the four lanes, they are what people will actually use it for. The server strip is a 'take a photo' slide, do not read it out. Land the last limit: workspace delete is permanent.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newest piece and the one most people have not seen. Key line: this is not a Power BI feature you enable - it is a bundle you install into your agent. Since 0.3.17 the four report skills are one skill, powerbi-report-cli, which picks its mode from what you ask for. Anyone who copied the older skills from a blog post is carrying skills that no longer exist upstream.</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'take a photo' slide. Route 1 is what the docs recommend. Route 3 is new: APM installs a single skill, and its -g flag is the difference between user scope and this project only. Route 4 is the honest answer to 'where is the zip': there is no release zip, it is the repo download - and if you copy a skill folder without common/, its shared links break. I had exactly that on my own machine.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Ties the whole session together and answers the obvious question: how do I build the report itself? Different layer, different tool. Since 0.3.17 the top three layers are all one skill in different modes.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on the one action, then take questions with this up. If asked 'is it production ready' - it is still labelled preview, even at 1.0: use it on dev models behind a review gate, and it already pays for itself on model hygiene.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82E"/>
        </a:solidFill>
        <a:effectLst/>
      </p:bgPr>
    </p:bg>
    <p:spTree>
      <p:nvGrpSpPr>
        <p:cNvPr id="1" name=""/>
        <p:cNvGrpSpPr/>
        <p:nvPr/>
      </p:nvGrpSpPr>
      <p:grpSpPr>
        <a:xfrm>
          <a:off x="0" y="0"/>
          <a:ext cx="0" cy="0"/>
          <a:chOff x="0" y="0"/>
          <a:chExt cx="0" cy="0"/>
        </a:xfrm>
      </p:grpSpPr>
      <p:sp>
        <p:nvSpPr>
          <p:cNvPr id="3" name="Shape 0"/>
          <p:cNvSpPr/>
          <p:nvPr/>
        </p:nvSpPr>
        <p:spPr>
          <a:xfrm>
            <a:off x="8732520" y="1051560"/>
            <a:ext cx="3063240" cy="3063240"/>
          </a:xfrm>
          <a:prstGeom prst="ellipse">
            <a:avLst/>
          </a:prstGeom>
          <a:solidFill>
            <a:srgbClr val="14182E"/>
          </a:solidFill>
          <a:ln w="25400">
            <a:solidFill>
              <a:srgbClr val="F2C230"/>
            </a:solidFill>
            <a:prstDash val="solid"/>
          </a:ln>
        </p:spPr>
        <p:txBody>
          <a:bodyPr/>
          <a:p/>
        </p:txBody>
      </p:sp>
      <p:sp>
        <p:nvSpPr>
          <p:cNvPr id="4" name="Shape 1"/>
          <p:cNvSpPr/>
          <p:nvPr/>
        </p:nvSpPr>
        <p:spPr>
          <a:xfrm>
            <a:off x="9326880" y="1645920"/>
            <a:ext cx="1874520" cy="1874520"/>
          </a:xfrm>
          <a:prstGeom prst="ellipse">
            <a:avLst/>
          </a:prstGeom>
          <a:solidFill>
            <a:srgbClr val="F2C230"/>
          </a:solidFill>
          <a:ln w="12700">
            <a:solidFill>
              <a:srgbClr val="F2C230"/>
            </a:solidFill>
            <a:prstDash val="solid"/>
          </a:ln>
        </p:spPr>
        <p:txBody>
          <a:bodyPr/>
          <a:p/>
        </p:txBody>
      </p:sp>
      <p:sp>
        <p:nvSpPr>
          <p:cNvPr id="5" name="Text 2"/>
          <p:cNvSpPr/>
          <p:nvPr/>
        </p:nvSpPr>
        <p:spPr>
          <a:xfrm>
            <a:off x="9326880" y="1645920"/>
            <a:ext cx="1874520" cy="1874520"/>
          </a:xfrm>
          <a:prstGeom prst="rect">
            <a:avLst/>
          </a:prstGeom>
          <a:noFill/>
          <a:ln/>
        </p:spPr>
        <p:txBody>
          <a:bodyPr wrap="square" lIns="0" tIns="0" rIns="0" bIns="0" rtlCol="0" anchor="ctr"/>
          <a:lstStyle/>
          <a:p>
            <a:pPr algn="ctr" indent="0" marL="0">
              <a:buNone/>
            </a:pPr>
            <a:r>
              <a:rPr lang="en-US" sz="3400" b="1" dirty="0">
                <a:solidFill>
                  <a:srgbClr val="14182E"/>
                </a:solidFill>
                <a:latin typeface="Cambria" pitchFamily="34" charset="0"/>
                <a:ea typeface="Cambria" pitchFamily="34" charset="-122"/>
                <a:cs typeface="Cambria" pitchFamily="34" charset="-120"/>
              </a:rPr>
              <a:t>MCP</a:t>
            </a:r>
            <a:endParaRPr lang="en-US" sz="3400" dirty="0"/>
          </a:p>
        </p:txBody>
      </p:sp>
      <p:sp>
        <p:nvSpPr>
          <p:cNvPr id="6" name="Shape 3"/>
          <p:cNvSpPr/>
          <p:nvPr/>
        </p:nvSpPr>
        <p:spPr>
          <a:xfrm>
            <a:off x="566928" y="1225296"/>
            <a:ext cx="566928" cy="45720"/>
          </a:xfrm>
          <a:prstGeom prst="rect">
            <a:avLst/>
          </a:prstGeom>
          <a:solidFill>
            <a:srgbClr val="F2C230"/>
          </a:solidFill>
          <a:ln w="12700">
            <a:solidFill>
              <a:srgbClr val="F2C230"/>
            </a:solidFill>
            <a:prstDash val="solid"/>
          </a:ln>
        </p:spPr>
        <p:txBody>
          <a:bodyPr/>
          <a:p/>
        </p:txBody>
      </p:sp>
      <p:sp>
        <p:nvSpPr>
          <p:cNvPr id="7" name="Text 4"/>
          <p:cNvSpPr/>
          <p:nvPr/>
        </p:nvSpPr>
        <p:spPr>
          <a:xfrm>
            <a:off x="566928" y="1371600"/>
            <a:ext cx="7863840" cy="274320"/>
          </a:xfrm>
          <a:prstGeom prst="rect">
            <a:avLst/>
          </a:prstGeom>
          <a:noFill/>
          <a:ln/>
        </p:spPr>
        <p:txBody>
          <a:bodyPr wrap="square" lIns="0" tIns="0" rIns="0" bIns="0" rtlCol="0" anchor="ctr"/>
          <a:lstStyle/>
          <a:p>
            <a:pPr indent="0" marL="0">
              <a:buNone/>
            </a:pPr>
            <a:r>
              <a:rPr lang="en-US" sz="1200" b="1" spc="220" kern="0" dirty="0">
                <a:solidFill>
                  <a:srgbClr val="F2C230"/>
                </a:solidFill>
                <a:latin typeface="Calibri" pitchFamily="34" charset="0"/>
                <a:ea typeface="Calibri" pitchFamily="34" charset="-122"/>
                <a:cs typeface="Calibri" pitchFamily="34" charset="-120"/>
              </a:rPr>
              <a:t>MICROSOFT FABRIC USER GROUP PUNE  ·  30 MINUTES</a:t>
            </a:r>
            <a:endParaRPr lang="en-US" sz="1200" dirty="0"/>
          </a:p>
        </p:txBody>
      </p:sp>
      <p:sp>
        <p:nvSpPr>
          <p:cNvPr id="8" name="Text 5"/>
          <p:cNvSpPr/>
          <p:nvPr/>
        </p:nvSpPr>
        <p:spPr>
          <a:xfrm>
            <a:off x="566928" y="1737360"/>
            <a:ext cx="7863840" cy="914400"/>
          </a:xfrm>
          <a:prstGeom prst="rect">
            <a:avLst/>
          </a:prstGeom>
          <a:noFill/>
          <a:ln/>
        </p:spPr>
        <p:txBody>
          <a:bodyPr wrap="square" lIns="0" tIns="0" rIns="0" bIns="0"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Power BI + Fabric MCP</a:t>
            </a:r>
            <a:endParaRPr lang="en-US" sz="5000" dirty="0"/>
          </a:p>
        </p:txBody>
      </p:sp>
      <p:sp>
        <p:nvSpPr>
          <p:cNvPr id="9" name="Text 6"/>
          <p:cNvSpPr/>
          <p:nvPr/>
        </p:nvSpPr>
        <p:spPr>
          <a:xfrm>
            <a:off x="566928" y="2679192"/>
            <a:ext cx="7863840" cy="457200"/>
          </a:xfrm>
          <a:prstGeom prst="rect">
            <a:avLst/>
          </a:prstGeom>
          <a:noFill/>
          <a:ln/>
        </p:spPr>
        <p:txBody>
          <a:bodyPr wrap="square" lIns="0" tIns="0" rIns="0" bIns="0" rtlCol="0" anchor="ctr"/>
          <a:lstStyle/>
          <a:p>
            <a:pPr indent="0" marL="0">
              <a:buNone/>
            </a:pPr>
            <a:r>
              <a:rPr lang="en-US" sz="1900" dirty="0">
                <a:solidFill>
                  <a:srgbClr val="C6CBDD"/>
                </a:solidFill>
                <a:latin typeface="Calibri" pitchFamily="34" charset="0"/>
                <a:ea typeface="Calibri" pitchFamily="34" charset="-122"/>
                <a:cs typeface="Calibri" pitchFamily="34" charset="-120"/>
              </a:rPr>
              <a:t>What it can do, what it can't, and how to set it up</a:t>
            </a:r>
            <a:endParaRPr lang="en-US" sz="1900" dirty="0"/>
          </a:p>
        </p:txBody>
      </p:sp>
      <p:sp>
        <p:nvSpPr>
          <p:cNvPr id="10" name="Text 7"/>
          <p:cNvSpPr/>
          <p:nvPr/>
        </p:nvSpPr>
        <p:spPr>
          <a:xfrm>
            <a:off x="566928" y="3977640"/>
            <a:ext cx="2468880" cy="237744"/>
          </a:xfrm>
          <a:prstGeom prst="rect">
            <a:avLst/>
          </a:prstGeom>
          <a:noFill/>
          <a:ln/>
        </p:spPr>
        <p:txBody>
          <a:bodyPr wrap="square" lIns="0" tIns="0" rIns="0" bIns="0" rtlCol="0" anchor="ctr"/>
          <a:lstStyle/>
          <a:p>
            <a:pPr indent="0" marL="0">
              <a:buNone/>
            </a:pPr>
            <a:r>
              <a:rPr lang="en-US" sz="1000" b="1" spc="180" kern="0" dirty="0">
                <a:solidFill>
                  <a:srgbClr val="1F9E96"/>
                </a:solidFill>
                <a:latin typeface="Calibri" pitchFamily="34" charset="0"/>
                <a:ea typeface="Calibri" pitchFamily="34" charset="-122"/>
                <a:cs typeface="Calibri" pitchFamily="34" charset="-120"/>
              </a:rPr>
              <a:t>CONCEPT</a:t>
            </a:r>
            <a:endParaRPr lang="en-US" sz="1000" dirty="0"/>
          </a:p>
        </p:txBody>
      </p:sp>
      <p:sp>
        <p:nvSpPr>
          <p:cNvPr id="11" name="Text 8"/>
          <p:cNvSpPr/>
          <p:nvPr/>
        </p:nvSpPr>
        <p:spPr>
          <a:xfrm>
            <a:off x="566928" y="4224528"/>
            <a:ext cx="2468880" cy="5486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MCP + agentic development</a:t>
            </a:r>
            <a:endParaRPr lang="en-US" sz="1400" dirty="0"/>
          </a:p>
        </p:txBody>
      </p:sp>
      <p:sp>
        <p:nvSpPr>
          <p:cNvPr id="12" name="Text 9"/>
          <p:cNvSpPr/>
          <p:nvPr/>
        </p:nvSpPr>
        <p:spPr>
          <a:xfrm>
            <a:off x="3264408" y="3977640"/>
            <a:ext cx="2468880" cy="237744"/>
          </a:xfrm>
          <a:prstGeom prst="rect">
            <a:avLst/>
          </a:prstGeom>
          <a:noFill/>
          <a:ln/>
        </p:spPr>
        <p:txBody>
          <a:bodyPr wrap="square" lIns="0" tIns="0" rIns="0" bIns="0" rtlCol="0" anchor="ctr"/>
          <a:lstStyle/>
          <a:p>
            <a:pPr indent="0" marL="0">
              <a:buNone/>
            </a:pPr>
            <a:r>
              <a:rPr lang="en-US" sz="1000" b="1" spc="180" kern="0" dirty="0">
                <a:solidFill>
                  <a:srgbClr val="1F9E96"/>
                </a:solidFill>
                <a:latin typeface="Calibri" pitchFamily="34" charset="0"/>
                <a:ea typeface="Calibri" pitchFamily="34" charset="-122"/>
                <a:cs typeface="Calibri" pitchFamily="34" charset="-120"/>
              </a:rPr>
              <a:t>DEMO</a:t>
            </a:r>
            <a:endParaRPr lang="en-US" sz="1000" dirty="0"/>
          </a:p>
        </p:txBody>
      </p:sp>
      <p:sp>
        <p:nvSpPr>
          <p:cNvPr id="13" name="Text 10"/>
          <p:cNvSpPr/>
          <p:nvPr/>
        </p:nvSpPr>
        <p:spPr>
          <a:xfrm>
            <a:off x="3264408" y="4224528"/>
            <a:ext cx="2468880" cy="5486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A PBIP model, end to end</a:t>
            </a:r>
            <a:endParaRPr lang="en-US" sz="1400" dirty="0"/>
          </a:p>
        </p:txBody>
      </p:sp>
      <p:sp>
        <p:nvSpPr>
          <p:cNvPr id="14" name="Text 11"/>
          <p:cNvSpPr/>
          <p:nvPr/>
        </p:nvSpPr>
        <p:spPr>
          <a:xfrm>
            <a:off x="5961888" y="3977640"/>
            <a:ext cx="2468880" cy="237744"/>
          </a:xfrm>
          <a:prstGeom prst="rect">
            <a:avLst/>
          </a:prstGeom>
          <a:noFill/>
          <a:ln/>
        </p:spPr>
        <p:txBody>
          <a:bodyPr wrap="square" lIns="0" tIns="0" rIns="0" bIns="0" rtlCol="0" anchor="ctr"/>
          <a:lstStyle/>
          <a:p>
            <a:pPr indent="0" marL="0">
              <a:buNone/>
            </a:pPr>
            <a:r>
              <a:rPr lang="en-US" sz="1000" b="1" spc="180" kern="0" dirty="0">
                <a:solidFill>
                  <a:srgbClr val="1F9E96"/>
                </a:solidFill>
                <a:latin typeface="Calibri" pitchFamily="34" charset="0"/>
                <a:ea typeface="Calibri" pitchFamily="34" charset="-122"/>
                <a:cs typeface="Calibri" pitchFamily="34" charset="-120"/>
              </a:rPr>
              <a:t>HONEST</a:t>
            </a:r>
            <a:endParaRPr lang="en-US" sz="1000" dirty="0"/>
          </a:p>
        </p:txBody>
      </p:sp>
      <p:sp>
        <p:nvSpPr>
          <p:cNvPr id="15" name="Text 12"/>
          <p:cNvSpPr/>
          <p:nvPr/>
        </p:nvSpPr>
        <p:spPr>
          <a:xfrm>
            <a:off x="5961888" y="4224528"/>
            <a:ext cx="2468880" cy="5486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Limits, gotchas, preview</a:t>
            </a:r>
            <a:endParaRPr lang="en-US" sz="1400" dirty="0"/>
          </a:p>
        </p:txBody>
      </p:sp>
      <p:sp>
        <p:nvSpPr>
          <p:cNvPr id="16" name="Text 13"/>
          <p:cNvSpPr/>
          <p:nvPr/>
        </p:nvSpPr>
        <p:spPr>
          <a:xfrm>
            <a:off x="566928" y="5852160"/>
            <a:ext cx="8686800" cy="365760"/>
          </a:xfrm>
          <a:prstGeom prst="rect">
            <a:avLst/>
          </a:prstGeom>
          <a:noFill/>
          <a:ln/>
        </p:spPr>
        <p:txBody>
          <a:bodyPr wrap="square" lIns="0" tIns="0" rIns="0" bIns="0" rtlCol="0" anchor="ctr"/>
          <a:lstStyle/>
          <a:p>
            <a:pPr indent="0" marL="0">
              <a:buNone/>
            </a:pPr>
            <a:r>
              <a:rPr lang="en-US" sz="1300" i="1" dirty="0">
                <a:solidFill>
                  <a:srgbClr val="8A93B2"/>
                </a:solidFill>
                <a:latin typeface="Calibri" pitchFamily="34" charset="0"/>
                <a:ea typeface="Calibri" pitchFamily="34" charset="-122"/>
                <a:cs typeface="Calibri" pitchFamily="34" charset="-120"/>
              </a:rPr>
              <a:t>Natarajan Manivasagan  ·  BI Architect, Microsoft Fabric Super User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9134856" y="6381598"/>
            <a:ext cx="310896" cy="20117"/>
          </a:xfrm>
          <a:prstGeom prst="rect">
            <a:avLst/>
          </a:prstGeom>
          <a:solidFill>
            <a:srgbClr val="1F9E96"/>
          </a:solidFill>
          <a:ln w="12700">
            <a:solidFill>
              <a:srgbClr val="1F9E96"/>
            </a:solidFill>
            <a:prstDash val="solid"/>
          </a:ln>
        </p:spPr>
        <p:txBody>
          <a:bodyPr/>
          <a:lstStyle/>
          <a:p>
            <a:endParaRPr lang="en-US"/>
          </a:p>
        </p:txBody>
      </p:sp>
      <p:sp>
        <p:nvSpPr>
          <p:cNvPr id="4" name="Text 1"/>
          <p:cNvSpPr/>
          <p:nvPr/>
        </p:nvSpPr>
        <p:spPr>
          <a:xfrm>
            <a:off x="9518904" y="6272784"/>
            <a:ext cx="2103120" cy="237744"/>
          </a:xfrm>
          <a:prstGeom prst="rect">
            <a:avLst/>
          </a:prstGeom>
          <a:noFill/>
          <a:ln/>
        </p:spPr>
        <p:txBody>
          <a:bodyPr wrap="square" lIns="0" tIns="0" rIns="0" bIns="0" rtlCol="0" anchor="ctr"/>
          <a:lstStyle/>
          <a:p>
            <a:pPr marL="0" indent="0" algn="r">
              <a:buNone/>
            </a:pPr>
            <a:r>
              <a:rPr lang="en-US" sz="900" b="1" kern="0" spc="120" dirty="0">
                <a:solidFill>
                  <a:srgbClr val="6B7280"/>
                </a:solidFill>
                <a:latin typeface="Calibri" pitchFamily="34" charset="0"/>
                <a:ea typeface="Calibri" pitchFamily="34" charset="-122"/>
                <a:cs typeface="Calibri" pitchFamily="34" charset="-120"/>
              </a:rPr>
              <a:t>2 / 22  ·  SPEAKER</a:t>
            </a:r>
            <a:endParaRPr lang="en-US" sz="900" dirty="0"/>
          </a:p>
        </p:txBody>
      </p:sp>
      <p:sp>
        <p:nvSpPr>
          <p:cNvPr id="5" name="Shape 2"/>
          <p:cNvSpPr/>
          <p:nvPr/>
        </p:nvSpPr>
        <p:spPr>
          <a:xfrm>
            <a:off x="566928" y="274320"/>
            <a:ext cx="566928" cy="41148"/>
          </a:xfrm>
          <a:prstGeom prst="rect">
            <a:avLst/>
          </a:prstGeom>
          <a:solidFill>
            <a:srgbClr val="1F9E96"/>
          </a:solidFill>
          <a:ln w="12700">
            <a:solidFill>
              <a:srgbClr val="1F9E96"/>
            </a:solidFill>
            <a:prstDash val="solid"/>
          </a:ln>
        </p:spPr>
        <p:txBody>
          <a:bodyPr/>
          <a:lstStyle/>
          <a:p>
            <a:endParaRPr lang="en-US"/>
          </a:p>
        </p:txBody>
      </p:sp>
      <p:sp>
        <p:nvSpPr>
          <p:cNvPr id="6" name="Text 3"/>
          <p:cNvSpPr/>
          <p:nvPr/>
        </p:nvSpPr>
        <p:spPr>
          <a:xfrm>
            <a:off x="566928" y="402336"/>
            <a:ext cx="11055096" cy="256032"/>
          </a:xfrm>
          <a:prstGeom prst="rect">
            <a:avLst/>
          </a:prstGeom>
          <a:noFill/>
          <a:ln/>
        </p:spPr>
        <p:txBody>
          <a:bodyPr wrap="square" lIns="0" tIns="0" rIns="0" bIns="0" rtlCol="0" anchor="ctr"/>
          <a:lstStyle/>
          <a:p>
            <a:pPr marL="0" indent="0">
              <a:buNone/>
            </a:pPr>
            <a:r>
              <a:rPr lang="en-US" sz="1100" b="1" kern="0" spc="220" dirty="0">
                <a:solidFill>
                  <a:srgbClr val="1F9E96"/>
                </a:solidFill>
                <a:latin typeface="Calibri" pitchFamily="34" charset="0"/>
                <a:ea typeface="Calibri" pitchFamily="34" charset="-122"/>
                <a:cs typeface="Calibri" pitchFamily="34" charset="-120"/>
              </a:rPr>
              <a:t>SPEAKER</a:t>
            </a:r>
            <a:endParaRPr lang="en-US" sz="1100" dirty="0"/>
          </a:p>
        </p:txBody>
      </p:sp>
      <p:sp>
        <p:nvSpPr>
          <p:cNvPr id="7" name="Text 4"/>
          <p:cNvSpPr/>
          <p:nvPr/>
        </p:nvSpPr>
        <p:spPr>
          <a:xfrm>
            <a:off x="566928" y="676656"/>
            <a:ext cx="11055096" cy="621792"/>
          </a:xfrm>
          <a:prstGeom prst="rect">
            <a:avLst/>
          </a:prstGeom>
          <a:noFill/>
          <a:ln/>
        </p:spPr>
        <p:txBody>
          <a:bodyPr wrap="square" lIns="0" tIns="0" rIns="0" bIns="0" rtlCol="0" anchor="ctr"/>
          <a:lstStyle/>
          <a:p>
            <a:pPr marL="0" indent="0">
              <a:buNone/>
            </a:pPr>
            <a:r>
              <a:rPr lang="en-US" sz="3400" b="1" dirty="0">
                <a:solidFill>
                  <a:srgbClr val="14182E"/>
                </a:solidFill>
                <a:latin typeface="Cambria" pitchFamily="34" charset="0"/>
                <a:ea typeface="Cambria" pitchFamily="34" charset="-122"/>
                <a:cs typeface="Cambria" pitchFamily="34" charset="-120"/>
              </a:rPr>
              <a:t>About me</a:t>
            </a:r>
            <a:endParaRPr lang="en-US" sz="3400" dirty="0"/>
          </a:p>
        </p:txBody>
      </p:sp>
      <p:sp>
        <p:nvSpPr>
          <p:cNvPr id="8" name="Shape 5"/>
          <p:cNvSpPr/>
          <p:nvPr/>
        </p:nvSpPr>
        <p:spPr>
          <a:xfrm>
            <a:off x="566928" y="1554480"/>
            <a:ext cx="2468880" cy="2468880"/>
          </a:xfrm>
          <a:prstGeom prst="roundRect">
            <a:avLst>
              <a:gd name="adj" fmla="val 5185"/>
            </a:avLst>
          </a:prstGeom>
          <a:solidFill>
            <a:srgbClr val="14182E"/>
          </a:solidFill>
          <a:ln w="25400">
            <a:solidFill>
              <a:srgbClr val="F2C230"/>
            </a:solidFill>
            <a:prstDash val="solid"/>
          </a:ln>
        </p:spPr>
        <p:txBody>
          <a:bodyPr/>
          <a:lstStyle/>
          <a:p>
            <a:endParaRPr lang="en-US"/>
          </a:p>
        </p:txBody>
      </p:sp>
      <p:sp>
        <p:nvSpPr>
          <p:cNvPr id="9" name="Text 6"/>
          <p:cNvSpPr/>
          <p:nvPr/>
        </p:nvSpPr>
        <p:spPr>
          <a:xfrm>
            <a:off x="566928" y="1554480"/>
            <a:ext cx="2468880" cy="2468880"/>
          </a:xfrm>
          <a:prstGeom prst="rect">
            <a:avLst/>
          </a:prstGeom>
          <a:noFill/>
          <a:ln/>
        </p:spPr>
        <p:txBody>
          <a:bodyPr wrap="square" lIns="0" tIns="0" rIns="0" bIns="0" rtlCol="0" anchor="ctr"/>
          <a:lstStyle/>
          <a:p>
            <a:pPr marL="0" indent="0" algn="ctr">
              <a:buNone/>
            </a:pPr>
            <a:r>
              <a:rPr lang="en-US" sz="6600" b="1" dirty="0">
                <a:solidFill>
                  <a:srgbClr val="F2C230"/>
                </a:solidFill>
                <a:latin typeface="Cambria" pitchFamily="34" charset="0"/>
                <a:ea typeface="Cambria" pitchFamily="34" charset="-122"/>
                <a:cs typeface="Cambria" pitchFamily="34" charset="-120"/>
              </a:rPr>
              <a:t>NM</a:t>
            </a:r>
            <a:endParaRPr lang="en-US" sz="6600" dirty="0"/>
          </a:p>
        </p:txBody>
      </p:sp>
      <p:sp>
        <p:nvSpPr>
          <p:cNvPr id="10" name="Text 7"/>
          <p:cNvSpPr/>
          <p:nvPr/>
        </p:nvSpPr>
        <p:spPr>
          <a:xfrm>
            <a:off x="3273552" y="1572768"/>
            <a:ext cx="8348472" cy="658368"/>
          </a:xfrm>
          <a:prstGeom prst="rect">
            <a:avLst/>
          </a:prstGeom>
          <a:noFill/>
          <a:ln/>
        </p:spPr>
        <p:txBody>
          <a:bodyPr wrap="square" lIns="0" tIns="0" rIns="0" bIns="0" rtlCol="0" anchor="ctr"/>
          <a:lstStyle/>
          <a:p>
            <a:pPr marL="0" indent="0">
              <a:buNone/>
            </a:pPr>
            <a:r>
              <a:rPr lang="en-US" sz="3800" b="1" dirty="0">
                <a:solidFill>
                  <a:srgbClr val="14182E"/>
                </a:solidFill>
                <a:latin typeface="Cambria" pitchFamily="34" charset="0"/>
                <a:ea typeface="Cambria" pitchFamily="34" charset="-122"/>
                <a:cs typeface="Cambria" pitchFamily="34" charset="-120"/>
              </a:rPr>
              <a:t>Natarajan Manivasagan</a:t>
            </a:r>
            <a:endParaRPr lang="en-US" sz="3800" dirty="0"/>
          </a:p>
        </p:txBody>
      </p:sp>
      <p:sp>
        <p:nvSpPr>
          <p:cNvPr id="11" name="Text 8"/>
          <p:cNvSpPr/>
          <p:nvPr/>
        </p:nvSpPr>
        <p:spPr>
          <a:xfrm>
            <a:off x="3273552" y="2249424"/>
            <a:ext cx="8348472" cy="365760"/>
          </a:xfrm>
          <a:prstGeom prst="rect">
            <a:avLst/>
          </a:prstGeom>
          <a:noFill/>
          <a:ln/>
        </p:spPr>
        <p:txBody>
          <a:bodyPr wrap="square" lIns="0" tIns="0" rIns="0" bIns="0" rtlCol="0" anchor="ctr"/>
          <a:lstStyle/>
          <a:p>
            <a:pPr marL="0" indent="0">
              <a:buNone/>
            </a:pPr>
            <a:r>
              <a:rPr lang="en-US" sz="1900" b="1" dirty="0">
                <a:solidFill>
                  <a:srgbClr val="1F9E96"/>
                </a:solidFill>
                <a:latin typeface="Calibri" pitchFamily="34" charset="0"/>
                <a:ea typeface="Calibri" pitchFamily="34" charset="-122"/>
                <a:cs typeface="Calibri" pitchFamily="34" charset="-120"/>
              </a:rPr>
              <a:t>BI Architect  ·  Microsoft Fabric Super User</a:t>
            </a:r>
            <a:endParaRPr lang="en-US" sz="1900" dirty="0"/>
          </a:p>
        </p:txBody>
      </p:sp>
      <p:sp>
        <p:nvSpPr>
          <p:cNvPr id="12" name="Text 9"/>
          <p:cNvSpPr/>
          <p:nvPr/>
        </p:nvSpPr>
        <p:spPr>
          <a:xfrm>
            <a:off x="3273552" y="2651760"/>
            <a:ext cx="8348472" cy="731520"/>
          </a:xfrm>
          <a:prstGeom prst="rect">
            <a:avLst/>
          </a:prstGeom>
          <a:noFill/>
          <a:ln/>
        </p:spPr>
        <p:txBody>
          <a:bodyPr wrap="square" lIns="0" tIns="0" rIns="0" bIns="0" rtlCol="0" anchor="ctr"/>
          <a:lstStyle/>
          <a:p>
            <a:pPr marL="0" indent="0">
              <a:lnSpc>
                <a:spcPct val="120000"/>
              </a:lnSpc>
              <a:buNone/>
            </a:pPr>
            <a:r>
              <a:rPr lang="en-US" sz="1350" dirty="0">
                <a:solidFill>
                  <a:srgbClr val="6B7280"/>
                </a:solidFill>
                <a:latin typeface="Calibri" pitchFamily="34" charset="0"/>
                <a:ea typeface="Calibri" pitchFamily="34" charset="-122"/>
                <a:cs typeface="Calibri" pitchFamily="34" charset="-120"/>
              </a:rPr>
              <a:t>10 years building BI and analytics solutions — semantic models that have to survive contact with real users, and the governance around them.</a:t>
            </a:r>
            <a:endParaRPr lang="en-US" sz="1350" dirty="0"/>
          </a:p>
        </p:txBody>
      </p:sp>
      <p:sp>
        <p:nvSpPr>
          <p:cNvPr id="13" name="Shape 10"/>
          <p:cNvSpPr/>
          <p:nvPr/>
        </p:nvSpPr>
        <p:spPr>
          <a:xfrm>
            <a:off x="3273552" y="3529584"/>
            <a:ext cx="2660904" cy="365760"/>
          </a:xfrm>
          <a:prstGeom prst="roundRect">
            <a:avLst>
              <a:gd name="adj" fmla="val 40000"/>
            </a:avLst>
          </a:prstGeom>
          <a:solidFill>
            <a:srgbClr val="FDF6E3"/>
          </a:solidFill>
          <a:ln w="12700">
            <a:solidFill>
              <a:srgbClr val="EBD9A8"/>
            </a:solidFill>
            <a:prstDash val="solid"/>
          </a:ln>
        </p:spPr>
        <p:txBody>
          <a:bodyPr/>
          <a:lstStyle/>
          <a:p>
            <a:endParaRPr lang="en-US"/>
          </a:p>
        </p:txBody>
      </p:sp>
      <p:sp>
        <p:nvSpPr>
          <p:cNvPr id="14" name="Text 11"/>
          <p:cNvSpPr/>
          <p:nvPr/>
        </p:nvSpPr>
        <p:spPr>
          <a:xfrm>
            <a:off x="3273552" y="3529584"/>
            <a:ext cx="2660904" cy="365760"/>
          </a:xfrm>
          <a:prstGeom prst="rect">
            <a:avLst/>
          </a:prstGeom>
          <a:noFill/>
          <a:ln/>
        </p:spPr>
        <p:txBody>
          <a:bodyPr wrap="square" lIns="0" tIns="0" rIns="0" bIns="0" rtlCol="0" anchor="ctr"/>
          <a:lstStyle/>
          <a:p>
            <a:pPr marL="0" indent="0" algn="ctr">
              <a:buNone/>
            </a:pPr>
            <a:r>
              <a:rPr lang="en-US" sz="1150" b="1" dirty="0">
                <a:solidFill>
                  <a:srgbClr val="8A6E12"/>
                </a:solidFill>
                <a:latin typeface="Calibri" pitchFamily="34" charset="0"/>
                <a:ea typeface="Calibri" pitchFamily="34" charset="-122"/>
                <a:cs typeface="Calibri" pitchFamily="34" charset="-120"/>
              </a:rPr>
              <a:t>Fabric Super User</a:t>
            </a:r>
            <a:endParaRPr lang="en-US" sz="1150" dirty="0"/>
          </a:p>
        </p:txBody>
      </p:sp>
      <p:sp>
        <p:nvSpPr>
          <p:cNvPr id="15" name="Shape 12"/>
          <p:cNvSpPr/>
          <p:nvPr/>
        </p:nvSpPr>
        <p:spPr>
          <a:xfrm>
            <a:off x="6117336" y="3529584"/>
            <a:ext cx="2660904" cy="365760"/>
          </a:xfrm>
          <a:prstGeom prst="roundRect">
            <a:avLst>
              <a:gd name="adj" fmla="val 40000"/>
            </a:avLst>
          </a:prstGeom>
          <a:solidFill>
            <a:srgbClr val="EDF7F6"/>
          </a:solidFill>
          <a:ln w="12700">
            <a:solidFill>
              <a:srgbClr val="C7E4E1"/>
            </a:solidFill>
            <a:prstDash val="solid"/>
          </a:ln>
        </p:spPr>
        <p:txBody>
          <a:bodyPr/>
          <a:lstStyle/>
          <a:p>
            <a:endParaRPr lang="en-US"/>
          </a:p>
        </p:txBody>
      </p:sp>
      <p:sp>
        <p:nvSpPr>
          <p:cNvPr id="16" name="Text 13"/>
          <p:cNvSpPr/>
          <p:nvPr/>
        </p:nvSpPr>
        <p:spPr>
          <a:xfrm>
            <a:off x="6117336" y="3529584"/>
            <a:ext cx="2660904" cy="365760"/>
          </a:xfrm>
          <a:prstGeom prst="rect">
            <a:avLst/>
          </a:prstGeom>
          <a:noFill/>
          <a:ln/>
        </p:spPr>
        <p:txBody>
          <a:bodyPr wrap="square" lIns="0" tIns="0" rIns="0" bIns="0" rtlCol="0" anchor="ctr"/>
          <a:lstStyle/>
          <a:p>
            <a:pPr marL="0" indent="0" algn="ctr">
              <a:buNone/>
            </a:pPr>
            <a:r>
              <a:rPr lang="en-US" sz="1150" b="1" dirty="0">
                <a:solidFill>
                  <a:srgbClr val="17635E"/>
                </a:solidFill>
                <a:latin typeface="Calibri" pitchFamily="34" charset="0"/>
                <a:ea typeface="Calibri" pitchFamily="34" charset="-122"/>
                <a:cs typeface="Calibri" pitchFamily="34" charset="-120"/>
              </a:rPr>
              <a:t>Semantic modelling &amp; DAX</a:t>
            </a:r>
            <a:endParaRPr lang="en-US" sz="1150" dirty="0"/>
          </a:p>
        </p:txBody>
      </p:sp>
      <p:sp>
        <p:nvSpPr>
          <p:cNvPr id="17" name="Shape 14"/>
          <p:cNvSpPr/>
          <p:nvPr/>
        </p:nvSpPr>
        <p:spPr>
          <a:xfrm>
            <a:off x="8961120" y="3529584"/>
            <a:ext cx="2660904" cy="365760"/>
          </a:xfrm>
          <a:prstGeom prst="roundRect">
            <a:avLst>
              <a:gd name="adj" fmla="val 40000"/>
            </a:avLst>
          </a:prstGeom>
          <a:solidFill>
            <a:srgbClr val="FAFAFD"/>
          </a:solidFill>
          <a:ln w="12700">
            <a:solidFill>
              <a:srgbClr val="DFE2EC"/>
            </a:solidFill>
            <a:prstDash val="solid"/>
          </a:ln>
        </p:spPr>
        <p:txBody>
          <a:bodyPr/>
          <a:lstStyle/>
          <a:p>
            <a:endParaRPr lang="en-US"/>
          </a:p>
        </p:txBody>
      </p:sp>
      <p:sp>
        <p:nvSpPr>
          <p:cNvPr id="18" name="Text 15"/>
          <p:cNvSpPr/>
          <p:nvPr/>
        </p:nvSpPr>
        <p:spPr>
          <a:xfrm>
            <a:off x="8961120" y="3529584"/>
            <a:ext cx="2660904" cy="365760"/>
          </a:xfrm>
          <a:prstGeom prst="rect">
            <a:avLst/>
          </a:prstGeom>
          <a:noFill/>
          <a:ln/>
        </p:spPr>
        <p:txBody>
          <a:bodyPr wrap="square" lIns="0" tIns="0" rIns="0" bIns="0" rtlCol="0" anchor="ctr"/>
          <a:lstStyle/>
          <a:p>
            <a:pPr marL="0" indent="0" algn="ctr">
              <a:buNone/>
            </a:pPr>
            <a:r>
              <a:rPr lang="en-US" sz="1150" b="1" dirty="0">
                <a:solidFill>
                  <a:srgbClr val="6B7280"/>
                </a:solidFill>
                <a:latin typeface="Calibri" pitchFamily="34" charset="0"/>
                <a:ea typeface="Calibri" pitchFamily="34" charset="-122"/>
                <a:cs typeface="Calibri" pitchFamily="34" charset="-120"/>
              </a:rPr>
              <a:t>PBIP + Git workflows</a:t>
            </a:r>
            <a:endParaRPr lang="en-US" sz="1150" dirty="0"/>
          </a:p>
        </p:txBody>
      </p:sp>
      <p:sp>
        <p:nvSpPr>
          <p:cNvPr id="19" name="Shape 16"/>
          <p:cNvSpPr/>
          <p:nvPr/>
        </p:nvSpPr>
        <p:spPr>
          <a:xfrm>
            <a:off x="566928" y="4315968"/>
            <a:ext cx="5344668" cy="530352"/>
          </a:xfrm>
          <a:prstGeom prst="roundRect">
            <a:avLst>
              <a:gd name="adj" fmla="val 12069"/>
            </a:avLst>
          </a:prstGeom>
          <a:solidFill>
            <a:srgbClr val="FAFAFD"/>
          </a:solidFill>
          <a:ln w="12700">
            <a:solidFill>
              <a:srgbClr val="DFE2EC"/>
            </a:solidFill>
            <a:prstDash val="solid"/>
          </a:ln>
        </p:spPr>
        <p:txBody>
          <a:bodyPr/>
          <a:lstStyle/>
          <a:p>
            <a:endParaRPr lang="en-US" dirty="0"/>
          </a:p>
        </p:txBody>
      </p:sp>
      <p:sp>
        <p:nvSpPr>
          <p:cNvPr id="20" name="Text 17"/>
          <p:cNvSpPr/>
          <p:nvPr/>
        </p:nvSpPr>
        <p:spPr>
          <a:xfrm>
            <a:off x="768096" y="4315968"/>
            <a:ext cx="1371600" cy="530352"/>
          </a:xfrm>
          <a:prstGeom prst="rect">
            <a:avLst/>
          </a:prstGeom>
          <a:noFill/>
          <a:ln/>
        </p:spPr>
        <p:txBody>
          <a:bodyPr wrap="square" lIns="0" tIns="0" rIns="0" bIns="0" rtlCol="0" anchor="ctr"/>
          <a:lstStyle/>
          <a:p>
            <a:pPr marL="0" indent="0">
              <a:buNone/>
            </a:pPr>
            <a:r>
              <a:rPr lang="en-US" sz="1200" b="1" dirty="0">
                <a:solidFill>
                  <a:srgbClr val="14182E"/>
                </a:solidFill>
                <a:latin typeface="Calibri" pitchFamily="34" charset="0"/>
                <a:ea typeface="Calibri" pitchFamily="34" charset="-122"/>
                <a:cs typeface="Calibri" pitchFamily="34" charset="-120"/>
              </a:rPr>
              <a:t>LinkedIn</a:t>
            </a:r>
            <a:endParaRPr lang="en-US" sz="1200" dirty="0"/>
          </a:p>
        </p:txBody>
      </p:sp>
      <p:sp>
        <p:nvSpPr>
          <p:cNvPr id="21" name="Text 18"/>
          <p:cNvSpPr/>
          <p:nvPr/>
        </p:nvSpPr>
        <p:spPr>
          <a:xfrm>
            <a:off x="2249424" y="4315968"/>
            <a:ext cx="3461004" cy="530352"/>
          </a:xfrm>
          <a:prstGeom prst="rect">
            <a:avLst/>
          </a:prstGeom>
          <a:noFill/>
          <a:ln/>
        </p:spPr>
        <p:txBody>
          <a:bodyPr wrap="square" lIns="0" tIns="0" rIns="0" bIns="0" rtlCol="0" anchor="ctr"/>
          <a:lstStyle/>
          <a:p>
            <a:pPr marL="0" indent="0">
              <a:buNone/>
            </a:pPr>
            <a:r>
              <a:rPr lang="en-US" sz="1000" dirty="0">
                <a:solidFill>
                  <a:srgbClr val="6B7280"/>
                </a:solidFill>
                <a:latin typeface="Courier New" pitchFamily="34" charset="0"/>
                <a:ea typeface="Courier New" pitchFamily="34" charset="-122"/>
                <a:cs typeface="Courier New" pitchFamily="34" charset="-120"/>
              </a:rPr>
              <a:t>www.linkedin.com/in/natarajan-manivasagan</a:t>
            </a:r>
            <a:endParaRPr lang="en-US" sz="1000" dirty="0"/>
          </a:p>
        </p:txBody>
      </p:sp>
      <p:sp>
        <p:nvSpPr>
          <p:cNvPr id="22" name="Shape 19"/>
          <p:cNvSpPr/>
          <p:nvPr/>
        </p:nvSpPr>
        <p:spPr>
          <a:xfrm>
            <a:off x="6277356" y="4315968"/>
            <a:ext cx="5344668" cy="530352"/>
          </a:xfrm>
          <a:prstGeom prst="roundRect">
            <a:avLst>
              <a:gd name="adj" fmla="val 12069"/>
            </a:avLst>
          </a:prstGeom>
          <a:solidFill>
            <a:srgbClr val="FAFAFD"/>
          </a:solidFill>
          <a:ln w="12700">
            <a:solidFill>
              <a:srgbClr val="DFE2EC"/>
            </a:solidFill>
            <a:prstDash val="solid"/>
          </a:ln>
        </p:spPr>
        <p:txBody>
          <a:bodyPr/>
          <a:lstStyle/>
          <a:p>
            <a:endParaRPr lang="en-US"/>
          </a:p>
        </p:txBody>
      </p:sp>
      <p:sp>
        <p:nvSpPr>
          <p:cNvPr id="23" name="Text 20"/>
          <p:cNvSpPr/>
          <p:nvPr/>
        </p:nvSpPr>
        <p:spPr>
          <a:xfrm>
            <a:off x="6478524" y="4315968"/>
            <a:ext cx="1371600" cy="530352"/>
          </a:xfrm>
          <a:prstGeom prst="rect">
            <a:avLst/>
          </a:prstGeom>
          <a:noFill/>
          <a:ln/>
        </p:spPr>
        <p:txBody>
          <a:bodyPr wrap="square" lIns="0" tIns="0" rIns="0" bIns="0" rtlCol="0" anchor="ctr"/>
          <a:lstStyle/>
          <a:p>
            <a:pPr marL="0" indent="0">
              <a:buNone/>
            </a:pPr>
            <a:r>
              <a:rPr lang="en-US" sz="1200" b="1" dirty="0">
                <a:solidFill>
                  <a:srgbClr val="14182E"/>
                </a:solidFill>
                <a:latin typeface="Calibri" pitchFamily="34" charset="0"/>
                <a:ea typeface="Calibri" pitchFamily="34" charset="-122"/>
                <a:cs typeface="Calibri" pitchFamily="34" charset="-120"/>
              </a:rPr>
              <a:t>Email</a:t>
            </a:r>
            <a:endParaRPr lang="en-US" sz="1200" dirty="0"/>
          </a:p>
        </p:txBody>
      </p:sp>
      <p:sp>
        <p:nvSpPr>
          <p:cNvPr id="24" name="Text 21"/>
          <p:cNvSpPr/>
          <p:nvPr/>
        </p:nvSpPr>
        <p:spPr>
          <a:xfrm>
            <a:off x="7959852" y="4315968"/>
            <a:ext cx="3461004" cy="530352"/>
          </a:xfrm>
          <a:prstGeom prst="rect">
            <a:avLst/>
          </a:prstGeom>
          <a:noFill/>
          <a:ln/>
        </p:spPr>
        <p:txBody>
          <a:bodyPr wrap="square" lIns="0" tIns="0" rIns="0" bIns="0" rtlCol="0" anchor="ctr"/>
          <a:lstStyle/>
          <a:p>
            <a:pPr marL="0" indent="0">
              <a:buNone/>
            </a:pPr>
            <a:r>
              <a:rPr lang="en-US" sz="1000" dirty="0">
                <a:solidFill>
                  <a:srgbClr val="6B7280"/>
                </a:solidFill>
                <a:latin typeface="Courier New" pitchFamily="34" charset="0"/>
                <a:ea typeface="Courier New" pitchFamily="34" charset="-122"/>
                <a:cs typeface="Courier New" pitchFamily="34" charset="-120"/>
              </a:rPr>
              <a:t>natarajan.manivasagan@outlook.com</a:t>
            </a:r>
            <a:endParaRPr lang="en-US" sz="1000" dirty="0"/>
          </a:p>
        </p:txBody>
      </p:sp>
      <p:sp>
        <p:nvSpPr>
          <p:cNvPr id="25" name="Shape 22"/>
          <p:cNvSpPr/>
          <p:nvPr/>
        </p:nvSpPr>
        <p:spPr>
          <a:xfrm>
            <a:off x="566928" y="5029200"/>
            <a:ext cx="11055096" cy="868680"/>
          </a:xfrm>
          <a:prstGeom prst="roundRect">
            <a:avLst>
              <a:gd name="adj" fmla="val 9474"/>
            </a:avLst>
          </a:prstGeom>
          <a:solidFill>
            <a:srgbClr val="FDF6E3"/>
          </a:solidFill>
          <a:ln w="12700">
            <a:solidFill>
              <a:srgbClr val="EBD9A8"/>
            </a:solidFill>
            <a:prstDash val="solid"/>
          </a:ln>
          <a:effectLst>
            <a:outerShdw blurRad="127000" dist="25400" dir="5400000" algn="bl" rotWithShape="0">
              <a:srgbClr val="9AA0B5">
                <a:alpha val="28000"/>
              </a:srgbClr>
            </a:outerShdw>
          </a:effectLst>
        </p:spPr>
        <p:txBody>
          <a:bodyPr/>
          <a:lstStyle/>
          <a:p>
            <a:endParaRPr lang="en-US"/>
          </a:p>
        </p:txBody>
      </p:sp>
      <p:sp>
        <p:nvSpPr>
          <p:cNvPr id="26" name="Text 23"/>
          <p:cNvSpPr/>
          <p:nvPr/>
        </p:nvSpPr>
        <p:spPr>
          <a:xfrm>
            <a:off x="859536" y="5029200"/>
            <a:ext cx="10469880" cy="868680"/>
          </a:xfrm>
          <a:prstGeom prst="rect">
            <a:avLst/>
          </a:prstGeom>
          <a:noFill/>
          <a:ln/>
        </p:spPr>
        <p:txBody>
          <a:bodyPr wrap="square" lIns="0" tIns="0" rIns="0" bIns="0" rtlCol="0" anchor="ctr"/>
          <a:lstStyle/>
          <a:p>
            <a:pPr marL="0" indent="0">
              <a:buNone/>
            </a:pPr>
            <a:r>
              <a:rPr lang="en-US" sz="1350" b="1" dirty="0">
                <a:solidFill>
                  <a:srgbClr val="6B551A"/>
                </a:solidFill>
                <a:latin typeface="Calibri" pitchFamily="34" charset="0"/>
                <a:ea typeface="Calibri" pitchFamily="34" charset="-122"/>
                <a:cs typeface="Calibri" pitchFamily="34" charset="-120"/>
              </a:rPr>
              <a:t>Most of this is still preview, and every limit on the “what it can't do” slide is one I hit myself on a real model.</a:t>
            </a:r>
            <a:endParaRPr lang="en-US" sz="1350" dirty="0"/>
          </a:p>
        </p:txBody>
      </p:sp>
      <p:pic>
        <p:nvPicPr>
          <p:cNvPr id="27" name="Picture 26">
            <a:extLst>
              <a:ext uri="{FF2B5EF4-FFF2-40B4-BE49-F238E27FC236}">
                <a16:creationId xmlns:a16="http://schemas.microsoft.com/office/drawing/2014/main" id="{E534D1DE-2FC7-BCCD-B64E-0C59EED12161}"/>
              </a:ext>
            </a:extLst>
          </p:cNvPr>
          <p:cNvPicPr>
            <a:picLocks noChangeAspect="1"/>
          </p:cNvPicPr>
          <p:nvPr/>
        </p:nvPicPr>
        <p:blipFill>
          <a:blip r:embed="rId3"/>
          <a:stretch>
            <a:fillRect/>
          </a:stretch>
        </p:blipFill>
        <p:spPr>
          <a:xfrm>
            <a:off x="637794" y="1625346"/>
            <a:ext cx="2327148" cy="2327148"/>
          </a:xfrm>
          <a:prstGeom prst="rect">
            <a:avLst/>
          </a:prstGeom>
          <a:noFill/>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14" name="Shape 11"/>
          <p:cNvSpPr/>
          <p:nvPr/>
        </p:nvSpPr>
        <p:spPr>
          <a:xfrm>
            <a:off x="6231636" y="1600200"/>
            <a:ext cx="5390388" cy="1225296"/>
          </a:xfrm>
          <a:prstGeom prst="roundRect">
            <a:avLst>
              <a:gd name="adj" fmla="val 6716"/>
            </a:avLst>
          </a:prstGeom>
          <a:solidFill>
            <a:srgbClr val="F4F5F9"/>
          </a:solidFill>
          <a:ln w="12700">
            <a:solidFill>
              <a:srgbClr val="DFE2EC"/>
            </a:solidFill>
            <a:prstDash val="solid"/>
          </a:ln>
          <a:effectLst>
            <a:outerShdw blurRad="127000" dist="25400" dir="5400000" algn="bl" rotWithShape="0">
              <a:srgbClr val="9AA0B5">
                <a:alpha val="28000"/>
              </a:srgbClr>
            </a:outerShdw>
          </a:effectLst>
        </p:spPr>
        <p:txBody>
          <a:bodyPr/>
          <a:lstStyle/>
          <a:p>
            <a:endParaRPr lang="en-US" dirty="0"/>
          </a:p>
        </p:txBody>
      </p:sp>
      <p:sp>
        <p:nvSpPr>
          <p:cNvPr id="3" name="Shape 0"/>
          <p:cNvSpPr/>
          <p:nvPr/>
        </p:nvSpPr>
        <p:spPr>
          <a:xfrm>
            <a:off x="9134856" y="6381598"/>
            <a:ext cx="310896" cy="20117"/>
          </a:xfrm>
          <a:prstGeom prst="rect">
            <a:avLst/>
          </a:prstGeom>
          <a:solidFill>
            <a:srgbClr val="1F9E96"/>
          </a:solidFill>
          <a:ln w="12700">
            <a:solidFill>
              <a:srgbClr val="1F9E96"/>
            </a:solidFill>
            <a:prstDash val="solid"/>
          </a:ln>
        </p:spPr>
        <p:txBody>
          <a:bodyPr/>
          <a:lstStyle/>
          <a:p>
            <a:endParaRPr lang="en-US"/>
          </a:p>
        </p:txBody>
      </p:sp>
      <p:sp>
        <p:nvSpPr>
          <p:cNvPr id="4" name="Text 1"/>
          <p:cNvSpPr/>
          <p:nvPr/>
        </p:nvSpPr>
        <p:spPr>
          <a:xfrm>
            <a:off x="9518904" y="6272784"/>
            <a:ext cx="2103120" cy="237744"/>
          </a:xfrm>
          <a:prstGeom prst="rect">
            <a:avLst/>
          </a:prstGeom>
          <a:noFill/>
          <a:ln/>
        </p:spPr>
        <p:txBody>
          <a:bodyPr wrap="square" lIns="0" tIns="0" rIns="0" bIns="0" rtlCol="0" anchor="ctr"/>
          <a:lstStyle/>
          <a:p>
            <a:pPr marL="0" indent="0" algn="r">
              <a:buNone/>
            </a:pPr>
            <a:r>
              <a:rPr lang="en-US" sz="900" b="1" kern="0" spc="120" dirty="0">
                <a:solidFill>
                  <a:srgbClr val="6B7280"/>
                </a:solidFill>
                <a:latin typeface="Calibri" pitchFamily="34" charset="0"/>
                <a:ea typeface="Calibri" pitchFamily="34" charset="-122"/>
                <a:cs typeface="Calibri" pitchFamily="34" charset="-120"/>
              </a:rPr>
              <a:t>3 / 22  ·  AGENDA</a:t>
            </a:r>
            <a:endParaRPr lang="en-US" sz="900" dirty="0"/>
          </a:p>
        </p:txBody>
      </p:sp>
      <p:sp>
        <p:nvSpPr>
          <p:cNvPr id="5" name="Shape 2"/>
          <p:cNvSpPr/>
          <p:nvPr/>
        </p:nvSpPr>
        <p:spPr>
          <a:xfrm>
            <a:off x="566928" y="274320"/>
            <a:ext cx="566928" cy="41148"/>
          </a:xfrm>
          <a:prstGeom prst="rect">
            <a:avLst/>
          </a:prstGeom>
          <a:solidFill>
            <a:srgbClr val="1F9E96"/>
          </a:solidFill>
          <a:ln w="12700">
            <a:solidFill>
              <a:srgbClr val="1F9E96"/>
            </a:solidFill>
            <a:prstDash val="solid"/>
          </a:ln>
        </p:spPr>
        <p:txBody>
          <a:bodyPr/>
          <a:lstStyle/>
          <a:p>
            <a:endParaRPr lang="en-US"/>
          </a:p>
        </p:txBody>
      </p:sp>
      <p:sp>
        <p:nvSpPr>
          <p:cNvPr id="6" name="Text 3"/>
          <p:cNvSpPr/>
          <p:nvPr/>
        </p:nvSpPr>
        <p:spPr>
          <a:xfrm>
            <a:off x="566928" y="402336"/>
            <a:ext cx="11055096" cy="256032"/>
          </a:xfrm>
          <a:prstGeom prst="rect">
            <a:avLst/>
          </a:prstGeom>
          <a:noFill/>
          <a:ln/>
        </p:spPr>
        <p:txBody>
          <a:bodyPr wrap="square" lIns="0" tIns="0" rIns="0" bIns="0" rtlCol="0" anchor="ctr"/>
          <a:lstStyle/>
          <a:p>
            <a:pPr marL="0" indent="0">
              <a:buNone/>
            </a:pPr>
            <a:r>
              <a:rPr lang="en-US" sz="1100" b="1" kern="0" spc="220" dirty="0">
                <a:solidFill>
                  <a:srgbClr val="1F9E96"/>
                </a:solidFill>
                <a:latin typeface="Calibri" pitchFamily="34" charset="0"/>
                <a:ea typeface="Calibri" pitchFamily="34" charset="-122"/>
                <a:cs typeface="Calibri" pitchFamily="34" charset="-120"/>
              </a:rPr>
              <a:t>AGENDA</a:t>
            </a:r>
            <a:endParaRPr lang="en-US" sz="1100" dirty="0"/>
          </a:p>
        </p:txBody>
      </p:sp>
      <p:sp>
        <p:nvSpPr>
          <p:cNvPr id="7" name="Text 4"/>
          <p:cNvSpPr/>
          <p:nvPr/>
        </p:nvSpPr>
        <p:spPr>
          <a:xfrm>
            <a:off x="566928" y="676656"/>
            <a:ext cx="11055096" cy="621792"/>
          </a:xfrm>
          <a:prstGeom prst="rect">
            <a:avLst/>
          </a:prstGeom>
          <a:noFill/>
          <a:ln/>
        </p:spPr>
        <p:txBody>
          <a:bodyPr wrap="square" lIns="0" tIns="0" rIns="0" bIns="0" rtlCol="0" anchor="ctr"/>
          <a:lstStyle/>
          <a:p>
            <a:pPr marL="0" indent="0">
              <a:buNone/>
            </a:pPr>
            <a:r>
              <a:rPr lang="en-US" sz="3400" b="1" dirty="0">
                <a:solidFill>
                  <a:srgbClr val="14182E"/>
                </a:solidFill>
                <a:latin typeface="Cambria" pitchFamily="34" charset="0"/>
                <a:ea typeface="Cambria" pitchFamily="34" charset="-122"/>
                <a:cs typeface="Cambria" pitchFamily="34" charset="-120"/>
              </a:rPr>
              <a:t>Thirty minutes, a third of it live</a:t>
            </a:r>
            <a:endParaRPr lang="en-US" sz="3400" dirty="0"/>
          </a:p>
        </p:txBody>
      </p:sp>
      <p:sp>
        <p:nvSpPr>
          <p:cNvPr id="8" name="Shape 5"/>
          <p:cNvSpPr/>
          <p:nvPr/>
        </p:nvSpPr>
        <p:spPr>
          <a:xfrm>
            <a:off x="566928" y="1600200"/>
            <a:ext cx="5390388" cy="1225296"/>
          </a:xfrm>
          <a:prstGeom prst="roundRect">
            <a:avLst>
              <a:gd name="adj" fmla="val 6716"/>
            </a:avLst>
          </a:prstGeom>
          <a:solidFill>
            <a:srgbClr val="F4F5F9"/>
          </a:solidFill>
          <a:ln w="12700">
            <a:solidFill>
              <a:srgbClr val="DFE2EC"/>
            </a:solidFill>
            <a:prstDash val="solid"/>
          </a:ln>
          <a:effectLst>
            <a:outerShdw blurRad="127000" dist="25400" dir="5400000" algn="bl" rotWithShape="0">
              <a:srgbClr val="9AA0B5">
                <a:alpha val="28000"/>
              </a:srgbClr>
            </a:outerShdw>
          </a:effectLst>
        </p:spPr>
        <p:txBody>
          <a:bodyPr/>
          <a:lstStyle/>
          <a:p>
            <a:endParaRPr lang="en-US"/>
          </a:p>
        </p:txBody>
      </p:sp>
      <p:sp>
        <p:nvSpPr>
          <p:cNvPr id="9" name="Shape 6"/>
          <p:cNvSpPr/>
          <p:nvPr/>
        </p:nvSpPr>
        <p:spPr>
          <a:xfrm>
            <a:off x="822960" y="1856232"/>
            <a:ext cx="420624" cy="420624"/>
          </a:xfrm>
          <a:prstGeom prst="ellipse">
            <a:avLst/>
          </a:prstGeom>
          <a:solidFill>
            <a:srgbClr val="F2C230"/>
          </a:solidFill>
          <a:ln w="12700">
            <a:solidFill>
              <a:srgbClr val="F2C230"/>
            </a:solidFill>
            <a:prstDash val="solid"/>
          </a:ln>
        </p:spPr>
        <p:txBody>
          <a:bodyPr/>
          <a:lstStyle/>
          <a:p>
            <a:endParaRPr lang="en-US"/>
          </a:p>
        </p:txBody>
      </p:sp>
      <p:sp>
        <p:nvSpPr>
          <p:cNvPr id="10" name="Text 7"/>
          <p:cNvSpPr/>
          <p:nvPr/>
        </p:nvSpPr>
        <p:spPr>
          <a:xfrm>
            <a:off x="822960" y="1856232"/>
            <a:ext cx="420624" cy="420624"/>
          </a:xfrm>
          <a:prstGeom prst="rect">
            <a:avLst/>
          </a:prstGeom>
          <a:noFill/>
          <a:ln/>
        </p:spPr>
        <p:txBody>
          <a:bodyPr wrap="square" lIns="0" tIns="0" rIns="0" bIns="0" rtlCol="0" anchor="ctr"/>
          <a:lstStyle/>
          <a:p>
            <a:pPr marL="0" indent="0" algn="ctr">
              <a:buNone/>
            </a:pPr>
            <a:r>
              <a:rPr lang="en-US" sz="1400" b="1" dirty="0">
                <a:solidFill>
                  <a:srgbClr val="14182E"/>
                </a:solidFill>
                <a:latin typeface="Calibri" pitchFamily="34" charset="0"/>
                <a:ea typeface="Calibri" pitchFamily="34" charset="-122"/>
                <a:cs typeface="Calibri" pitchFamily="34" charset="-120"/>
              </a:rPr>
              <a:t>1</a:t>
            </a:r>
            <a:endParaRPr lang="en-US" sz="1400" dirty="0"/>
          </a:p>
        </p:txBody>
      </p:sp>
      <p:sp>
        <p:nvSpPr>
          <p:cNvPr id="11" name="Text 8"/>
          <p:cNvSpPr/>
          <p:nvPr/>
        </p:nvSpPr>
        <p:spPr>
          <a:xfrm>
            <a:off x="7072884" y="1847088"/>
            <a:ext cx="3561588" cy="329184"/>
          </a:xfrm>
          <a:prstGeom prst="rect">
            <a:avLst/>
          </a:prstGeom>
          <a:noFill/>
          <a:ln/>
        </p:spPr>
        <p:txBody>
          <a:bodyPr wrap="square" lIns="0" tIns="0" rIns="0" bIns="0" rtlCol="0" anchor="ctr"/>
          <a:lstStyle/>
          <a:p>
            <a:pPr marL="0" indent="0">
              <a:buNone/>
            </a:pPr>
            <a:r>
              <a:rPr lang="en-US" sz="1700" b="1" dirty="0">
                <a:solidFill>
                  <a:srgbClr val="14182E"/>
                </a:solidFill>
                <a:latin typeface="Cambria" pitchFamily="34" charset="0"/>
                <a:ea typeface="Cambria" pitchFamily="34" charset="-122"/>
                <a:cs typeface="Cambria" pitchFamily="34" charset="-120"/>
              </a:rPr>
              <a:t>What MCP is</a:t>
            </a:r>
            <a:endParaRPr lang="en-US" sz="1700" dirty="0"/>
          </a:p>
        </p:txBody>
      </p:sp>
      <p:sp>
        <p:nvSpPr>
          <p:cNvPr id="12" name="Text 9"/>
          <p:cNvSpPr/>
          <p:nvPr/>
        </p:nvSpPr>
        <p:spPr>
          <a:xfrm>
            <a:off x="4997196" y="1819656"/>
            <a:ext cx="731520" cy="274320"/>
          </a:xfrm>
          <a:prstGeom prst="rect">
            <a:avLst/>
          </a:prstGeom>
          <a:noFill/>
          <a:ln/>
        </p:spPr>
        <p:txBody>
          <a:bodyPr wrap="square" lIns="0" tIns="0" rIns="0" bIns="0" rtlCol="0" anchor="ctr"/>
          <a:lstStyle/>
          <a:p>
            <a:pPr marL="0" indent="0" algn="r">
              <a:buNone/>
            </a:pPr>
            <a:r>
              <a:rPr lang="en-US" sz="1200" b="1" dirty="0">
                <a:solidFill>
                  <a:srgbClr val="1F9E96"/>
                </a:solidFill>
                <a:latin typeface="Calibri" pitchFamily="34" charset="0"/>
                <a:ea typeface="Calibri" pitchFamily="34" charset="-122"/>
                <a:cs typeface="Calibri" pitchFamily="34" charset="-120"/>
              </a:rPr>
              <a:t>3 min</a:t>
            </a:r>
            <a:endParaRPr lang="en-US" sz="1200" dirty="0"/>
          </a:p>
        </p:txBody>
      </p:sp>
      <p:sp>
        <p:nvSpPr>
          <p:cNvPr id="13" name="Text 10"/>
          <p:cNvSpPr/>
          <p:nvPr/>
        </p:nvSpPr>
        <p:spPr>
          <a:xfrm>
            <a:off x="7100316" y="2159537"/>
            <a:ext cx="4293108" cy="502920"/>
          </a:xfrm>
          <a:prstGeom prst="rect">
            <a:avLst/>
          </a:prstGeom>
          <a:noFill/>
          <a:ln/>
        </p:spPr>
        <p:txBody>
          <a:bodyPr wrap="square" lIns="0" tIns="0" rIns="0" bIns="0" rtlCol="0" anchor="ctr"/>
          <a:lstStyle/>
          <a:p>
            <a:pPr marL="0" indent="0">
              <a:buNone/>
            </a:pPr>
            <a:r>
              <a:rPr lang="en-US" sz="1250" dirty="0">
                <a:solidFill>
                  <a:srgbClr val="6B7280"/>
                </a:solidFill>
                <a:latin typeface="Calibri" pitchFamily="34" charset="0"/>
                <a:ea typeface="Calibri" pitchFamily="34" charset="-122"/>
                <a:cs typeface="Calibri" pitchFamily="34" charset="-120"/>
              </a:rPr>
              <a:t>Host, client, server — and the protocol underneath</a:t>
            </a:r>
            <a:endParaRPr lang="en-US" sz="1250" dirty="0"/>
          </a:p>
        </p:txBody>
      </p:sp>
      <p:sp>
        <p:nvSpPr>
          <p:cNvPr id="15" name="Shape 12"/>
          <p:cNvSpPr/>
          <p:nvPr/>
        </p:nvSpPr>
        <p:spPr>
          <a:xfrm>
            <a:off x="6487668" y="1856232"/>
            <a:ext cx="420624" cy="420624"/>
          </a:xfrm>
          <a:prstGeom prst="ellipse">
            <a:avLst/>
          </a:prstGeom>
          <a:solidFill>
            <a:srgbClr val="F2C230"/>
          </a:solidFill>
          <a:ln w="12700">
            <a:solidFill>
              <a:srgbClr val="F2C230"/>
            </a:solidFill>
            <a:prstDash val="solid"/>
          </a:ln>
        </p:spPr>
        <p:txBody>
          <a:bodyPr/>
          <a:lstStyle/>
          <a:p>
            <a:endParaRPr lang="en-US"/>
          </a:p>
        </p:txBody>
      </p:sp>
      <p:sp>
        <p:nvSpPr>
          <p:cNvPr id="16" name="Text 13"/>
          <p:cNvSpPr/>
          <p:nvPr/>
        </p:nvSpPr>
        <p:spPr>
          <a:xfrm>
            <a:off x="6487668" y="1856232"/>
            <a:ext cx="420624" cy="420624"/>
          </a:xfrm>
          <a:prstGeom prst="rect">
            <a:avLst/>
          </a:prstGeom>
          <a:noFill/>
          <a:ln/>
        </p:spPr>
        <p:txBody>
          <a:bodyPr wrap="square" lIns="0" tIns="0" rIns="0" bIns="0" rtlCol="0" anchor="ctr"/>
          <a:lstStyle/>
          <a:p>
            <a:pPr marL="0" indent="0" algn="ctr">
              <a:buNone/>
            </a:pPr>
            <a:r>
              <a:rPr lang="en-US" sz="1400" b="1" dirty="0">
                <a:solidFill>
                  <a:srgbClr val="14182E"/>
                </a:solidFill>
                <a:latin typeface="Calibri" pitchFamily="34" charset="0"/>
                <a:ea typeface="Calibri" pitchFamily="34" charset="-122"/>
                <a:cs typeface="Calibri" pitchFamily="34" charset="-120"/>
              </a:rPr>
              <a:t>2</a:t>
            </a:r>
            <a:endParaRPr lang="en-US" sz="1400" dirty="0"/>
          </a:p>
        </p:txBody>
      </p:sp>
      <p:sp>
        <p:nvSpPr>
          <p:cNvPr id="17" name="Text 14"/>
          <p:cNvSpPr/>
          <p:nvPr/>
        </p:nvSpPr>
        <p:spPr>
          <a:xfrm>
            <a:off x="1435608" y="1819656"/>
            <a:ext cx="3561588" cy="329184"/>
          </a:xfrm>
          <a:prstGeom prst="rect">
            <a:avLst/>
          </a:prstGeom>
          <a:noFill/>
          <a:ln/>
        </p:spPr>
        <p:txBody>
          <a:bodyPr wrap="square" lIns="0" tIns="0" rIns="0" bIns="0" rtlCol="0" anchor="ctr"/>
          <a:lstStyle/>
          <a:p>
            <a:pPr marL="0" indent="0">
              <a:buNone/>
            </a:pPr>
            <a:r>
              <a:rPr lang="en-US" sz="1700" b="1" dirty="0">
                <a:solidFill>
                  <a:srgbClr val="14182E"/>
                </a:solidFill>
                <a:latin typeface="Cambria" pitchFamily="34" charset="0"/>
                <a:ea typeface="Cambria" pitchFamily="34" charset="-122"/>
                <a:cs typeface="Cambria" pitchFamily="34" charset="-120"/>
              </a:rPr>
              <a:t>Agentic development</a:t>
            </a:r>
            <a:endParaRPr lang="en-US" sz="1700" dirty="0"/>
          </a:p>
        </p:txBody>
      </p:sp>
      <p:sp>
        <p:nvSpPr>
          <p:cNvPr id="18" name="Text 15"/>
          <p:cNvSpPr/>
          <p:nvPr/>
        </p:nvSpPr>
        <p:spPr>
          <a:xfrm>
            <a:off x="10661904" y="1819656"/>
            <a:ext cx="731520" cy="274320"/>
          </a:xfrm>
          <a:prstGeom prst="rect">
            <a:avLst/>
          </a:prstGeom>
          <a:noFill/>
          <a:ln/>
        </p:spPr>
        <p:txBody>
          <a:bodyPr wrap="square" lIns="0" tIns="0" rIns="0" bIns="0" rtlCol="0" anchor="ctr"/>
          <a:lstStyle/>
          <a:p>
            <a:pPr marL="0" indent="0" algn="r">
              <a:buNone/>
            </a:pPr>
            <a:r>
              <a:rPr lang="en-US" sz="1200" b="1" dirty="0">
                <a:solidFill>
                  <a:srgbClr val="1F9E96"/>
                </a:solidFill>
                <a:latin typeface="Calibri" pitchFamily="34" charset="0"/>
                <a:ea typeface="Calibri" pitchFamily="34" charset="-122"/>
                <a:cs typeface="Calibri" pitchFamily="34" charset="-120"/>
              </a:rPr>
              <a:t>4 min</a:t>
            </a:r>
            <a:endParaRPr lang="en-US" sz="1200" dirty="0"/>
          </a:p>
        </p:txBody>
      </p:sp>
      <p:sp>
        <p:nvSpPr>
          <p:cNvPr id="19" name="Text 16"/>
          <p:cNvSpPr/>
          <p:nvPr/>
        </p:nvSpPr>
        <p:spPr>
          <a:xfrm>
            <a:off x="1408176" y="2235708"/>
            <a:ext cx="4293108" cy="502920"/>
          </a:xfrm>
          <a:prstGeom prst="rect">
            <a:avLst/>
          </a:prstGeom>
          <a:noFill/>
          <a:ln/>
        </p:spPr>
        <p:txBody>
          <a:bodyPr wrap="square" lIns="0" tIns="0" rIns="0" bIns="0" rtlCol="0" anchor="ctr"/>
          <a:lstStyle/>
          <a:p>
            <a:pPr marL="0" indent="0">
              <a:buNone/>
            </a:pPr>
            <a:r>
              <a:rPr lang="en-US" sz="1250" dirty="0">
                <a:solidFill>
                  <a:srgbClr val="6B7280"/>
                </a:solidFill>
                <a:latin typeface="Calibri" pitchFamily="34" charset="0"/>
                <a:ea typeface="Calibri" pitchFamily="34" charset="-122"/>
                <a:cs typeface="Calibri" pitchFamily="34" charset="-120"/>
              </a:rPr>
              <a:t>What it means, and how one question actually flows</a:t>
            </a:r>
            <a:endParaRPr lang="en-US" sz="1250" dirty="0"/>
          </a:p>
        </p:txBody>
      </p:sp>
      <p:sp>
        <p:nvSpPr>
          <p:cNvPr id="20" name="Shape 17"/>
          <p:cNvSpPr/>
          <p:nvPr/>
        </p:nvSpPr>
        <p:spPr>
          <a:xfrm>
            <a:off x="566928" y="3081528"/>
            <a:ext cx="5390388" cy="1225296"/>
          </a:xfrm>
          <a:prstGeom prst="roundRect">
            <a:avLst>
              <a:gd name="adj" fmla="val 6716"/>
            </a:avLst>
          </a:prstGeom>
          <a:solidFill>
            <a:srgbClr val="F4F5F9"/>
          </a:solidFill>
          <a:ln w="12700">
            <a:solidFill>
              <a:srgbClr val="DFE2EC"/>
            </a:solidFill>
            <a:prstDash val="solid"/>
          </a:ln>
          <a:effectLst>
            <a:outerShdw blurRad="127000" dist="25400" dir="5400000" algn="bl" rotWithShape="0">
              <a:srgbClr val="9AA0B5">
                <a:alpha val="28000"/>
              </a:srgbClr>
            </a:outerShdw>
          </a:effectLst>
        </p:spPr>
        <p:txBody>
          <a:bodyPr/>
          <a:lstStyle/>
          <a:p>
            <a:endParaRPr lang="en-US"/>
          </a:p>
        </p:txBody>
      </p:sp>
      <p:sp>
        <p:nvSpPr>
          <p:cNvPr id="21" name="Shape 18"/>
          <p:cNvSpPr/>
          <p:nvPr/>
        </p:nvSpPr>
        <p:spPr>
          <a:xfrm>
            <a:off x="822960" y="3337560"/>
            <a:ext cx="420624" cy="420624"/>
          </a:xfrm>
          <a:prstGeom prst="ellipse">
            <a:avLst/>
          </a:prstGeom>
          <a:solidFill>
            <a:srgbClr val="F2C230"/>
          </a:solidFill>
          <a:ln w="12700">
            <a:solidFill>
              <a:srgbClr val="F2C230"/>
            </a:solidFill>
            <a:prstDash val="solid"/>
          </a:ln>
        </p:spPr>
        <p:txBody>
          <a:bodyPr/>
          <a:lstStyle/>
          <a:p>
            <a:endParaRPr lang="en-US"/>
          </a:p>
        </p:txBody>
      </p:sp>
      <p:sp>
        <p:nvSpPr>
          <p:cNvPr id="22" name="Text 19"/>
          <p:cNvSpPr/>
          <p:nvPr/>
        </p:nvSpPr>
        <p:spPr>
          <a:xfrm>
            <a:off x="822960" y="3337560"/>
            <a:ext cx="420624" cy="420624"/>
          </a:xfrm>
          <a:prstGeom prst="rect">
            <a:avLst/>
          </a:prstGeom>
          <a:noFill/>
          <a:ln/>
        </p:spPr>
        <p:txBody>
          <a:bodyPr wrap="square" lIns="0" tIns="0" rIns="0" bIns="0" rtlCol="0" anchor="ctr"/>
          <a:lstStyle/>
          <a:p>
            <a:pPr marL="0" indent="0" algn="ctr">
              <a:buNone/>
            </a:pPr>
            <a:r>
              <a:rPr lang="en-US" sz="1400" b="1" dirty="0">
                <a:solidFill>
                  <a:srgbClr val="14182E"/>
                </a:solidFill>
                <a:latin typeface="Calibri" pitchFamily="34" charset="0"/>
                <a:ea typeface="Calibri" pitchFamily="34" charset="-122"/>
                <a:cs typeface="Calibri" pitchFamily="34" charset="-120"/>
              </a:rPr>
              <a:t>3</a:t>
            </a:r>
            <a:endParaRPr lang="en-US" sz="1400" dirty="0"/>
          </a:p>
        </p:txBody>
      </p:sp>
      <p:sp>
        <p:nvSpPr>
          <p:cNvPr id="23" name="Text 20"/>
          <p:cNvSpPr/>
          <p:nvPr/>
        </p:nvSpPr>
        <p:spPr>
          <a:xfrm>
            <a:off x="1408176" y="3282696"/>
            <a:ext cx="3561588" cy="329184"/>
          </a:xfrm>
          <a:prstGeom prst="rect">
            <a:avLst/>
          </a:prstGeom>
          <a:noFill/>
          <a:ln/>
        </p:spPr>
        <p:txBody>
          <a:bodyPr wrap="square" lIns="0" tIns="0" rIns="0" bIns="0" rtlCol="0" anchor="ctr"/>
          <a:lstStyle/>
          <a:p>
            <a:pPr marL="0" indent="0">
              <a:buNone/>
            </a:pPr>
            <a:r>
              <a:rPr lang="en-US" sz="1700" b="1" dirty="0">
                <a:solidFill>
                  <a:srgbClr val="14182E"/>
                </a:solidFill>
                <a:latin typeface="Cambria" pitchFamily="34" charset="0"/>
                <a:ea typeface="Cambria" pitchFamily="34" charset="-122"/>
                <a:cs typeface="Cambria" pitchFamily="34" charset="-120"/>
              </a:rPr>
              <a:t>Setup &amp; the toolset</a:t>
            </a:r>
            <a:endParaRPr lang="en-US" sz="1700" dirty="0"/>
          </a:p>
        </p:txBody>
      </p:sp>
      <p:sp>
        <p:nvSpPr>
          <p:cNvPr id="24" name="Text 21"/>
          <p:cNvSpPr/>
          <p:nvPr/>
        </p:nvSpPr>
        <p:spPr>
          <a:xfrm>
            <a:off x="4997196" y="3300984"/>
            <a:ext cx="731520" cy="274320"/>
          </a:xfrm>
          <a:prstGeom prst="rect">
            <a:avLst/>
          </a:prstGeom>
          <a:noFill/>
          <a:ln/>
        </p:spPr>
        <p:txBody>
          <a:bodyPr wrap="square" lIns="0" tIns="0" rIns="0" bIns="0" rtlCol="0" anchor="ctr"/>
          <a:lstStyle/>
          <a:p>
            <a:pPr marL="0" indent="0" algn="r">
              <a:buNone/>
            </a:pPr>
            <a:r>
              <a:rPr lang="en-US" sz="1200" b="1" dirty="0">
                <a:solidFill>
                  <a:srgbClr val="1F9E96"/>
                </a:solidFill>
                <a:latin typeface="Calibri" pitchFamily="34" charset="0"/>
                <a:ea typeface="Calibri" pitchFamily="34" charset="-122"/>
                <a:cs typeface="Calibri" pitchFamily="34" charset="-120"/>
              </a:rPr>
              <a:t>4 min</a:t>
            </a:r>
            <a:endParaRPr lang="en-US" sz="1200" dirty="0"/>
          </a:p>
        </p:txBody>
      </p:sp>
      <p:sp>
        <p:nvSpPr>
          <p:cNvPr id="25" name="Text 22"/>
          <p:cNvSpPr/>
          <p:nvPr/>
        </p:nvSpPr>
        <p:spPr>
          <a:xfrm>
            <a:off x="1408176" y="3648456"/>
            <a:ext cx="4293108" cy="502920"/>
          </a:xfrm>
          <a:prstGeom prst="rect">
            <a:avLst/>
          </a:prstGeom>
          <a:noFill/>
          <a:ln/>
        </p:spPr>
        <p:txBody>
          <a:bodyPr wrap="square" lIns="0" tIns="0" rIns="0" bIns="0" rtlCol="0" anchor="ctr"/>
          <a:lstStyle/>
          <a:p>
            <a:pPr marL="0" indent="0">
              <a:buNone/>
            </a:pPr>
            <a:r>
              <a:rPr lang="en-US" sz="1250" dirty="0">
                <a:solidFill>
                  <a:srgbClr val="6B7280"/>
                </a:solidFill>
                <a:latin typeface="Calibri" pitchFamily="34" charset="0"/>
                <a:ea typeface="Calibri" pitchFamily="34" charset="-122"/>
                <a:cs typeface="Calibri" pitchFamily="34" charset="-120"/>
              </a:rPr>
              <a:t>Installing it, and reading what a server exposes</a:t>
            </a:r>
            <a:endParaRPr lang="en-US" sz="1250" dirty="0"/>
          </a:p>
        </p:txBody>
      </p:sp>
      <p:sp>
        <p:nvSpPr>
          <p:cNvPr id="26" name="Shape 23"/>
          <p:cNvSpPr/>
          <p:nvPr/>
        </p:nvSpPr>
        <p:spPr>
          <a:xfrm>
            <a:off x="6231636" y="3081528"/>
            <a:ext cx="5390388" cy="1225296"/>
          </a:xfrm>
          <a:prstGeom prst="roundRect">
            <a:avLst>
              <a:gd name="adj" fmla="val 6716"/>
            </a:avLst>
          </a:prstGeom>
          <a:solidFill>
            <a:srgbClr val="F4F5F9"/>
          </a:solidFill>
          <a:ln w="12700">
            <a:solidFill>
              <a:srgbClr val="DFE2EC"/>
            </a:solidFill>
            <a:prstDash val="solid"/>
          </a:ln>
          <a:effectLst>
            <a:outerShdw blurRad="127000" dist="25400" dir="5400000" algn="bl" rotWithShape="0">
              <a:srgbClr val="9AA0B5">
                <a:alpha val="28000"/>
              </a:srgbClr>
            </a:outerShdw>
          </a:effectLst>
        </p:spPr>
        <p:txBody>
          <a:bodyPr/>
          <a:lstStyle/>
          <a:p>
            <a:endParaRPr lang="en-US"/>
          </a:p>
        </p:txBody>
      </p:sp>
      <p:sp>
        <p:nvSpPr>
          <p:cNvPr id="27" name="Shape 24"/>
          <p:cNvSpPr/>
          <p:nvPr/>
        </p:nvSpPr>
        <p:spPr>
          <a:xfrm>
            <a:off x="6487668" y="3337560"/>
            <a:ext cx="420624" cy="420624"/>
          </a:xfrm>
          <a:prstGeom prst="ellipse">
            <a:avLst/>
          </a:prstGeom>
          <a:solidFill>
            <a:srgbClr val="F2C230"/>
          </a:solidFill>
          <a:ln w="12700">
            <a:solidFill>
              <a:srgbClr val="F2C230"/>
            </a:solidFill>
            <a:prstDash val="solid"/>
          </a:ln>
        </p:spPr>
        <p:txBody>
          <a:bodyPr/>
          <a:lstStyle/>
          <a:p>
            <a:endParaRPr lang="en-US"/>
          </a:p>
        </p:txBody>
      </p:sp>
      <p:sp>
        <p:nvSpPr>
          <p:cNvPr id="28" name="Text 25"/>
          <p:cNvSpPr/>
          <p:nvPr/>
        </p:nvSpPr>
        <p:spPr>
          <a:xfrm>
            <a:off x="6487668" y="3337560"/>
            <a:ext cx="420624" cy="420624"/>
          </a:xfrm>
          <a:prstGeom prst="rect">
            <a:avLst/>
          </a:prstGeom>
          <a:noFill/>
          <a:ln/>
        </p:spPr>
        <p:txBody>
          <a:bodyPr wrap="square" lIns="0" tIns="0" rIns="0" bIns="0" rtlCol="0" anchor="ctr"/>
          <a:lstStyle/>
          <a:p>
            <a:pPr marL="0" indent="0" algn="ctr">
              <a:buNone/>
            </a:pPr>
            <a:r>
              <a:rPr lang="en-US" sz="1400" b="1" dirty="0">
                <a:solidFill>
                  <a:srgbClr val="14182E"/>
                </a:solidFill>
                <a:latin typeface="Calibri" pitchFamily="34" charset="0"/>
                <a:ea typeface="Calibri" pitchFamily="34" charset="-122"/>
                <a:cs typeface="Calibri" pitchFamily="34" charset="-120"/>
              </a:rPr>
              <a:t>4</a:t>
            </a:r>
            <a:endParaRPr lang="en-US" sz="1400" dirty="0"/>
          </a:p>
        </p:txBody>
      </p:sp>
      <p:sp>
        <p:nvSpPr>
          <p:cNvPr id="29" name="Text 26"/>
          <p:cNvSpPr/>
          <p:nvPr/>
        </p:nvSpPr>
        <p:spPr>
          <a:xfrm>
            <a:off x="7072884" y="3282696"/>
            <a:ext cx="3561588" cy="329184"/>
          </a:xfrm>
          <a:prstGeom prst="rect">
            <a:avLst/>
          </a:prstGeom>
          <a:noFill/>
          <a:ln/>
        </p:spPr>
        <p:txBody>
          <a:bodyPr wrap="square" lIns="0" tIns="0" rIns="0" bIns="0" rtlCol="0" anchor="ctr"/>
          <a:lstStyle/>
          <a:p>
            <a:pPr marL="0" indent="0">
              <a:buNone/>
            </a:pPr>
            <a:r>
              <a:rPr lang="en-US" sz="1700" b="1" dirty="0">
                <a:solidFill>
                  <a:srgbClr val="14182E"/>
                </a:solidFill>
                <a:latin typeface="Cambria" pitchFamily="34" charset="0"/>
                <a:ea typeface="Cambria" pitchFamily="34" charset="-122"/>
                <a:cs typeface="Cambria" pitchFamily="34" charset="-120"/>
              </a:rPr>
              <a:t>Can and can't</a:t>
            </a:r>
            <a:endParaRPr lang="en-US" sz="1700" dirty="0"/>
          </a:p>
        </p:txBody>
      </p:sp>
      <p:sp>
        <p:nvSpPr>
          <p:cNvPr id="30" name="Text 27"/>
          <p:cNvSpPr/>
          <p:nvPr/>
        </p:nvSpPr>
        <p:spPr>
          <a:xfrm>
            <a:off x="10661904" y="3300984"/>
            <a:ext cx="731520" cy="274320"/>
          </a:xfrm>
          <a:prstGeom prst="rect">
            <a:avLst/>
          </a:prstGeom>
          <a:noFill/>
          <a:ln/>
        </p:spPr>
        <p:txBody>
          <a:bodyPr wrap="square" lIns="0" tIns="0" rIns="0" bIns="0" rtlCol="0" anchor="ctr"/>
          <a:lstStyle/>
          <a:p>
            <a:pPr marL="0" indent="0" algn="r">
              <a:buNone/>
            </a:pPr>
            <a:r>
              <a:rPr lang="en-US" sz="1200" b="1" dirty="0">
                <a:solidFill>
                  <a:srgbClr val="1F9E96"/>
                </a:solidFill>
                <a:latin typeface="Calibri" pitchFamily="34" charset="0"/>
                <a:ea typeface="Calibri" pitchFamily="34" charset="-122"/>
                <a:cs typeface="Calibri" pitchFamily="34" charset="-120"/>
              </a:rPr>
              <a:t>3 min</a:t>
            </a:r>
            <a:endParaRPr lang="en-US" sz="1200" dirty="0"/>
          </a:p>
        </p:txBody>
      </p:sp>
      <p:sp>
        <p:nvSpPr>
          <p:cNvPr id="31" name="Text 28"/>
          <p:cNvSpPr/>
          <p:nvPr/>
        </p:nvSpPr>
        <p:spPr>
          <a:xfrm>
            <a:off x="7072884" y="3648456"/>
            <a:ext cx="4293108" cy="502920"/>
          </a:xfrm>
          <a:prstGeom prst="rect">
            <a:avLst/>
          </a:prstGeom>
          <a:noFill/>
          <a:ln/>
        </p:spPr>
        <p:txBody>
          <a:bodyPr wrap="square" lIns="0" tIns="0" rIns="0" bIns="0" rtlCol="0" anchor="ctr"/>
          <a:lstStyle/>
          <a:p>
            <a:pPr marL="0" indent="0">
              <a:buNone/>
            </a:pPr>
            <a:r>
              <a:rPr lang="en-US" sz="1250" dirty="0">
                <a:solidFill>
                  <a:srgbClr val="6B7280"/>
                </a:solidFill>
                <a:latin typeface="Calibri" pitchFamily="34" charset="0"/>
                <a:ea typeface="Calibri" pitchFamily="34" charset="-122"/>
                <a:cs typeface="Calibri" pitchFamily="34" charset="-120"/>
              </a:rPr>
              <a:t>The boundary, before you get excited</a:t>
            </a:r>
            <a:endParaRPr lang="en-US" sz="1250" dirty="0"/>
          </a:p>
        </p:txBody>
      </p:sp>
      <p:sp>
        <p:nvSpPr>
          <p:cNvPr id="32" name="Shape 29"/>
          <p:cNvSpPr/>
          <p:nvPr/>
        </p:nvSpPr>
        <p:spPr>
          <a:xfrm>
            <a:off x="566928" y="4562856"/>
            <a:ext cx="5390388" cy="1225296"/>
          </a:xfrm>
          <a:prstGeom prst="roundRect">
            <a:avLst>
              <a:gd name="adj" fmla="val 6716"/>
            </a:avLst>
          </a:prstGeom>
          <a:solidFill>
            <a:srgbClr val="FDF6E3"/>
          </a:solidFill>
          <a:ln w="12700">
            <a:solidFill>
              <a:srgbClr val="EBD9A8"/>
            </a:solidFill>
            <a:prstDash val="solid"/>
          </a:ln>
          <a:effectLst>
            <a:outerShdw blurRad="127000" dist="25400" dir="5400000" algn="bl" rotWithShape="0">
              <a:srgbClr val="9AA0B5">
                <a:alpha val="28000"/>
              </a:srgbClr>
            </a:outerShdw>
          </a:effectLst>
        </p:spPr>
        <p:txBody>
          <a:bodyPr/>
          <a:lstStyle/>
          <a:p>
            <a:endParaRPr lang="en-US"/>
          </a:p>
        </p:txBody>
      </p:sp>
      <p:sp>
        <p:nvSpPr>
          <p:cNvPr id="33" name="Shape 30"/>
          <p:cNvSpPr/>
          <p:nvPr/>
        </p:nvSpPr>
        <p:spPr>
          <a:xfrm>
            <a:off x="822960" y="4818888"/>
            <a:ext cx="420624" cy="420624"/>
          </a:xfrm>
          <a:prstGeom prst="ellipse">
            <a:avLst/>
          </a:prstGeom>
          <a:solidFill>
            <a:srgbClr val="F2C230"/>
          </a:solidFill>
          <a:ln w="12700">
            <a:solidFill>
              <a:srgbClr val="F2C230"/>
            </a:solidFill>
            <a:prstDash val="solid"/>
          </a:ln>
        </p:spPr>
        <p:txBody>
          <a:bodyPr/>
          <a:lstStyle/>
          <a:p>
            <a:endParaRPr lang="en-US"/>
          </a:p>
        </p:txBody>
      </p:sp>
      <p:sp>
        <p:nvSpPr>
          <p:cNvPr id="34" name="Text 31"/>
          <p:cNvSpPr/>
          <p:nvPr/>
        </p:nvSpPr>
        <p:spPr>
          <a:xfrm>
            <a:off x="822960" y="4818888"/>
            <a:ext cx="420624" cy="420624"/>
          </a:xfrm>
          <a:prstGeom prst="rect">
            <a:avLst/>
          </a:prstGeom>
          <a:noFill/>
          <a:ln/>
        </p:spPr>
        <p:txBody>
          <a:bodyPr wrap="square" lIns="0" tIns="0" rIns="0" bIns="0" rtlCol="0" anchor="ctr"/>
          <a:lstStyle/>
          <a:p>
            <a:pPr marL="0" indent="0" algn="ctr">
              <a:buNone/>
            </a:pPr>
            <a:r>
              <a:rPr lang="en-US" sz="1400" b="1" dirty="0">
                <a:solidFill>
                  <a:srgbClr val="14182E"/>
                </a:solidFill>
                <a:latin typeface="Calibri" pitchFamily="34" charset="0"/>
                <a:ea typeface="Calibri" pitchFamily="34" charset="-122"/>
                <a:cs typeface="Calibri" pitchFamily="34" charset="-120"/>
              </a:rPr>
              <a:t>5</a:t>
            </a:r>
            <a:endParaRPr lang="en-US" sz="1400" dirty="0"/>
          </a:p>
        </p:txBody>
      </p:sp>
      <p:sp>
        <p:nvSpPr>
          <p:cNvPr id="35" name="Text 32"/>
          <p:cNvSpPr/>
          <p:nvPr/>
        </p:nvSpPr>
        <p:spPr>
          <a:xfrm>
            <a:off x="1408176" y="4764024"/>
            <a:ext cx="3561588" cy="329184"/>
          </a:xfrm>
          <a:prstGeom prst="rect">
            <a:avLst/>
          </a:prstGeom>
          <a:noFill/>
          <a:ln/>
        </p:spPr>
        <p:txBody>
          <a:bodyPr wrap="square" lIns="0" tIns="0" rIns="0" bIns="0" rtlCol="0" anchor="ctr"/>
          <a:lstStyle/>
          <a:p>
            <a:pPr marL="0" indent="0">
              <a:buNone/>
            </a:pPr>
            <a:r>
              <a:rPr lang="en-US" sz="1700" b="1" dirty="0">
                <a:solidFill>
                  <a:srgbClr val="14182E"/>
                </a:solidFill>
                <a:latin typeface="Cambria" pitchFamily="34" charset="0"/>
                <a:ea typeface="Cambria" pitchFamily="34" charset="-122"/>
                <a:cs typeface="Cambria" pitchFamily="34" charset="-120"/>
              </a:rPr>
              <a:t>Demo: a PBIP end to end</a:t>
            </a:r>
            <a:endParaRPr lang="en-US" sz="1700" dirty="0"/>
          </a:p>
        </p:txBody>
      </p:sp>
      <p:sp>
        <p:nvSpPr>
          <p:cNvPr id="36" name="Text 33"/>
          <p:cNvSpPr/>
          <p:nvPr/>
        </p:nvSpPr>
        <p:spPr>
          <a:xfrm>
            <a:off x="4997196" y="4782312"/>
            <a:ext cx="731520" cy="274320"/>
          </a:xfrm>
          <a:prstGeom prst="rect">
            <a:avLst/>
          </a:prstGeom>
          <a:noFill/>
          <a:ln/>
        </p:spPr>
        <p:txBody>
          <a:bodyPr wrap="square" lIns="0" tIns="0" rIns="0" bIns="0" rtlCol="0" anchor="ctr"/>
          <a:lstStyle/>
          <a:p>
            <a:pPr marL="0" indent="0" algn="r">
              <a:buNone/>
            </a:pPr>
            <a:r>
              <a:rPr lang="en-US" sz="1200" b="1" dirty="0">
                <a:solidFill>
                  <a:srgbClr val="1F9E96"/>
                </a:solidFill>
                <a:latin typeface="Calibri" pitchFamily="34" charset="0"/>
                <a:ea typeface="Calibri" pitchFamily="34" charset="-122"/>
                <a:cs typeface="Calibri" pitchFamily="34" charset="-120"/>
              </a:rPr>
              <a:t>10 min</a:t>
            </a:r>
            <a:endParaRPr lang="en-US" sz="1200" dirty="0"/>
          </a:p>
        </p:txBody>
      </p:sp>
      <p:sp>
        <p:nvSpPr>
          <p:cNvPr id="37" name="Text 34"/>
          <p:cNvSpPr/>
          <p:nvPr/>
        </p:nvSpPr>
        <p:spPr>
          <a:xfrm>
            <a:off x="1408176" y="5129784"/>
            <a:ext cx="4293108" cy="502920"/>
          </a:xfrm>
          <a:prstGeom prst="rect">
            <a:avLst/>
          </a:prstGeom>
          <a:noFill/>
          <a:ln/>
        </p:spPr>
        <p:txBody>
          <a:bodyPr wrap="square" lIns="0" tIns="0" rIns="0" bIns="0" rtlCol="0" anchor="ctr"/>
          <a:lstStyle/>
          <a:p>
            <a:pPr marL="0" indent="0">
              <a:buNone/>
            </a:pPr>
            <a:r>
              <a:rPr lang="en-US" sz="1250" dirty="0">
                <a:solidFill>
                  <a:srgbClr val="6B7280"/>
                </a:solidFill>
                <a:latin typeface="Calibri" pitchFamily="34" charset="0"/>
                <a:ea typeface="Calibri" pitchFamily="34" charset="-122"/>
                <a:cs typeface="Calibri" pitchFamily="34" charset="-120"/>
              </a:rPr>
              <a:t>Names, descriptions, standards, relationships, save</a:t>
            </a:r>
            <a:endParaRPr lang="en-US" sz="1250" dirty="0"/>
          </a:p>
        </p:txBody>
      </p:sp>
      <p:sp>
        <p:nvSpPr>
          <p:cNvPr id="38" name="Shape 35"/>
          <p:cNvSpPr/>
          <p:nvPr/>
        </p:nvSpPr>
        <p:spPr>
          <a:xfrm>
            <a:off x="6231636" y="4562856"/>
            <a:ext cx="5390388" cy="1225296"/>
          </a:xfrm>
          <a:prstGeom prst="roundRect">
            <a:avLst>
              <a:gd name="adj" fmla="val 6716"/>
            </a:avLst>
          </a:prstGeom>
          <a:solidFill>
            <a:srgbClr val="F4F5F9"/>
          </a:solidFill>
          <a:ln w="12700">
            <a:solidFill>
              <a:srgbClr val="DFE2EC"/>
            </a:solidFill>
            <a:prstDash val="solid"/>
          </a:ln>
          <a:effectLst>
            <a:outerShdw blurRad="127000" dist="25400" dir="5400000" algn="bl" rotWithShape="0">
              <a:srgbClr val="9AA0B5">
                <a:alpha val="28000"/>
              </a:srgbClr>
            </a:outerShdw>
          </a:effectLst>
        </p:spPr>
        <p:txBody>
          <a:bodyPr/>
          <a:lstStyle/>
          <a:p>
            <a:endParaRPr lang="en-US"/>
          </a:p>
        </p:txBody>
      </p:sp>
      <p:sp>
        <p:nvSpPr>
          <p:cNvPr id="39" name="Shape 36"/>
          <p:cNvSpPr/>
          <p:nvPr/>
        </p:nvSpPr>
        <p:spPr>
          <a:xfrm>
            <a:off x="6487668" y="4818888"/>
            <a:ext cx="420624" cy="420624"/>
          </a:xfrm>
          <a:prstGeom prst="ellipse">
            <a:avLst/>
          </a:prstGeom>
          <a:solidFill>
            <a:srgbClr val="F2C230"/>
          </a:solidFill>
          <a:ln w="12700">
            <a:solidFill>
              <a:srgbClr val="F2C230"/>
            </a:solidFill>
            <a:prstDash val="solid"/>
          </a:ln>
        </p:spPr>
        <p:txBody>
          <a:bodyPr/>
          <a:lstStyle/>
          <a:p>
            <a:endParaRPr lang="en-US"/>
          </a:p>
        </p:txBody>
      </p:sp>
      <p:sp>
        <p:nvSpPr>
          <p:cNvPr id="40" name="Text 37"/>
          <p:cNvSpPr/>
          <p:nvPr/>
        </p:nvSpPr>
        <p:spPr>
          <a:xfrm>
            <a:off x="6487668" y="4818888"/>
            <a:ext cx="420624" cy="420624"/>
          </a:xfrm>
          <a:prstGeom prst="rect">
            <a:avLst/>
          </a:prstGeom>
          <a:noFill/>
          <a:ln/>
        </p:spPr>
        <p:txBody>
          <a:bodyPr wrap="square" lIns="0" tIns="0" rIns="0" bIns="0" rtlCol="0" anchor="ctr"/>
          <a:lstStyle/>
          <a:p>
            <a:pPr marL="0" indent="0" algn="ctr">
              <a:buNone/>
            </a:pPr>
            <a:r>
              <a:rPr lang="en-US" sz="1400" b="1" dirty="0">
                <a:solidFill>
                  <a:srgbClr val="14182E"/>
                </a:solidFill>
                <a:latin typeface="Calibri" pitchFamily="34" charset="0"/>
                <a:ea typeface="Calibri" pitchFamily="34" charset="-122"/>
                <a:cs typeface="Calibri" pitchFamily="34" charset="-120"/>
              </a:rPr>
              <a:t>6</a:t>
            </a:r>
            <a:endParaRPr lang="en-US" sz="1400" dirty="0"/>
          </a:p>
        </p:txBody>
      </p:sp>
      <p:sp>
        <p:nvSpPr>
          <p:cNvPr id="41" name="Text 38"/>
          <p:cNvSpPr/>
          <p:nvPr/>
        </p:nvSpPr>
        <p:spPr>
          <a:xfrm>
            <a:off x="7072884" y="4764024"/>
            <a:ext cx="3561588" cy="329184"/>
          </a:xfrm>
          <a:prstGeom prst="rect">
            <a:avLst/>
          </a:prstGeom>
          <a:noFill/>
          <a:ln/>
        </p:spPr>
        <p:txBody>
          <a:bodyPr wrap="square" lIns="0" tIns="0" rIns="0" bIns="0" rtlCol="0" anchor="ctr"/>
          <a:lstStyle/>
          <a:p>
            <a:pPr marL="0" indent="0">
              <a:buNone/>
            </a:pPr>
            <a:r>
              <a:rPr lang="en-US" sz="1700" b="1" dirty="0">
                <a:solidFill>
                  <a:srgbClr val="14182E"/>
                </a:solidFill>
                <a:latin typeface="Cambria" pitchFamily="34" charset="0"/>
                <a:ea typeface="Cambria" pitchFamily="34" charset="-122"/>
                <a:cs typeface="Cambria" pitchFamily="34" charset="-120"/>
              </a:rPr>
              <a:t>Fabric MCP &amp; Skills</a:t>
            </a:r>
            <a:endParaRPr lang="en-US" sz="1700" dirty="0"/>
          </a:p>
        </p:txBody>
      </p:sp>
      <p:sp>
        <p:nvSpPr>
          <p:cNvPr id="42" name="Text 39"/>
          <p:cNvSpPr/>
          <p:nvPr/>
        </p:nvSpPr>
        <p:spPr>
          <a:xfrm>
            <a:off x="10661904" y="4782312"/>
            <a:ext cx="731520" cy="274320"/>
          </a:xfrm>
          <a:prstGeom prst="rect">
            <a:avLst/>
          </a:prstGeom>
          <a:noFill/>
          <a:ln/>
        </p:spPr>
        <p:txBody>
          <a:bodyPr wrap="square" lIns="0" tIns="0" rIns="0" bIns="0" rtlCol="0" anchor="ctr"/>
          <a:lstStyle/>
          <a:p>
            <a:pPr marL="0" indent="0" algn="r">
              <a:buNone/>
            </a:pPr>
            <a:r>
              <a:rPr lang="en-US" sz="1200" b="1" dirty="0">
                <a:solidFill>
                  <a:srgbClr val="1F9E96"/>
                </a:solidFill>
                <a:latin typeface="Calibri" pitchFamily="34" charset="0"/>
                <a:ea typeface="Calibri" pitchFamily="34" charset="-122"/>
                <a:cs typeface="Calibri" pitchFamily="34" charset="-120"/>
              </a:rPr>
              <a:t>5 min</a:t>
            </a:r>
            <a:endParaRPr lang="en-US" sz="1200" dirty="0"/>
          </a:p>
        </p:txBody>
      </p:sp>
      <p:sp>
        <p:nvSpPr>
          <p:cNvPr id="43" name="Text 40"/>
          <p:cNvSpPr/>
          <p:nvPr/>
        </p:nvSpPr>
        <p:spPr>
          <a:xfrm>
            <a:off x="7072884" y="5129784"/>
            <a:ext cx="4293108" cy="502920"/>
          </a:xfrm>
          <a:prstGeom prst="rect">
            <a:avLst/>
          </a:prstGeom>
          <a:noFill/>
          <a:ln/>
        </p:spPr>
        <p:txBody>
          <a:bodyPr wrap="square" lIns="0" tIns="0" rIns="0" bIns="0" rtlCol="0" anchor="ctr"/>
          <a:lstStyle/>
          <a:p>
            <a:pPr marL="0" indent="0">
              <a:buNone/>
            </a:pPr>
            <a:r>
              <a:rPr lang="en-US" sz="1250" dirty="0">
                <a:solidFill>
                  <a:srgbClr val="6B7280"/>
                </a:solidFill>
                <a:latin typeface="Calibri" pitchFamily="34" charset="0"/>
                <a:ea typeface="Calibri" pitchFamily="34" charset="-122"/>
                <a:cs typeface="Calibri" pitchFamily="34" charset="-120"/>
              </a:rPr>
              <a:t>The platform side and the layer above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9134856" y="6381598"/>
            <a:ext cx="310896" cy="20117"/>
          </a:xfrm>
          <a:prstGeom prst="rect">
            <a:avLst/>
          </a:prstGeom>
          <a:solidFill>
            <a:srgbClr val="1F9E96"/>
          </a:solidFill>
          <a:ln w="12700">
            <a:solidFill>
              <a:srgbClr val="1F9E96"/>
            </a:solidFill>
            <a:prstDash val="solid"/>
          </a:ln>
        </p:spPr>
        <p:txBody>
          <a:bodyPr/>
          <a:lstStyle/>
          <a:p>
            <a:endParaRPr lang="en-US"/>
          </a:p>
        </p:txBody>
      </p:sp>
      <p:sp>
        <p:nvSpPr>
          <p:cNvPr id="4" name="Text 1"/>
          <p:cNvSpPr/>
          <p:nvPr/>
        </p:nvSpPr>
        <p:spPr>
          <a:xfrm>
            <a:off x="9518904" y="6272784"/>
            <a:ext cx="2103120" cy="237744"/>
          </a:xfrm>
          <a:prstGeom prst="rect">
            <a:avLst/>
          </a:prstGeom>
          <a:noFill/>
          <a:ln/>
        </p:spPr>
        <p:txBody>
          <a:bodyPr wrap="square" lIns="0" tIns="0" rIns="0" bIns="0" rtlCol="0" anchor="ctr"/>
          <a:lstStyle/>
          <a:p>
            <a:pPr marL="0" indent="0" algn="r">
              <a:buNone/>
            </a:pPr>
            <a:r>
              <a:rPr lang="en-US" sz="900" b="1" kern="0" spc="120" dirty="0">
                <a:solidFill>
                  <a:srgbClr val="6B7280"/>
                </a:solidFill>
                <a:latin typeface="Calibri" pitchFamily="34" charset="0"/>
                <a:ea typeface="Calibri" pitchFamily="34" charset="-122"/>
                <a:cs typeface="Calibri" pitchFamily="34" charset="-120"/>
              </a:rPr>
              <a:t>4 / 22  ·  CONCEPT</a:t>
            </a:r>
            <a:endParaRPr lang="en-US" sz="900" dirty="0"/>
          </a:p>
        </p:txBody>
      </p:sp>
      <p:sp>
        <p:nvSpPr>
          <p:cNvPr id="5" name="Shape 2"/>
          <p:cNvSpPr/>
          <p:nvPr/>
        </p:nvSpPr>
        <p:spPr>
          <a:xfrm>
            <a:off x="566928" y="274320"/>
            <a:ext cx="566928" cy="41148"/>
          </a:xfrm>
          <a:prstGeom prst="rect">
            <a:avLst/>
          </a:prstGeom>
          <a:solidFill>
            <a:srgbClr val="1F9E96"/>
          </a:solidFill>
          <a:ln w="12700">
            <a:solidFill>
              <a:srgbClr val="1F9E96"/>
            </a:solidFill>
            <a:prstDash val="solid"/>
          </a:ln>
        </p:spPr>
        <p:txBody>
          <a:bodyPr/>
          <a:lstStyle/>
          <a:p>
            <a:endParaRPr lang="en-US"/>
          </a:p>
        </p:txBody>
      </p:sp>
      <p:sp>
        <p:nvSpPr>
          <p:cNvPr id="6" name="Text 3"/>
          <p:cNvSpPr/>
          <p:nvPr/>
        </p:nvSpPr>
        <p:spPr>
          <a:xfrm>
            <a:off x="566928" y="402336"/>
            <a:ext cx="11055096" cy="256032"/>
          </a:xfrm>
          <a:prstGeom prst="rect">
            <a:avLst/>
          </a:prstGeom>
          <a:noFill/>
          <a:ln/>
        </p:spPr>
        <p:txBody>
          <a:bodyPr wrap="square" lIns="0" tIns="0" rIns="0" bIns="0" rtlCol="0" anchor="ctr"/>
          <a:lstStyle/>
          <a:p>
            <a:pPr marL="0" indent="0">
              <a:buNone/>
            </a:pPr>
            <a:r>
              <a:rPr lang="en-US" sz="1100" b="1" kern="0" spc="220" dirty="0">
                <a:solidFill>
                  <a:srgbClr val="1F9E96"/>
                </a:solidFill>
                <a:latin typeface="Calibri" pitchFamily="34" charset="0"/>
                <a:ea typeface="Calibri" pitchFamily="34" charset="-122"/>
                <a:cs typeface="Calibri" pitchFamily="34" charset="-120"/>
              </a:rPr>
              <a:t>CONCEPT</a:t>
            </a:r>
            <a:endParaRPr lang="en-US" sz="1100" dirty="0"/>
          </a:p>
        </p:txBody>
      </p:sp>
      <p:sp>
        <p:nvSpPr>
          <p:cNvPr id="7" name="Text 4"/>
          <p:cNvSpPr/>
          <p:nvPr/>
        </p:nvSpPr>
        <p:spPr>
          <a:xfrm>
            <a:off x="566928" y="676656"/>
            <a:ext cx="11055096" cy="621792"/>
          </a:xfrm>
          <a:prstGeom prst="rect">
            <a:avLst/>
          </a:prstGeom>
          <a:noFill/>
          <a:ln/>
        </p:spPr>
        <p:txBody>
          <a:bodyPr wrap="square" lIns="0" tIns="0" rIns="0" bIns="0" rtlCol="0" anchor="ctr"/>
          <a:lstStyle/>
          <a:p>
            <a:pPr marL="0" indent="0">
              <a:buNone/>
            </a:pPr>
            <a:r>
              <a:rPr lang="en-US" sz="3400" b="1" dirty="0">
                <a:solidFill>
                  <a:srgbClr val="14182E"/>
                </a:solidFill>
                <a:latin typeface="Cambria" pitchFamily="34" charset="0"/>
                <a:ea typeface="Cambria" pitchFamily="34" charset="-122"/>
                <a:cs typeface="Cambria" pitchFamily="34" charset="-120"/>
              </a:rPr>
              <a:t>What “agentic development” actually means</a:t>
            </a:r>
            <a:endParaRPr lang="en-US" sz="3400" dirty="0"/>
          </a:p>
        </p:txBody>
      </p:sp>
      <p:sp>
        <p:nvSpPr>
          <p:cNvPr id="8" name="Shape 5"/>
          <p:cNvSpPr/>
          <p:nvPr/>
        </p:nvSpPr>
        <p:spPr>
          <a:xfrm>
            <a:off x="566928" y="1572768"/>
            <a:ext cx="3538728" cy="1920240"/>
          </a:xfrm>
          <a:prstGeom prst="roundRect">
            <a:avLst>
              <a:gd name="adj" fmla="val 4286"/>
            </a:avLst>
          </a:prstGeom>
          <a:solidFill>
            <a:srgbClr val="FAFAFD"/>
          </a:solidFill>
          <a:ln w="12700">
            <a:solidFill>
              <a:srgbClr val="DFE2EC"/>
            </a:solidFill>
            <a:prstDash val="solid"/>
          </a:ln>
          <a:effectLst>
            <a:outerShdw blurRad="127000" dist="25400" dir="5400000" algn="bl" rotWithShape="0">
              <a:srgbClr val="9AA0B5">
                <a:alpha val="28000"/>
              </a:srgbClr>
            </a:outerShdw>
          </a:effectLst>
        </p:spPr>
        <p:txBody>
          <a:bodyPr/>
          <a:lstStyle/>
          <a:p>
            <a:endParaRPr lang="en-US"/>
          </a:p>
        </p:txBody>
      </p:sp>
      <p:sp>
        <p:nvSpPr>
          <p:cNvPr id="9" name="Text 6"/>
          <p:cNvSpPr/>
          <p:nvPr/>
        </p:nvSpPr>
        <p:spPr>
          <a:xfrm>
            <a:off x="822960" y="1737360"/>
            <a:ext cx="3026664" cy="237744"/>
          </a:xfrm>
          <a:prstGeom prst="rect">
            <a:avLst/>
          </a:prstGeom>
          <a:noFill/>
          <a:ln/>
        </p:spPr>
        <p:txBody>
          <a:bodyPr wrap="square" lIns="0" tIns="0" rIns="0" bIns="0" rtlCol="0" anchor="ctr"/>
          <a:lstStyle/>
          <a:p>
            <a:pPr marL="0" indent="0">
              <a:buNone/>
            </a:pPr>
            <a:r>
              <a:rPr lang="en-US" sz="1000" b="1" kern="0" spc="180" dirty="0">
                <a:solidFill>
                  <a:srgbClr val="6B7280"/>
                </a:solidFill>
                <a:latin typeface="Calibri" pitchFamily="34" charset="0"/>
                <a:ea typeface="Calibri" pitchFamily="34" charset="-122"/>
                <a:cs typeface="Calibri" pitchFamily="34" charset="-120"/>
              </a:rPr>
              <a:t>ASSISTIVE</a:t>
            </a:r>
            <a:endParaRPr lang="en-US" sz="1000" dirty="0"/>
          </a:p>
        </p:txBody>
      </p:sp>
      <p:sp>
        <p:nvSpPr>
          <p:cNvPr id="10" name="Text 7"/>
          <p:cNvSpPr/>
          <p:nvPr/>
        </p:nvSpPr>
        <p:spPr>
          <a:xfrm>
            <a:off x="822960" y="1993392"/>
            <a:ext cx="3026664" cy="347472"/>
          </a:xfrm>
          <a:prstGeom prst="rect">
            <a:avLst/>
          </a:prstGeom>
          <a:noFill/>
          <a:ln/>
        </p:spPr>
        <p:txBody>
          <a:bodyPr wrap="square" lIns="0" tIns="0" rIns="0" bIns="0" rtlCol="0" anchor="ctr"/>
          <a:lstStyle/>
          <a:p>
            <a:pPr marL="0" indent="0">
              <a:buNone/>
            </a:pPr>
            <a:r>
              <a:rPr lang="en-US" sz="1900" b="1" dirty="0">
                <a:solidFill>
                  <a:srgbClr val="14182E"/>
                </a:solidFill>
                <a:latin typeface="Cambria" pitchFamily="34" charset="0"/>
                <a:ea typeface="Cambria" pitchFamily="34" charset="-122"/>
                <a:cs typeface="Cambria" pitchFamily="34" charset="-120"/>
              </a:rPr>
              <a:t>Autocomplete</a:t>
            </a:r>
            <a:endParaRPr lang="en-US" sz="1900" dirty="0"/>
          </a:p>
        </p:txBody>
      </p:sp>
      <p:sp>
        <p:nvSpPr>
          <p:cNvPr id="11" name="Text 8"/>
          <p:cNvSpPr/>
          <p:nvPr/>
        </p:nvSpPr>
        <p:spPr>
          <a:xfrm>
            <a:off x="822960" y="2395728"/>
            <a:ext cx="3026664" cy="960120"/>
          </a:xfrm>
          <a:prstGeom prst="rect">
            <a:avLst/>
          </a:prstGeom>
          <a:noFill/>
          <a:ln/>
        </p:spPr>
        <p:txBody>
          <a:bodyPr wrap="square" lIns="0" tIns="0" rIns="0" bIns="0" rtlCol="0" anchor="ctr"/>
          <a:lstStyle/>
          <a:p>
            <a:pPr marL="0" indent="0">
              <a:lnSpc>
                <a:spcPct val="120000"/>
              </a:lnSpc>
              <a:buNone/>
            </a:pPr>
            <a:r>
              <a:rPr lang="en-US" sz="1250" dirty="0">
                <a:solidFill>
                  <a:srgbClr val="6B7280"/>
                </a:solidFill>
                <a:latin typeface="Calibri" pitchFamily="34" charset="0"/>
                <a:ea typeface="Calibri" pitchFamily="34" charset="-122"/>
                <a:cs typeface="Calibri" pitchFamily="34" charset="-120"/>
              </a:rPr>
              <a:t>Suggests the next few lines. You decide, you type, you run it.</a:t>
            </a:r>
            <a:endParaRPr lang="en-US" sz="1250" dirty="0"/>
          </a:p>
        </p:txBody>
      </p:sp>
      <p:sp>
        <p:nvSpPr>
          <p:cNvPr id="12" name="Shape 9"/>
          <p:cNvSpPr/>
          <p:nvPr/>
        </p:nvSpPr>
        <p:spPr>
          <a:xfrm>
            <a:off x="4123944" y="2395728"/>
            <a:ext cx="182880" cy="219456"/>
          </a:xfrm>
          <a:prstGeom prst="rightArrow">
            <a:avLst/>
          </a:prstGeom>
          <a:solidFill>
            <a:srgbClr val="F2C230"/>
          </a:solidFill>
          <a:ln w="12700">
            <a:solidFill>
              <a:srgbClr val="F2C230"/>
            </a:solidFill>
            <a:prstDash val="solid"/>
          </a:ln>
        </p:spPr>
        <p:txBody>
          <a:bodyPr/>
          <a:lstStyle/>
          <a:p>
            <a:endParaRPr lang="en-US"/>
          </a:p>
        </p:txBody>
      </p:sp>
      <p:sp>
        <p:nvSpPr>
          <p:cNvPr id="13" name="Shape 10"/>
          <p:cNvSpPr/>
          <p:nvPr/>
        </p:nvSpPr>
        <p:spPr>
          <a:xfrm>
            <a:off x="4325112" y="1572768"/>
            <a:ext cx="3538728" cy="1920240"/>
          </a:xfrm>
          <a:prstGeom prst="roundRect">
            <a:avLst>
              <a:gd name="adj" fmla="val 4286"/>
            </a:avLst>
          </a:prstGeom>
          <a:solidFill>
            <a:srgbClr val="EDF7F6"/>
          </a:solidFill>
          <a:ln w="12700">
            <a:solidFill>
              <a:srgbClr val="C7E4E1"/>
            </a:solidFill>
            <a:prstDash val="solid"/>
          </a:ln>
          <a:effectLst>
            <a:outerShdw blurRad="127000" dist="25400" dir="5400000" algn="bl" rotWithShape="0">
              <a:srgbClr val="9AA0B5">
                <a:alpha val="28000"/>
              </a:srgbClr>
            </a:outerShdw>
          </a:effectLst>
        </p:spPr>
        <p:txBody>
          <a:bodyPr/>
          <a:lstStyle/>
          <a:p>
            <a:endParaRPr lang="en-US"/>
          </a:p>
        </p:txBody>
      </p:sp>
      <p:sp>
        <p:nvSpPr>
          <p:cNvPr id="14" name="Text 11"/>
          <p:cNvSpPr/>
          <p:nvPr/>
        </p:nvSpPr>
        <p:spPr>
          <a:xfrm>
            <a:off x="4581144" y="1737360"/>
            <a:ext cx="3026664" cy="237744"/>
          </a:xfrm>
          <a:prstGeom prst="rect">
            <a:avLst/>
          </a:prstGeom>
          <a:noFill/>
          <a:ln/>
        </p:spPr>
        <p:txBody>
          <a:bodyPr wrap="square" lIns="0" tIns="0" rIns="0" bIns="0" rtlCol="0" anchor="ctr"/>
          <a:lstStyle/>
          <a:p>
            <a:pPr marL="0" indent="0">
              <a:buNone/>
            </a:pPr>
            <a:r>
              <a:rPr lang="en-US" sz="1000" b="1" kern="0" spc="180" dirty="0">
                <a:solidFill>
                  <a:srgbClr val="1F9E96"/>
                </a:solidFill>
                <a:latin typeface="Calibri" pitchFamily="34" charset="0"/>
                <a:ea typeface="Calibri" pitchFamily="34" charset="-122"/>
                <a:cs typeface="Calibri" pitchFamily="34" charset="-120"/>
              </a:rPr>
              <a:t>CONVERSATIONAL</a:t>
            </a:r>
            <a:endParaRPr lang="en-US" sz="1000" dirty="0"/>
          </a:p>
        </p:txBody>
      </p:sp>
      <p:sp>
        <p:nvSpPr>
          <p:cNvPr id="15" name="Text 12"/>
          <p:cNvSpPr/>
          <p:nvPr/>
        </p:nvSpPr>
        <p:spPr>
          <a:xfrm>
            <a:off x="4581144" y="1993392"/>
            <a:ext cx="3026664" cy="347472"/>
          </a:xfrm>
          <a:prstGeom prst="rect">
            <a:avLst/>
          </a:prstGeom>
          <a:noFill/>
          <a:ln/>
        </p:spPr>
        <p:txBody>
          <a:bodyPr wrap="square" lIns="0" tIns="0" rIns="0" bIns="0" rtlCol="0" anchor="ctr"/>
          <a:lstStyle/>
          <a:p>
            <a:pPr marL="0" indent="0">
              <a:buNone/>
            </a:pPr>
            <a:r>
              <a:rPr lang="en-US" sz="1900" b="1" dirty="0">
                <a:solidFill>
                  <a:srgbClr val="14182E"/>
                </a:solidFill>
                <a:latin typeface="Cambria" pitchFamily="34" charset="0"/>
                <a:ea typeface="Cambria" pitchFamily="34" charset="-122"/>
                <a:cs typeface="Cambria" pitchFamily="34" charset="-120"/>
              </a:rPr>
              <a:t>Chat</a:t>
            </a:r>
            <a:endParaRPr lang="en-US" sz="1900" dirty="0"/>
          </a:p>
        </p:txBody>
      </p:sp>
      <p:sp>
        <p:nvSpPr>
          <p:cNvPr id="16" name="Text 13"/>
          <p:cNvSpPr/>
          <p:nvPr/>
        </p:nvSpPr>
        <p:spPr>
          <a:xfrm>
            <a:off x="4581144" y="2395728"/>
            <a:ext cx="3026664" cy="960120"/>
          </a:xfrm>
          <a:prstGeom prst="rect">
            <a:avLst/>
          </a:prstGeom>
          <a:noFill/>
          <a:ln/>
        </p:spPr>
        <p:txBody>
          <a:bodyPr wrap="square" lIns="0" tIns="0" rIns="0" bIns="0" rtlCol="0" anchor="ctr"/>
          <a:lstStyle/>
          <a:p>
            <a:pPr marL="0" indent="0">
              <a:lnSpc>
                <a:spcPct val="120000"/>
              </a:lnSpc>
              <a:buNone/>
            </a:pPr>
            <a:r>
              <a:rPr lang="en-US" sz="1250" dirty="0">
                <a:solidFill>
                  <a:srgbClr val="6B7280"/>
                </a:solidFill>
                <a:latin typeface="Calibri" pitchFamily="34" charset="0"/>
                <a:ea typeface="Calibri" pitchFamily="34" charset="-122"/>
                <a:cs typeface="Calibri" pitchFamily="34" charset="-120"/>
              </a:rPr>
              <a:t>Answers questions and writes snippets. You still do all the doing.</a:t>
            </a:r>
            <a:endParaRPr lang="en-US" sz="1250" dirty="0"/>
          </a:p>
        </p:txBody>
      </p:sp>
      <p:sp>
        <p:nvSpPr>
          <p:cNvPr id="17" name="Shape 14"/>
          <p:cNvSpPr/>
          <p:nvPr/>
        </p:nvSpPr>
        <p:spPr>
          <a:xfrm>
            <a:off x="7882128" y="2395728"/>
            <a:ext cx="182880" cy="219456"/>
          </a:xfrm>
          <a:prstGeom prst="rightArrow">
            <a:avLst/>
          </a:prstGeom>
          <a:solidFill>
            <a:srgbClr val="F2C230"/>
          </a:solidFill>
          <a:ln w="12700">
            <a:solidFill>
              <a:srgbClr val="F2C230"/>
            </a:solidFill>
            <a:prstDash val="solid"/>
          </a:ln>
        </p:spPr>
        <p:txBody>
          <a:bodyPr/>
          <a:lstStyle/>
          <a:p>
            <a:endParaRPr lang="en-US"/>
          </a:p>
        </p:txBody>
      </p:sp>
      <p:sp>
        <p:nvSpPr>
          <p:cNvPr id="18" name="Shape 15"/>
          <p:cNvSpPr/>
          <p:nvPr/>
        </p:nvSpPr>
        <p:spPr>
          <a:xfrm>
            <a:off x="8083296" y="1572768"/>
            <a:ext cx="3538728" cy="1920240"/>
          </a:xfrm>
          <a:prstGeom prst="roundRect">
            <a:avLst>
              <a:gd name="adj" fmla="val 4286"/>
            </a:avLst>
          </a:prstGeom>
          <a:solidFill>
            <a:srgbClr val="FDF6E3"/>
          </a:solidFill>
          <a:ln w="12700">
            <a:solidFill>
              <a:srgbClr val="EBD9A8"/>
            </a:solidFill>
            <a:prstDash val="solid"/>
          </a:ln>
          <a:effectLst>
            <a:outerShdw blurRad="127000" dist="25400" dir="5400000" algn="bl" rotWithShape="0">
              <a:srgbClr val="9AA0B5">
                <a:alpha val="28000"/>
              </a:srgbClr>
            </a:outerShdw>
          </a:effectLst>
        </p:spPr>
        <p:txBody>
          <a:bodyPr/>
          <a:lstStyle/>
          <a:p>
            <a:endParaRPr lang="en-US"/>
          </a:p>
        </p:txBody>
      </p:sp>
      <p:sp>
        <p:nvSpPr>
          <p:cNvPr id="19" name="Text 16"/>
          <p:cNvSpPr/>
          <p:nvPr/>
        </p:nvSpPr>
        <p:spPr>
          <a:xfrm>
            <a:off x="8339328" y="1737360"/>
            <a:ext cx="3026664" cy="237744"/>
          </a:xfrm>
          <a:prstGeom prst="rect">
            <a:avLst/>
          </a:prstGeom>
          <a:noFill/>
          <a:ln/>
        </p:spPr>
        <p:txBody>
          <a:bodyPr wrap="square" lIns="0" tIns="0" rIns="0" bIns="0" rtlCol="0" anchor="ctr"/>
          <a:lstStyle/>
          <a:p>
            <a:pPr marL="0" indent="0">
              <a:buNone/>
            </a:pPr>
            <a:r>
              <a:rPr lang="en-US" sz="1000" b="1" kern="0" spc="180" dirty="0">
                <a:solidFill>
                  <a:srgbClr val="8A6E12"/>
                </a:solidFill>
                <a:latin typeface="Calibri" pitchFamily="34" charset="0"/>
                <a:ea typeface="Calibri" pitchFamily="34" charset="-122"/>
                <a:cs typeface="Calibri" pitchFamily="34" charset="-120"/>
              </a:rPr>
              <a:t>AGENTIC</a:t>
            </a:r>
            <a:endParaRPr lang="en-US" sz="1000" dirty="0"/>
          </a:p>
        </p:txBody>
      </p:sp>
      <p:sp>
        <p:nvSpPr>
          <p:cNvPr id="20" name="Text 17"/>
          <p:cNvSpPr/>
          <p:nvPr/>
        </p:nvSpPr>
        <p:spPr>
          <a:xfrm>
            <a:off x="8339328" y="1993392"/>
            <a:ext cx="3026664" cy="347472"/>
          </a:xfrm>
          <a:prstGeom prst="rect">
            <a:avLst/>
          </a:prstGeom>
          <a:noFill/>
          <a:ln/>
        </p:spPr>
        <p:txBody>
          <a:bodyPr wrap="square" lIns="0" tIns="0" rIns="0" bIns="0" rtlCol="0" anchor="ctr"/>
          <a:lstStyle/>
          <a:p>
            <a:pPr marL="0" indent="0">
              <a:buNone/>
            </a:pPr>
            <a:r>
              <a:rPr lang="en-US" sz="1900" b="1" dirty="0">
                <a:solidFill>
                  <a:srgbClr val="14182E"/>
                </a:solidFill>
                <a:latin typeface="Cambria" pitchFamily="34" charset="0"/>
                <a:ea typeface="Cambria" pitchFamily="34" charset="-122"/>
                <a:cs typeface="Cambria" pitchFamily="34" charset="-120"/>
              </a:rPr>
              <a:t>Acts, then checks</a:t>
            </a:r>
            <a:endParaRPr lang="en-US" sz="1900" dirty="0"/>
          </a:p>
        </p:txBody>
      </p:sp>
      <p:sp>
        <p:nvSpPr>
          <p:cNvPr id="21" name="Text 18"/>
          <p:cNvSpPr/>
          <p:nvPr/>
        </p:nvSpPr>
        <p:spPr>
          <a:xfrm>
            <a:off x="8339328" y="2395728"/>
            <a:ext cx="3026664" cy="960120"/>
          </a:xfrm>
          <a:prstGeom prst="rect">
            <a:avLst/>
          </a:prstGeom>
          <a:noFill/>
          <a:ln/>
        </p:spPr>
        <p:txBody>
          <a:bodyPr wrap="square" lIns="0" tIns="0" rIns="0" bIns="0" rtlCol="0" anchor="ctr"/>
          <a:lstStyle/>
          <a:p>
            <a:pPr marL="0" indent="0">
              <a:lnSpc>
                <a:spcPct val="120000"/>
              </a:lnSpc>
              <a:buNone/>
            </a:pPr>
            <a:r>
              <a:rPr lang="en-US" sz="1250" dirty="0">
                <a:solidFill>
                  <a:srgbClr val="6B7280"/>
                </a:solidFill>
                <a:latin typeface="Calibri" pitchFamily="34" charset="0"/>
                <a:ea typeface="Calibri" pitchFamily="34" charset="-122"/>
                <a:cs typeface="Calibri" pitchFamily="34" charset="-120"/>
              </a:rPr>
              <a:t>Given an outcome, it plans, calls real tools against real objects, verifies the result and reports back.</a:t>
            </a:r>
            <a:endParaRPr lang="en-US" sz="1250" dirty="0"/>
          </a:p>
        </p:txBody>
      </p:sp>
      <p:sp>
        <p:nvSpPr>
          <p:cNvPr id="22" name="Shape 19"/>
          <p:cNvSpPr/>
          <p:nvPr/>
        </p:nvSpPr>
        <p:spPr>
          <a:xfrm>
            <a:off x="566928" y="3639312"/>
            <a:ext cx="11055096" cy="1024128"/>
          </a:xfrm>
          <a:prstGeom prst="roundRect">
            <a:avLst>
              <a:gd name="adj" fmla="val 8036"/>
            </a:avLst>
          </a:prstGeom>
          <a:solidFill>
            <a:srgbClr val="14182E"/>
          </a:solidFill>
          <a:ln w="12700">
            <a:solidFill>
              <a:srgbClr val="232A52"/>
            </a:solidFill>
            <a:prstDash val="solid"/>
          </a:ln>
          <a:effectLst>
            <a:outerShdw blurRad="127000" dist="25400" dir="5400000" algn="bl" rotWithShape="0">
              <a:srgbClr val="9AA0B5">
                <a:alpha val="28000"/>
              </a:srgbClr>
            </a:outerShdw>
          </a:effectLst>
        </p:spPr>
        <p:txBody>
          <a:bodyPr/>
          <a:lstStyle/>
          <a:p>
            <a:endParaRPr lang="en-US"/>
          </a:p>
        </p:txBody>
      </p:sp>
      <p:sp>
        <p:nvSpPr>
          <p:cNvPr id="23" name="Text 20"/>
          <p:cNvSpPr/>
          <p:nvPr/>
        </p:nvSpPr>
        <p:spPr>
          <a:xfrm>
            <a:off x="877824" y="3767328"/>
            <a:ext cx="10433304" cy="237744"/>
          </a:xfrm>
          <a:prstGeom prst="rect">
            <a:avLst/>
          </a:prstGeom>
          <a:noFill/>
          <a:ln/>
        </p:spPr>
        <p:txBody>
          <a:bodyPr wrap="square" lIns="0" tIns="0" rIns="0" bIns="0" rtlCol="0" anchor="ctr"/>
          <a:lstStyle/>
          <a:p>
            <a:pPr marL="0" indent="0">
              <a:buNone/>
            </a:pPr>
            <a:r>
              <a:rPr lang="en-US" sz="1050" b="1" kern="0" spc="200" dirty="0">
                <a:solidFill>
                  <a:srgbClr val="F2C230"/>
                </a:solidFill>
                <a:latin typeface="Calibri" pitchFamily="34" charset="0"/>
                <a:ea typeface="Calibri" pitchFamily="34" charset="-122"/>
                <a:cs typeface="Calibri" pitchFamily="34" charset="-120"/>
              </a:rPr>
              <a:t>The working definition</a:t>
            </a:r>
            <a:endParaRPr lang="en-US" sz="1050" dirty="0"/>
          </a:p>
        </p:txBody>
      </p:sp>
      <p:sp>
        <p:nvSpPr>
          <p:cNvPr id="24" name="Text 21"/>
          <p:cNvSpPr/>
          <p:nvPr/>
        </p:nvSpPr>
        <p:spPr>
          <a:xfrm>
            <a:off x="877824" y="4041648"/>
            <a:ext cx="10433304" cy="50292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You state the outcome. The agent chooses the tools, applies the change, checks its own work, and hands you something to review.</a:t>
            </a:r>
            <a:endParaRPr lang="en-US" sz="1500" dirty="0"/>
          </a:p>
        </p:txBody>
      </p:sp>
      <p:sp>
        <p:nvSpPr>
          <p:cNvPr id="25" name="Shape 22"/>
          <p:cNvSpPr/>
          <p:nvPr/>
        </p:nvSpPr>
        <p:spPr>
          <a:xfrm>
            <a:off x="566928" y="4791456"/>
            <a:ext cx="5344668" cy="1152144"/>
          </a:xfrm>
          <a:prstGeom prst="roundRect">
            <a:avLst>
              <a:gd name="adj" fmla="val 7143"/>
            </a:avLst>
          </a:prstGeom>
          <a:solidFill>
            <a:srgbClr val="F4F5F9"/>
          </a:solidFill>
          <a:ln w="12700">
            <a:solidFill>
              <a:srgbClr val="DFE2EC"/>
            </a:solidFill>
            <a:prstDash val="solid"/>
          </a:ln>
          <a:effectLst>
            <a:outerShdw blurRad="127000" dist="25400" dir="5400000" algn="bl" rotWithShape="0">
              <a:srgbClr val="9AA0B5">
                <a:alpha val="28000"/>
              </a:srgbClr>
            </a:outerShdw>
          </a:effectLst>
        </p:spPr>
        <p:txBody>
          <a:bodyPr/>
          <a:lstStyle/>
          <a:p>
            <a:endParaRPr lang="en-US"/>
          </a:p>
        </p:txBody>
      </p:sp>
      <p:sp>
        <p:nvSpPr>
          <p:cNvPr id="26" name="Text 23"/>
          <p:cNvSpPr/>
          <p:nvPr/>
        </p:nvSpPr>
        <p:spPr>
          <a:xfrm>
            <a:off x="822960" y="4901184"/>
            <a:ext cx="4832604" cy="256032"/>
          </a:xfrm>
          <a:prstGeom prst="rect">
            <a:avLst/>
          </a:prstGeom>
          <a:noFill/>
          <a:ln/>
        </p:spPr>
        <p:txBody>
          <a:bodyPr wrap="square" lIns="0" tIns="0" rIns="0" bIns="0" rtlCol="0" anchor="ctr"/>
          <a:lstStyle/>
          <a:p>
            <a:pPr marL="0" indent="0">
              <a:buNone/>
            </a:pPr>
            <a:r>
              <a:rPr lang="en-US" sz="1500" b="1" dirty="0">
                <a:solidFill>
                  <a:srgbClr val="14182E"/>
                </a:solidFill>
                <a:latin typeface="Cambria" pitchFamily="34" charset="0"/>
                <a:ea typeface="Cambria" pitchFamily="34" charset="-122"/>
                <a:cs typeface="Cambria" pitchFamily="34" charset="-120"/>
              </a:rPr>
              <a:t>What it needs to work</a:t>
            </a:r>
            <a:endParaRPr lang="en-US" sz="1500" dirty="0"/>
          </a:p>
        </p:txBody>
      </p:sp>
      <p:sp>
        <p:nvSpPr>
          <p:cNvPr id="27" name="Text 24"/>
          <p:cNvSpPr/>
          <p:nvPr/>
        </p:nvSpPr>
        <p:spPr>
          <a:xfrm>
            <a:off x="822960" y="5193792"/>
            <a:ext cx="4832604" cy="685800"/>
          </a:xfrm>
          <a:prstGeom prst="rect">
            <a:avLst/>
          </a:prstGeom>
          <a:noFill/>
          <a:ln/>
        </p:spPr>
        <p:txBody>
          <a:bodyPr wrap="square" lIns="0" tIns="0" rIns="0" bIns="0" rtlCol="0" anchor="t"/>
          <a:lstStyle/>
          <a:p>
            <a:pPr marL="342900" indent="-342900">
              <a:lnSpc>
                <a:spcPct val="115000"/>
              </a:lnSpc>
              <a:spcAft>
                <a:spcPts val="200"/>
              </a:spcAft>
              <a:buSzPct val="100000"/>
              <a:buChar char="•"/>
            </a:pPr>
            <a:r>
              <a:rPr lang="en-US" sz="1150" dirty="0">
                <a:solidFill>
                  <a:srgbClr val="2A2F45"/>
                </a:solidFill>
                <a:latin typeface="Calibri" pitchFamily="34" charset="0"/>
                <a:ea typeface="Calibri" pitchFamily="34" charset="-122"/>
                <a:cs typeface="Calibri" pitchFamily="34" charset="-120"/>
              </a:rPr>
              <a:t>Tools that do real things — an MCP server</a:t>
            </a:r>
            <a:endParaRPr lang="en-US" sz="1150" dirty="0"/>
          </a:p>
          <a:p>
            <a:pPr marL="342900" indent="-342900">
              <a:lnSpc>
                <a:spcPct val="115000"/>
              </a:lnSpc>
              <a:spcAft>
                <a:spcPts val="200"/>
              </a:spcAft>
              <a:buSzPct val="100000"/>
              <a:buChar char="•"/>
            </a:pPr>
            <a:r>
              <a:rPr lang="en-US" sz="1150" dirty="0">
                <a:solidFill>
                  <a:srgbClr val="2A2F45"/>
                </a:solidFill>
                <a:latin typeface="Calibri" pitchFamily="34" charset="0"/>
                <a:ea typeface="Calibri" pitchFamily="34" charset="-122"/>
                <a:cs typeface="Calibri" pitchFamily="34" charset="-120"/>
              </a:rPr>
              <a:t>Skills that say what “good” looks like here</a:t>
            </a:r>
            <a:endParaRPr lang="en-US" sz="1150" dirty="0"/>
          </a:p>
          <a:p>
            <a:pPr marL="342900" indent="-342900">
              <a:lnSpc>
                <a:spcPct val="115000"/>
              </a:lnSpc>
              <a:spcAft>
                <a:spcPts val="200"/>
              </a:spcAft>
              <a:buSzPct val="100000"/>
              <a:buChar char="•"/>
            </a:pPr>
            <a:r>
              <a:rPr lang="en-US" sz="1150" dirty="0">
                <a:solidFill>
                  <a:srgbClr val="2A2F45"/>
                </a:solidFill>
                <a:latin typeface="Calibri" pitchFamily="34" charset="0"/>
                <a:ea typeface="Calibri" pitchFamily="34" charset="-122"/>
                <a:cs typeface="Calibri" pitchFamily="34" charset="-120"/>
              </a:rPr>
              <a:t>A loop that verifies, not just generates</a:t>
            </a:r>
            <a:endParaRPr lang="en-US" sz="1150" dirty="0"/>
          </a:p>
        </p:txBody>
      </p:sp>
      <p:sp>
        <p:nvSpPr>
          <p:cNvPr id="28" name="Shape 25"/>
          <p:cNvSpPr/>
          <p:nvPr/>
        </p:nvSpPr>
        <p:spPr>
          <a:xfrm>
            <a:off x="6277356" y="4791456"/>
            <a:ext cx="5344668" cy="1152144"/>
          </a:xfrm>
          <a:prstGeom prst="roundRect">
            <a:avLst>
              <a:gd name="adj" fmla="val 7143"/>
            </a:avLst>
          </a:prstGeom>
          <a:solidFill>
            <a:srgbClr val="F4F5F9"/>
          </a:solidFill>
          <a:ln w="12700">
            <a:solidFill>
              <a:srgbClr val="DFE2EC"/>
            </a:solidFill>
            <a:prstDash val="solid"/>
          </a:ln>
          <a:effectLst>
            <a:outerShdw blurRad="127000" dist="25400" dir="5400000" algn="bl" rotWithShape="0">
              <a:srgbClr val="9AA0B5">
                <a:alpha val="28000"/>
              </a:srgbClr>
            </a:outerShdw>
          </a:effectLst>
        </p:spPr>
        <p:txBody>
          <a:bodyPr/>
          <a:lstStyle/>
          <a:p>
            <a:endParaRPr lang="en-US"/>
          </a:p>
        </p:txBody>
      </p:sp>
      <p:sp>
        <p:nvSpPr>
          <p:cNvPr id="29" name="Text 26"/>
          <p:cNvSpPr/>
          <p:nvPr/>
        </p:nvSpPr>
        <p:spPr>
          <a:xfrm>
            <a:off x="6533388" y="4901184"/>
            <a:ext cx="4832604" cy="256032"/>
          </a:xfrm>
          <a:prstGeom prst="rect">
            <a:avLst/>
          </a:prstGeom>
          <a:noFill/>
          <a:ln/>
        </p:spPr>
        <p:txBody>
          <a:bodyPr wrap="square" lIns="0" tIns="0" rIns="0" bIns="0" rtlCol="0" anchor="ctr"/>
          <a:lstStyle/>
          <a:p>
            <a:pPr marL="0" indent="0">
              <a:buNone/>
            </a:pPr>
            <a:r>
              <a:rPr lang="en-US" sz="1500" b="1" dirty="0">
                <a:solidFill>
                  <a:srgbClr val="14182E"/>
                </a:solidFill>
                <a:latin typeface="Cambria" pitchFamily="34" charset="0"/>
                <a:ea typeface="Cambria" pitchFamily="34" charset="-122"/>
                <a:cs typeface="Cambria" pitchFamily="34" charset="-120"/>
              </a:rPr>
              <a:t>What changes for you</a:t>
            </a:r>
            <a:endParaRPr lang="en-US" sz="1500" dirty="0"/>
          </a:p>
        </p:txBody>
      </p:sp>
      <p:sp>
        <p:nvSpPr>
          <p:cNvPr id="30" name="Text 27"/>
          <p:cNvSpPr/>
          <p:nvPr/>
        </p:nvSpPr>
        <p:spPr>
          <a:xfrm>
            <a:off x="6533388" y="5193792"/>
            <a:ext cx="4832604" cy="685800"/>
          </a:xfrm>
          <a:prstGeom prst="rect">
            <a:avLst/>
          </a:prstGeom>
          <a:noFill/>
          <a:ln/>
        </p:spPr>
        <p:txBody>
          <a:bodyPr wrap="square" lIns="0" tIns="0" rIns="0" bIns="0" rtlCol="0" anchor="t"/>
          <a:lstStyle/>
          <a:p>
            <a:pPr marL="342900" indent="-342900">
              <a:lnSpc>
                <a:spcPct val="115000"/>
              </a:lnSpc>
              <a:spcAft>
                <a:spcPts val="200"/>
              </a:spcAft>
              <a:buSzPct val="100000"/>
              <a:buChar char="•"/>
            </a:pPr>
            <a:r>
              <a:rPr lang="en-US" sz="1150" dirty="0">
                <a:solidFill>
                  <a:srgbClr val="2A2F45"/>
                </a:solidFill>
                <a:latin typeface="Calibri" pitchFamily="34" charset="0"/>
                <a:ea typeface="Calibri" pitchFamily="34" charset="-122"/>
                <a:cs typeface="Calibri" pitchFamily="34" charset="-120"/>
              </a:rPr>
              <a:t>You stop typing the change and start reviewing it</a:t>
            </a:r>
            <a:endParaRPr lang="en-US" sz="1150" dirty="0"/>
          </a:p>
          <a:p>
            <a:pPr marL="342900" indent="-342900">
              <a:lnSpc>
                <a:spcPct val="115000"/>
              </a:lnSpc>
              <a:spcAft>
                <a:spcPts val="200"/>
              </a:spcAft>
              <a:buSzPct val="100000"/>
              <a:buChar char="•"/>
            </a:pPr>
            <a:r>
              <a:rPr lang="en-US" sz="1150" dirty="0">
                <a:solidFill>
                  <a:srgbClr val="2A2F45"/>
                </a:solidFill>
                <a:latin typeface="Calibri" pitchFamily="34" charset="0"/>
                <a:ea typeface="Calibri" pitchFamily="34" charset="-122"/>
                <a:cs typeface="Calibri" pitchFamily="34" charset="-120"/>
              </a:rPr>
              <a:t>Your standards become reusable, not tribal</a:t>
            </a:r>
            <a:endParaRPr lang="en-US" sz="1150" dirty="0"/>
          </a:p>
          <a:p>
            <a:pPr marL="342900" indent="-342900">
              <a:lnSpc>
                <a:spcPct val="115000"/>
              </a:lnSpc>
              <a:spcAft>
                <a:spcPts val="200"/>
              </a:spcAft>
              <a:buSzPct val="100000"/>
              <a:buChar char="•"/>
            </a:pPr>
            <a:r>
              <a:rPr lang="en-US" sz="1150" dirty="0">
                <a:solidFill>
                  <a:srgbClr val="2A2F45"/>
                </a:solidFill>
                <a:latin typeface="Calibri" pitchFamily="34" charset="0"/>
                <a:ea typeface="Calibri" pitchFamily="34" charset="-122"/>
                <a:cs typeface="Calibri" pitchFamily="34" charset="-120"/>
              </a:rPr>
              <a:t>The bottleneck moves to judgement, where it belongs</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I generated image">
            <a:extLst>
              <a:ext uri="{FF2B5EF4-FFF2-40B4-BE49-F238E27FC236}">
                <a16:creationId xmlns:a16="http://schemas.microsoft.com/office/drawing/2014/main" id="{34D1F542-A790-BE2B-C6EE-D5919490DE4E}"/>
              </a:ext>
            </a:extLst>
          </p:cNvPr>
          <p:cNvPicPr>
            <a:picLocks noChangeAspect="1"/>
          </p:cNvPicPr>
          <p:nvPr/>
        </p:nvPicPr>
        <p:blipFill>
          <a:blip r:embed="rId2"/>
          <a:stretch>
            <a:fillRect/>
          </a:stretch>
        </p:blipFill>
        <p:spPr>
          <a:xfrm>
            <a:off x="715993" y="1298448"/>
            <a:ext cx="9868618" cy="5382883"/>
          </a:xfrm>
          <a:prstGeom prst="rect">
            <a:avLst/>
          </a:prstGeom>
        </p:spPr>
      </p:pic>
      <p:sp>
        <p:nvSpPr>
          <p:cNvPr id="4" name="Text 4">
            <a:extLst>
              <a:ext uri="{FF2B5EF4-FFF2-40B4-BE49-F238E27FC236}">
                <a16:creationId xmlns:a16="http://schemas.microsoft.com/office/drawing/2014/main" id="{DA585C38-2E2E-50E3-4D93-C294F06DB997}"/>
              </a:ext>
            </a:extLst>
          </p:cNvPr>
          <p:cNvSpPr/>
          <p:nvPr/>
        </p:nvSpPr>
        <p:spPr>
          <a:xfrm>
            <a:off x="715993" y="460996"/>
            <a:ext cx="11055096" cy="621792"/>
          </a:xfrm>
          <a:prstGeom prst="rect">
            <a:avLst/>
          </a:prstGeom>
          <a:noFill/>
          <a:ln/>
        </p:spPr>
        <p:txBody>
          <a:bodyPr wrap="square" lIns="0" tIns="0" rIns="0" bIns="0" rtlCol="0" anchor="ctr"/>
          <a:lstStyle/>
          <a:p>
            <a:pPr marL="0" indent="0">
              <a:buNone/>
            </a:pPr>
            <a:r>
              <a:rPr lang="en-US" sz="3400" b="1" dirty="0">
                <a:solidFill>
                  <a:srgbClr val="14182E"/>
                </a:solidFill>
                <a:latin typeface="Cambria" pitchFamily="34" charset="0"/>
                <a:ea typeface="Cambria" pitchFamily="34" charset="-122"/>
                <a:cs typeface="Cambria" pitchFamily="34" charset="-120"/>
              </a:rPr>
              <a:t>What “agentic development” actually means</a:t>
            </a:r>
            <a:endParaRPr lang="en-US" sz="3400" dirty="0"/>
          </a:p>
        </p:txBody>
      </p:sp>
    </p:spTree>
    <p:extLst>
      <p:ext uri="{BB962C8B-B14F-4D97-AF65-F5344CB8AC3E}">
        <p14:creationId xmlns:p14="http://schemas.microsoft.com/office/powerpoint/2010/main" val="23401511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9134856" y="6381598"/>
            <a:ext cx="310896" cy="20117"/>
          </a:xfrm>
          <a:prstGeom prst="rect">
            <a:avLst/>
          </a:prstGeom>
          <a:solidFill>
            <a:srgbClr val="1F9E96"/>
          </a:solidFill>
          <a:ln w="12700">
            <a:solidFill>
              <a:srgbClr val="1F9E96"/>
            </a:solidFill>
            <a:prstDash val="solid"/>
          </a:ln>
        </p:spPr>
        <p:txBody>
          <a:bodyPr/>
          <a:p/>
        </p:txBody>
      </p:sp>
      <p:sp>
        <p:nvSpPr>
          <p:cNvPr id="4" name="Text 1"/>
          <p:cNvSpPr/>
          <p:nvPr/>
        </p:nvSpPr>
        <p:spPr>
          <a:xfrm>
            <a:off x="9518904" y="6272784"/>
            <a:ext cx="2103120" cy="237744"/>
          </a:xfrm>
          <a:prstGeom prst="rect">
            <a:avLst/>
          </a:prstGeom>
          <a:noFill/>
          <a:ln/>
        </p:spPr>
        <p:txBody>
          <a:bodyPr wrap="square" lIns="0" tIns="0" rIns="0" bIns="0" rtlCol="0" anchor="ctr"/>
          <a:lstStyle/>
          <a:p>
            <a:pPr algn="r" indent="0" marL="0">
              <a:buNone/>
            </a:pPr>
            <a:r>
              <a:rPr lang="en-US" sz="900" b="1" spc="120" kern="0" dirty="0">
                <a:solidFill>
                  <a:srgbClr val="6B7280"/>
                </a:solidFill>
                <a:latin typeface="Calibri" pitchFamily="34" charset="0"/>
                <a:ea typeface="Calibri" pitchFamily="34" charset="-122"/>
                <a:cs typeface="Calibri" pitchFamily="34" charset="-120"/>
              </a:rPr>
              <a:t>6 / 22  ·  CONCEPT</a:t>
            </a:r>
            <a:endParaRPr lang="en-US" sz="900" dirty="0"/>
          </a:p>
        </p:txBody>
      </p:sp>
      <p:sp>
        <p:nvSpPr>
          <p:cNvPr id="5" name="Shape 2"/>
          <p:cNvSpPr/>
          <p:nvPr/>
        </p:nvSpPr>
        <p:spPr>
          <a:xfrm>
            <a:off x="566928" y="274320"/>
            <a:ext cx="566928" cy="41148"/>
          </a:xfrm>
          <a:prstGeom prst="rect">
            <a:avLst/>
          </a:prstGeom>
          <a:solidFill>
            <a:srgbClr val="1F9E96"/>
          </a:solidFill>
          <a:ln w="12700">
            <a:solidFill>
              <a:srgbClr val="1F9E96"/>
            </a:solidFill>
            <a:prstDash val="solid"/>
          </a:ln>
        </p:spPr>
        <p:txBody>
          <a:bodyPr/>
          <a:p/>
        </p:txBody>
      </p:sp>
      <p:sp>
        <p:nvSpPr>
          <p:cNvPr id="6" name="Text 3"/>
          <p:cNvSpPr/>
          <p:nvPr/>
        </p:nvSpPr>
        <p:spPr>
          <a:xfrm>
            <a:off x="566928" y="402336"/>
            <a:ext cx="11055096" cy="256032"/>
          </a:xfrm>
          <a:prstGeom prst="rect">
            <a:avLst/>
          </a:prstGeom>
          <a:noFill/>
          <a:ln/>
        </p:spPr>
        <p:txBody>
          <a:bodyPr wrap="square" lIns="0" tIns="0" rIns="0" bIns="0" rtlCol="0" anchor="ctr"/>
          <a:lstStyle/>
          <a:p>
            <a:pPr indent="0" marL="0">
              <a:buNone/>
            </a:pPr>
            <a:r>
              <a:rPr lang="en-US" sz="1100" b="1" spc="220" kern="0" dirty="0">
                <a:solidFill>
                  <a:srgbClr val="1F9E96"/>
                </a:solidFill>
                <a:latin typeface="Calibri" pitchFamily="34" charset="0"/>
                <a:ea typeface="Calibri" pitchFamily="34" charset="-122"/>
                <a:cs typeface="Calibri" pitchFamily="34" charset="-120"/>
              </a:rPr>
              <a:t>CONCEPT</a:t>
            </a:r>
            <a:endParaRPr lang="en-US" sz="1100" dirty="0"/>
          </a:p>
        </p:txBody>
      </p:sp>
      <p:sp>
        <p:nvSpPr>
          <p:cNvPr id="7" name="Text 4"/>
          <p:cNvSpPr/>
          <p:nvPr/>
        </p:nvSpPr>
        <p:spPr>
          <a:xfrm>
            <a:off x="566928" y="676656"/>
            <a:ext cx="11055096" cy="621792"/>
          </a:xfrm>
          <a:prstGeom prst="rect">
            <a:avLst/>
          </a:prstGeom>
          <a:noFill/>
          <a:ln/>
        </p:spPr>
        <p:txBody>
          <a:bodyPr wrap="square" lIns="0" tIns="0" rIns="0" bIns="0" rtlCol="0" anchor="ctr"/>
          <a:lstStyle/>
          <a:p>
            <a:pPr indent="0" marL="0">
              <a:buNone/>
            </a:pPr>
            <a:r>
              <a:rPr lang="en-US" sz="3400" b="1" dirty="0">
                <a:solidFill>
                  <a:srgbClr val="14182E"/>
                </a:solidFill>
                <a:latin typeface="Cambria" pitchFamily="34" charset="0"/>
                <a:ea typeface="Cambria" pitchFamily="34" charset="-122"/>
                <a:cs typeface="Cambria" pitchFamily="34" charset="-120"/>
              </a:rPr>
              <a:t>What MCP actually is</a:t>
            </a:r>
            <a:endParaRPr lang="en-US" sz="3400" dirty="0"/>
          </a:p>
        </p:txBody>
      </p:sp>
      <p:sp>
        <p:nvSpPr>
          <p:cNvPr id="8" name="Shape 5"/>
          <p:cNvSpPr/>
          <p:nvPr/>
        </p:nvSpPr>
        <p:spPr>
          <a:xfrm>
            <a:off x="566928" y="1463040"/>
            <a:ext cx="3441192" cy="1536192"/>
          </a:xfrm>
          <a:prstGeom prst="roundRect">
            <a:avLst>
              <a:gd name="adj" fmla="val 5357"/>
            </a:avLst>
          </a:prstGeom>
          <a:solidFill>
            <a:srgbClr val="FAFAFD"/>
          </a:solidFill>
          <a:ln w="12700">
            <a:solidFill>
              <a:srgbClr val="DFE2EC"/>
            </a:solidFill>
            <a:prstDash val="solid"/>
          </a:ln>
          <a:effectLst>
            <a:outerShdw sx="100000" sy="100000" kx="0" ky="0" algn="bl" rotWithShape="0" blurRad="127000" dist="25400" dir="5400000">
              <a:srgbClr val="9AA0B5">
                <a:alpha val="28000"/>
              </a:srgbClr>
            </a:outerShdw>
          </a:effectLst>
        </p:spPr>
        <p:txBody>
          <a:bodyPr/>
          <a:p/>
        </p:txBody>
      </p:sp>
      <p:sp>
        <p:nvSpPr>
          <p:cNvPr id="9" name="Text 6"/>
          <p:cNvSpPr/>
          <p:nvPr/>
        </p:nvSpPr>
        <p:spPr>
          <a:xfrm>
            <a:off x="804672" y="1591056"/>
            <a:ext cx="2965704" cy="237744"/>
          </a:xfrm>
          <a:prstGeom prst="rect">
            <a:avLst/>
          </a:prstGeom>
          <a:noFill/>
          <a:ln/>
        </p:spPr>
        <p:txBody>
          <a:bodyPr wrap="square" lIns="0" tIns="0" rIns="0" bIns="0" rtlCol="0" anchor="ctr"/>
          <a:lstStyle/>
          <a:p>
            <a:pPr indent="0" marL="0">
              <a:buNone/>
            </a:pPr>
            <a:r>
              <a:rPr lang="en-US" sz="1050" b="1" spc="200" kern="0" dirty="0">
                <a:solidFill>
                  <a:srgbClr val="14182E"/>
                </a:solidFill>
                <a:latin typeface="Calibri" pitchFamily="34" charset="0"/>
                <a:ea typeface="Calibri" pitchFamily="34" charset="-122"/>
                <a:cs typeface="Calibri" pitchFamily="34" charset="-120"/>
              </a:rPr>
              <a:t>HOST</a:t>
            </a:r>
            <a:endParaRPr lang="en-US" sz="1050" dirty="0"/>
          </a:p>
        </p:txBody>
      </p:sp>
      <p:sp>
        <p:nvSpPr>
          <p:cNvPr id="10" name="Text 7"/>
          <p:cNvSpPr/>
          <p:nvPr/>
        </p:nvSpPr>
        <p:spPr>
          <a:xfrm>
            <a:off x="804672" y="1847088"/>
            <a:ext cx="2965704" cy="329184"/>
          </a:xfrm>
          <a:prstGeom prst="rect">
            <a:avLst/>
          </a:prstGeom>
          <a:noFill/>
          <a:ln/>
        </p:spPr>
        <p:txBody>
          <a:bodyPr wrap="square" lIns="0" tIns="0" rIns="0" bIns="0" rtlCol="0" anchor="ctr"/>
          <a:lstStyle/>
          <a:p>
            <a:pPr indent="0" marL="0">
              <a:buNone/>
            </a:pPr>
            <a:r>
              <a:rPr lang="en-US" sz="1900" b="1" dirty="0">
                <a:solidFill>
                  <a:srgbClr val="14182E"/>
                </a:solidFill>
                <a:latin typeface="Cambria" pitchFamily="34" charset="0"/>
                <a:ea typeface="Cambria" pitchFamily="34" charset="-122"/>
                <a:cs typeface="Cambria" pitchFamily="34" charset="-120"/>
              </a:rPr>
              <a:t>The app you sit in</a:t>
            </a:r>
            <a:endParaRPr lang="en-US" sz="1900" dirty="0"/>
          </a:p>
        </p:txBody>
      </p:sp>
      <p:sp>
        <p:nvSpPr>
          <p:cNvPr id="11" name="Text 8"/>
          <p:cNvSpPr/>
          <p:nvPr/>
        </p:nvSpPr>
        <p:spPr>
          <a:xfrm>
            <a:off x="804672" y="2231136"/>
            <a:ext cx="2965704" cy="658368"/>
          </a:xfrm>
          <a:prstGeom prst="rect">
            <a:avLst/>
          </a:prstGeom>
          <a:noFill/>
          <a:ln/>
        </p:spPr>
        <p:txBody>
          <a:bodyPr wrap="square" lIns="0" tIns="0" rIns="0" bIns="0" rtlCol="0" anchor="ctr"/>
          <a:lstStyle/>
          <a:p>
            <a:pPr indent="0" marL="0">
              <a:lnSpc>
                <a:spcPct val="120000"/>
              </a:lnSpc>
              <a:buNone/>
            </a:pPr>
            <a:r>
              <a:rPr lang="en-US" sz="1250" dirty="0">
                <a:solidFill>
                  <a:srgbClr val="6B7280"/>
                </a:solidFill>
                <a:latin typeface="Calibri" pitchFamily="34" charset="0"/>
                <a:ea typeface="Calibri" pitchFamily="34" charset="-122"/>
                <a:cs typeface="Calibri" pitchFamily="34" charset="-120"/>
              </a:rPr>
              <a:t>VS Code · Claude Code</a:t>
            </a:r>
            <a:endParaRPr lang="en-US" sz="1250" dirty="0"/>
          </a:p>
          <a:p>
            <a:pPr indent="0" marL="0">
              <a:lnSpc>
                <a:spcPct val="120000"/>
              </a:lnSpc>
              <a:buNone/>
            </a:pPr>
            <a:r>
              <a:rPr lang="en-US" sz="1250" dirty="0">
                <a:solidFill>
                  <a:srgbClr val="6B7280"/>
                </a:solidFill>
                <a:latin typeface="Calibri" pitchFamily="34" charset="0"/>
                <a:ea typeface="Calibri" pitchFamily="34" charset="-122"/>
                <a:cs typeface="Calibri" pitchFamily="34" charset="-120"/>
              </a:rPr>
              <a:t>Claude Desktop · Copilot CLI</a:t>
            </a:r>
            <a:endParaRPr lang="en-US" sz="1250" dirty="0"/>
          </a:p>
        </p:txBody>
      </p:sp>
      <p:sp>
        <p:nvSpPr>
          <p:cNvPr id="12" name="Shape 9"/>
          <p:cNvSpPr/>
          <p:nvPr/>
        </p:nvSpPr>
        <p:spPr>
          <a:xfrm>
            <a:off x="4062984" y="2139696"/>
            <a:ext cx="256032" cy="237744"/>
          </a:xfrm>
          <a:prstGeom prst="rightArrow">
            <a:avLst/>
          </a:prstGeom>
          <a:solidFill>
            <a:srgbClr val="F2C230"/>
          </a:solidFill>
          <a:ln w="12700">
            <a:solidFill>
              <a:srgbClr val="F2C230"/>
            </a:solidFill>
            <a:prstDash val="solid"/>
          </a:ln>
        </p:spPr>
        <p:txBody>
          <a:bodyPr/>
          <a:p/>
        </p:txBody>
      </p:sp>
      <p:sp>
        <p:nvSpPr>
          <p:cNvPr id="13" name="Shape 10"/>
          <p:cNvSpPr/>
          <p:nvPr/>
        </p:nvSpPr>
        <p:spPr>
          <a:xfrm>
            <a:off x="4373880" y="1463040"/>
            <a:ext cx="3441192" cy="1536192"/>
          </a:xfrm>
          <a:prstGeom prst="roundRect">
            <a:avLst>
              <a:gd name="adj" fmla="val 5357"/>
            </a:avLst>
          </a:prstGeom>
          <a:solidFill>
            <a:srgbClr val="FAFAFD"/>
          </a:solidFill>
          <a:ln w="12700">
            <a:solidFill>
              <a:srgbClr val="DFE2EC"/>
            </a:solidFill>
            <a:prstDash val="solid"/>
          </a:ln>
          <a:effectLst>
            <a:outerShdw sx="100000" sy="100000" kx="0" ky="0" algn="bl" rotWithShape="0" blurRad="127000" dist="25400" dir="5400000">
              <a:srgbClr val="9AA0B5">
                <a:alpha val="28000"/>
              </a:srgbClr>
            </a:outerShdw>
          </a:effectLst>
        </p:spPr>
        <p:txBody>
          <a:bodyPr/>
          <a:p/>
        </p:txBody>
      </p:sp>
      <p:sp>
        <p:nvSpPr>
          <p:cNvPr id="14" name="Text 11"/>
          <p:cNvSpPr/>
          <p:nvPr/>
        </p:nvSpPr>
        <p:spPr>
          <a:xfrm>
            <a:off x="4611624" y="1591056"/>
            <a:ext cx="2965704" cy="237744"/>
          </a:xfrm>
          <a:prstGeom prst="rect">
            <a:avLst/>
          </a:prstGeom>
          <a:noFill/>
          <a:ln/>
        </p:spPr>
        <p:txBody>
          <a:bodyPr wrap="square" lIns="0" tIns="0" rIns="0" bIns="0" rtlCol="0" anchor="ctr"/>
          <a:lstStyle/>
          <a:p>
            <a:pPr indent="0" marL="0">
              <a:buNone/>
            </a:pPr>
            <a:r>
              <a:rPr lang="en-US" sz="1050" b="1" spc="200" kern="0" dirty="0">
                <a:solidFill>
                  <a:srgbClr val="1F9E96"/>
                </a:solidFill>
                <a:latin typeface="Calibri" pitchFamily="34" charset="0"/>
                <a:ea typeface="Calibri" pitchFamily="34" charset="-122"/>
                <a:cs typeface="Calibri" pitchFamily="34" charset="-120"/>
              </a:rPr>
              <a:t>CLIENT</a:t>
            </a:r>
            <a:endParaRPr lang="en-US" sz="1050" dirty="0"/>
          </a:p>
        </p:txBody>
      </p:sp>
      <p:sp>
        <p:nvSpPr>
          <p:cNvPr id="15" name="Text 12"/>
          <p:cNvSpPr/>
          <p:nvPr/>
        </p:nvSpPr>
        <p:spPr>
          <a:xfrm>
            <a:off x="4611624" y="1847088"/>
            <a:ext cx="2965704" cy="329184"/>
          </a:xfrm>
          <a:prstGeom prst="rect">
            <a:avLst/>
          </a:prstGeom>
          <a:noFill/>
          <a:ln/>
        </p:spPr>
        <p:txBody>
          <a:bodyPr wrap="square" lIns="0" tIns="0" rIns="0" bIns="0" rtlCol="0" anchor="ctr"/>
          <a:lstStyle/>
          <a:p>
            <a:pPr indent="0" marL="0">
              <a:buNone/>
            </a:pPr>
            <a:r>
              <a:rPr lang="en-US" sz="1900" b="1" dirty="0">
                <a:solidFill>
                  <a:srgbClr val="14182E"/>
                </a:solidFill>
                <a:latin typeface="Cambria" pitchFamily="34" charset="0"/>
                <a:ea typeface="Cambria" pitchFamily="34" charset="-122"/>
                <a:cs typeface="Cambria" pitchFamily="34" charset="-120"/>
              </a:rPr>
              <a:t>The agent inside it</a:t>
            </a:r>
            <a:endParaRPr lang="en-US" sz="1900" dirty="0"/>
          </a:p>
        </p:txBody>
      </p:sp>
      <p:sp>
        <p:nvSpPr>
          <p:cNvPr id="16" name="Text 13"/>
          <p:cNvSpPr/>
          <p:nvPr/>
        </p:nvSpPr>
        <p:spPr>
          <a:xfrm>
            <a:off x="4611624" y="2231136"/>
            <a:ext cx="2965704" cy="658368"/>
          </a:xfrm>
          <a:prstGeom prst="rect">
            <a:avLst/>
          </a:prstGeom>
          <a:noFill/>
          <a:ln/>
        </p:spPr>
        <p:txBody>
          <a:bodyPr wrap="square" lIns="0" tIns="0" rIns="0" bIns="0" rtlCol="0" anchor="ctr"/>
          <a:lstStyle/>
          <a:p>
            <a:pPr indent="0" marL="0">
              <a:lnSpc>
                <a:spcPct val="120000"/>
              </a:lnSpc>
              <a:buNone/>
            </a:pPr>
            <a:r>
              <a:rPr lang="en-US" sz="1250" dirty="0">
                <a:solidFill>
                  <a:srgbClr val="6B7280"/>
                </a:solidFill>
                <a:latin typeface="Calibri" pitchFamily="34" charset="0"/>
                <a:ea typeface="Calibri" pitchFamily="34" charset="-122"/>
                <a:cs typeface="Calibri" pitchFamily="34" charset="-120"/>
              </a:rPr>
              <a:t>GitHub Copilot · Claude</a:t>
            </a:r>
            <a:endParaRPr lang="en-US" sz="1250" dirty="0"/>
          </a:p>
          <a:p>
            <a:pPr indent="0" marL="0">
              <a:lnSpc>
                <a:spcPct val="120000"/>
              </a:lnSpc>
              <a:buNone/>
            </a:pPr>
            <a:r>
              <a:rPr lang="en-US" sz="1250" dirty="0">
                <a:solidFill>
                  <a:srgbClr val="6B7280"/>
                </a:solidFill>
                <a:latin typeface="Calibri" pitchFamily="34" charset="0"/>
                <a:ea typeface="Calibri" pitchFamily="34" charset="-122"/>
                <a:cs typeface="Calibri" pitchFamily="34" charset="-120"/>
              </a:rPr>
              <a:t>any model your client supports</a:t>
            </a:r>
            <a:endParaRPr lang="en-US" sz="1250" dirty="0"/>
          </a:p>
        </p:txBody>
      </p:sp>
      <p:sp>
        <p:nvSpPr>
          <p:cNvPr id="17" name="Shape 14"/>
          <p:cNvSpPr/>
          <p:nvPr/>
        </p:nvSpPr>
        <p:spPr>
          <a:xfrm>
            <a:off x="7869936" y="2139696"/>
            <a:ext cx="256032" cy="237744"/>
          </a:xfrm>
          <a:prstGeom prst="rightArrow">
            <a:avLst/>
          </a:prstGeom>
          <a:solidFill>
            <a:srgbClr val="F2C230"/>
          </a:solidFill>
          <a:ln w="12700">
            <a:solidFill>
              <a:srgbClr val="F2C230"/>
            </a:solidFill>
            <a:prstDash val="solid"/>
          </a:ln>
        </p:spPr>
        <p:txBody>
          <a:bodyPr/>
          <a:p/>
        </p:txBody>
      </p:sp>
      <p:sp>
        <p:nvSpPr>
          <p:cNvPr id="18" name="Shape 15"/>
          <p:cNvSpPr/>
          <p:nvPr/>
        </p:nvSpPr>
        <p:spPr>
          <a:xfrm>
            <a:off x="8180832" y="1463040"/>
            <a:ext cx="3441192" cy="1536192"/>
          </a:xfrm>
          <a:prstGeom prst="roundRect">
            <a:avLst>
              <a:gd name="adj" fmla="val 5357"/>
            </a:avLst>
          </a:prstGeom>
          <a:solidFill>
            <a:srgbClr val="FAFAFD"/>
          </a:solidFill>
          <a:ln w="12700">
            <a:solidFill>
              <a:srgbClr val="DFE2EC"/>
            </a:solidFill>
            <a:prstDash val="solid"/>
          </a:ln>
          <a:effectLst>
            <a:outerShdw sx="100000" sy="100000" kx="0" ky="0" algn="bl" rotWithShape="0" blurRad="127000" dist="25400" dir="5400000">
              <a:srgbClr val="9AA0B5">
                <a:alpha val="28000"/>
              </a:srgbClr>
            </a:outerShdw>
          </a:effectLst>
        </p:spPr>
        <p:txBody>
          <a:bodyPr/>
          <a:p/>
        </p:txBody>
      </p:sp>
      <p:sp>
        <p:nvSpPr>
          <p:cNvPr id="19" name="Text 16"/>
          <p:cNvSpPr/>
          <p:nvPr/>
        </p:nvSpPr>
        <p:spPr>
          <a:xfrm>
            <a:off x="8418576" y="1591056"/>
            <a:ext cx="2965704" cy="237744"/>
          </a:xfrm>
          <a:prstGeom prst="rect">
            <a:avLst/>
          </a:prstGeom>
          <a:noFill/>
          <a:ln/>
        </p:spPr>
        <p:txBody>
          <a:bodyPr wrap="square" lIns="0" tIns="0" rIns="0" bIns="0" rtlCol="0" anchor="ctr"/>
          <a:lstStyle/>
          <a:p>
            <a:pPr indent="0" marL="0">
              <a:buNone/>
            </a:pPr>
            <a:r>
              <a:rPr lang="en-US" sz="1050" b="1" spc="200" kern="0" dirty="0">
                <a:solidFill>
                  <a:srgbClr val="8A6E12"/>
                </a:solidFill>
                <a:latin typeface="Calibri" pitchFamily="34" charset="0"/>
                <a:ea typeface="Calibri" pitchFamily="34" charset="-122"/>
                <a:cs typeface="Calibri" pitchFamily="34" charset="-120"/>
              </a:rPr>
              <a:t>SERVER</a:t>
            </a:r>
            <a:endParaRPr lang="en-US" sz="1050" dirty="0"/>
          </a:p>
        </p:txBody>
      </p:sp>
      <p:sp>
        <p:nvSpPr>
          <p:cNvPr id="20" name="Text 17"/>
          <p:cNvSpPr/>
          <p:nvPr/>
        </p:nvSpPr>
        <p:spPr>
          <a:xfrm>
            <a:off x="8418576" y="1847088"/>
            <a:ext cx="2965704" cy="329184"/>
          </a:xfrm>
          <a:prstGeom prst="rect">
            <a:avLst/>
          </a:prstGeom>
          <a:noFill/>
          <a:ln/>
        </p:spPr>
        <p:txBody>
          <a:bodyPr wrap="square" lIns="0" tIns="0" rIns="0" bIns="0" rtlCol="0" anchor="ctr"/>
          <a:lstStyle/>
          <a:p>
            <a:pPr indent="0" marL="0">
              <a:buNone/>
            </a:pPr>
            <a:r>
              <a:rPr lang="en-US" sz="1900" b="1" dirty="0">
                <a:solidFill>
                  <a:srgbClr val="14182E"/>
                </a:solidFill>
                <a:latin typeface="Cambria" pitchFamily="34" charset="0"/>
                <a:ea typeface="Cambria" pitchFamily="34" charset="-122"/>
                <a:cs typeface="Cambria" pitchFamily="34" charset="-120"/>
              </a:rPr>
              <a:t>Tools it can invoke</a:t>
            </a:r>
            <a:endParaRPr lang="en-US" sz="1900" dirty="0"/>
          </a:p>
        </p:txBody>
      </p:sp>
      <p:sp>
        <p:nvSpPr>
          <p:cNvPr id="21" name="Text 18"/>
          <p:cNvSpPr/>
          <p:nvPr/>
        </p:nvSpPr>
        <p:spPr>
          <a:xfrm>
            <a:off x="8418576" y="2231136"/>
            <a:ext cx="2965704" cy="658368"/>
          </a:xfrm>
          <a:prstGeom prst="rect">
            <a:avLst/>
          </a:prstGeom>
          <a:noFill/>
          <a:ln/>
        </p:spPr>
        <p:txBody>
          <a:bodyPr wrap="square" lIns="0" tIns="0" rIns="0" bIns="0" rtlCol="0" anchor="ctr"/>
          <a:lstStyle/>
          <a:p>
            <a:pPr indent="0" marL="0">
              <a:lnSpc>
                <a:spcPct val="120000"/>
              </a:lnSpc>
              <a:buNone/>
            </a:pPr>
            <a:r>
              <a:rPr lang="en-US" sz="1250" dirty="0">
                <a:solidFill>
                  <a:srgbClr val="6B7280"/>
                </a:solidFill>
                <a:latin typeface="Calibri" pitchFamily="34" charset="0"/>
                <a:ea typeface="Calibri" pitchFamily="34" charset="-122"/>
                <a:cs typeface="Calibri" pitchFamily="34" charset="-120"/>
              </a:rPr>
              <a:t>Power BI Authoring MCP</a:t>
            </a:r>
            <a:endParaRPr lang="en-US" sz="1250" dirty="0"/>
          </a:p>
          <a:p>
            <a:pPr indent="0" marL="0">
              <a:lnSpc>
                <a:spcPct val="120000"/>
              </a:lnSpc>
              <a:buNone/>
            </a:pPr>
            <a:r>
              <a:rPr lang="en-US" sz="1250" dirty="0">
                <a:solidFill>
                  <a:srgbClr val="6B7280"/>
                </a:solidFill>
                <a:latin typeface="Calibri" pitchFamily="34" charset="0"/>
                <a:ea typeface="Calibri" pitchFamily="34" charset="-122"/>
                <a:cs typeface="Calibri" pitchFamily="34" charset="-120"/>
              </a:rPr>
              <a:t>Fabric Core MCP</a:t>
            </a:r>
            <a:endParaRPr lang="en-US" sz="1250" dirty="0"/>
          </a:p>
        </p:txBody>
      </p:sp>
      <p:sp>
        <p:nvSpPr>
          <p:cNvPr id="22" name="Shape 19"/>
          <p:cNvSpPr/>
          <p:nvPr/>
        </p:nvSpPr>
        <p:spPr>
          <a:xfrm>
            <a:off x="566928" y="3145536"/>
            <a:ext cx="5344668" cy="2212848"/>
          </a:xfrm>
          <a:prstGeom prst="roundRect">
            <a:avLst>
              <a:gd name="adj" fmla="val 3719"/>
            </a:avLst>
          </a:prstGeom>
          <a:solidFill>
            <a:srgbClr val="FAFAFD"/>
          </a:solidFill>
          <a:ln w="12700">
            <a:solidFill>
              <a:srgbClr val="DFE2EC"/>
            </a:solidFill>
            <a:prstDash val="solid"/>
          </a:ln>
          <a:effectLst>
            <a:outerShdw sx="100000" sy="100000" kx="0" ky="0" algn="bl" rotWithShape="0" blurRad="127000" dist="25400" dir="5400000">
              <a:srgbClr val="9AA0B5">
                <a:alpha val="28000"/>
              </a:srgbClr>
            </a:outerShdw>
          </a:effectLst>
        </p:spPr>
        <p:txBody>
          <a:bodyPr/>
          <a:p/>
        </p:txBody>
      </p:sp>
      <p:sp>
        <p:nvSpPr>
          <p:cNvPr id="23" name="Text 20"/>
          <p:cNvSpPr/>
          <p:nvPr/>
        </p:nvSpPr>
        <p:spPr>
          <a:xfrm>
            <a:off x="822960" y="3255264"/>
            <a:ext cx="4832604" cy="274320"/>
          </a:xfrm>
          <a:prstGeom prst="rect">
            <a:avLst/>
          </a:prstGeom>
          <a:noFill/>
          <a:ln/>
        </p:spPr>
        <p:txBody>
          <a:bodyPr wrap="square" lIns="0" tIns="0" rIns="0" bIns="0" rtlCol="0" anchor="ctr"/>
          <a:lstStyle/>
          <a:p>
            <a:pPr indent="0" marL="0">
              <a:buNone/>
            </a:pPr>
            <a:r>
              <a:rPr lang="en-US" sz="1500" b="1" dirty="0">
                <a:solidFill>
                  <a:srgbClr val="14182E"/>
                </a:solidFill>
                <a:latin typeface="Cambria" pitchFamily="34" charset="0"/>
                <a:ea typeface="Cambria" pitchFamily="34" charset="-122"/>
                <a:cs typeface="Cambria" pitchFamily="34" charset="-120"/>
              </a:rPr>
              <a:t>The handshake — that's the whole protocol</a:t>
            </a:r>
            <a:endParaRPr lang="en-US" sz="1500" dirty="0"/>
          </a:p>
        </p:txBody>
      </p:sp>
      <p:sp>
        <p:nvSpPr>
          <p:cNvPr id="24" name="Text 21"/>
          <p:cNvSpPr/>
          <p:nvPr/>
        </p:nvSpPr>
        <p:spPr>
          <a:xfrm>
            <a:off x="822960" y="3602736"/>
            <a:ext cx="2148840" cy="219456"/>
          </a:xfrm>
          <a:prstGeom prst="rect">
            <a:avLst/>
          </a:prstGeom>
          <a:noFill/>
          <a:ln/>
        </p:spPr>
        <p:txBody>
          <a:bodyPr wrap="square" lIns="0" tIns="0" rIns="0" bIns="0" rtlCol="0" anchor="ctr"/>
          <a:lstStyle/>
          <a:p>
            <a:pPr indent="0" marL="0">
              <a:buNone/>
            </a:pPr>
            <a:r>
              <a:rPr lang="en-US" sz="950" b="1" dirty="0">
                <a:solidFill>
                  <a:srgbClr val="1F9E96"/>
                </a:solidFill>
                <a:latin typeface="Courier New" pitchFamily="34" charset="0"/>
                <a:ea typeface="Courier New" pitchFamily="34" charset="-122"/>
                <a:cs typeface="Courier New" pitchFamily="34" charset="-120"/>
              </a:rPr>
              <a:t>initialize</a:t>
            </a:r>
            <a:endParaRPr lang="en-US" sz="950" dirty="0"/>
          </a:p>
        </p:txBody>
      </p:sp>
      <p:sp>
        <p:nvSpPr>
          <p:cNvPr id="25" name="Text 22"/>
          <p:cNvSpPr/>
          <p:nvPr/>
        </p:nvSpPr>
        <p:spPr>
          <a:xfrm>
            <a:off x="3017520" y="3538728"/>
            <a:ext cx="2638044" cy="402336"/>
          </a:xfrm>
          <a:prstGeom prst="rect">
            <a:avLst/>
          </a:prstGeom>
          <a:noFill/>
          <a:ln/>
        </p:spPr>
        <p:txBody>
          <a:bodyPr wrap="square" lIns="0" tIns="0" rIns="0" bIns="0" rtlCol="0" anchor="ctr"/>
          <a:lstStyle/>
          <a:p>
            <a:pPr indent="0" marL="0">
              <a:lnSpc>
                <a:spcPct val="105000"/>
              </a:lnSpc>
              <a:buNone/>
            </a:pPr>
            <a:r>
              <a:rPr lang="en-US" sz="1050" dirty="0">
                <a:solidFill>
                  <a:srgbClr val="6B7280"/>
                </a:solidFill>
                <a:latin typeface="Calibri" pitchFamily="34" charset="0"/>
                <a:ea typeface="Calibri" pitchFamily="34" charset="-122"/>
                <a:cs typeface="Calibri" pitchFamily="34" charset="-120"/>
              </a:rPr>
              <a:t>client and server agree a protocol version</a:t>
            </a:r>
            <a:endParaRPr lang="en-US" sz="1050" dirty="0"/>
          </a:p>
        </p:txBody>
      </p:sp>
      <p:sp>
        <p:nvSpPr>
          <p:cNvPr id="26" name="Text 23"/>
          <p:cNvSpPr/>
          <p:nvPr/>
        </p:nvSpPr>
        <p:spPr>
          <a:xfrm>
            <a:off x="822960" y="4032504"/>
            <a:ext cx="2148840" cy="219456"/>
          </a:xfrm>
          <a:prstGeom prst="rect">
            <a:avLst/>
          </a:prstGeom>
          <a:noFill/>
          <a:ln/>
        </p:spPr>
        <p:txBody>
          <a:bodyPr wrap="square" lIns="0" tIns="0" rIns="0" bIns="0" rtlCol="0" anchor="ctr"/>
          <a:lstStyle/>
          <a:p>
            <a:pPr indent="0" marL="0">
              <a:buNone/>
            </a:pPr>
            <a:r>
              <a:rPr lang="en-US" sz="950" b="1" dirty="0">
                <a:solidFill>
                  <a:srgbClr val="1F9E96"/>
                </a:solidFill>
                <a:latin typeface="Courier New" pitchFamily="34" charset="0"/>
                <a:ea typeface="Courier New" pitchFamily="34" charset="-122"/>
                <a:cs typeface="Courier New" pitchFamily="34" charset="-120"/>
              </a:rPr>
              <a:t>notifications/initialized</a:t>
            </a:r>
            <a:endParaRPr lang="en-US" sz="950" dirty="0"/>
          </a:p>
        </p:txBody>
      </p:sp>
      <p:sp>
        <p:nvSpPr>
          <p:cNvPr id="27" name="Text 24"/>
          <p:cNvSpPr/>
          <p:nvPr/>
        </p:nvSpPr>
        <p:spPr>
          <a:xfrm>
            <a:off x="3017520" y="3968496"/>
            <a:ext cx="2638044" cy="402336"/>
          </a:xfrm>
          <a:prstGeom prst="rect">
            <a:avLst/>
          </a:prstGeom>
          <a:noFill/>
          <a:ln/>
        </p:spPr>
        <p:txBody>
          <a:bodyPr wrap="square" lIns="0" tIns="0" rIns="0" bIns="0" rtlCol="0" anchor="ctr"/>
          <a:lstStyle/>
          <a:p>
            <a:pPr indent="0" marL="0">
              <a:lnSpc>
                <a:spcPct val="105000"/>
              </a:lnSpc>
              <a:buNone/>
            </a:pPr>
            <a:r>
              <a:rPr lang="en-US" sz="1050" dirty="0">
                <a:solidFill>
                  <a:srgbClr val="6B7280"/>
                </a:solidFill>
                <a:latin typeface="Calibri" pitchFamily="34" charset="0"/>
                <a:ea typeface="Calibri" pitchFamily="34" charset="-122"/>
                <a:cs typeface="Calibri" pitchFamily="34" charset="-120"/>
              </a:rPr>
              <a:t>client says it's ready</a:t>
            </a:r>
            <a:endParaRPr lang="en-US" sz="1050" dirty="0"/>
          </a:p>
        </p:txBody>
      </p:sp>
      <p:sp>
        <p:nvSpPr>
          <p:cNvPr id="28" name="Text 25"/>
          <p:cNvSpPr/>
          <p:nvPr/>
        </p:nvSpPr>
        <p:spPr>
          <a:xfrm>
            <a:off x="822960" y="4462272"/>
            <a:ext cx="2148840" cy="219456"/>
          </a:xfrm>
          <a:prstGeom prst="rect">
            <a:avLst/>
          </a:prstGeom>
          <a:noFill/>
          <a:ln/>
        </p:spPr>
        <p:txBody>
          <a:bodyPr wrap="square" lIns="0" tIns="0" rIns="0" bIns="0" rtlCol="0" anchor="ctr"/>
          <a:lstStyle/>
          <a:p>
            <a:pPr indent="0" marL="0">
              <a:buNone/>
            </a:pPr>
            <a:r>
              <a:rPr lang="en-US" sz="950" b="1" dirty="0">
                <a:solidFill>
                  <a:srgbClr val="1F9E96"/>
                </a:solidFill>
                <a:latin typeface="Courier New" pitchFamily="34" charset="0"/>
                <a:ea typeface="Courier New" pitchFamily="34" charset="-122"/>
                <a:cs typeface="Courier New" pitchFamily="34" charset="-120"/>
              </a:rPr>
              <a:t>tools/list</a:t>
            </a:r>
            <a:endParaRPr lang="en-US" sz="950" dirty="0"/>
          </a:p>
        </p:txBody>
      </p:sp>
      <p:sp>
        <p:nvSpPr>
          <p:cNvPr id="29" name="Text 26"/>
          <p:cNvSpPr/>
          <p:nvPr/>
        </p:nvSpPr>
        <p:spPr>
          <a:xfrm>
            <a:off x="3017520" y="4398264"/>
            <a:ext cx="2638044" cy="402336"/>
          </a:xfrm>
          <a:prstGeom prst="rect">
            <a:avLst/>
          </a:prstGeom>
          <a:noFill/>
          <a:ln/>
        </p:spPr>
        <p:txBody>
          <a:bodyPr wrap="square" lIns="0" tIns="0" rIns="0" bIns="0" rtlCol="0" anchor="ctr"/>
          <a:lstStyle/>
          <a:p>
            <a:pPr indent="0" marL="0">
              <a:lnSpc>
                <a:spcPct val="105000"/>
              </a:lnSpc>
              <a:buNone/>
            </a:pPr>
            <a:r>
              <a:rPr lang="en-US" sz="1050" dirty="0">
                <a:solidFill>
                  <a:srgbClr val="6B7280"/>
                </a:solidFill>
                <a:latin typeface="Calibri" pitchFamily="34" charset="0"/>
                <a:ea typeface="Calibri" pitchFamily="34" charset="-122"/>
                <a:cs typeface="Calibri" pitchFamily="34" charset="-120"/>
              </a:rPr>
              <a:t>“what can you do?” — server answers with names, descriptions, schemas</a:t>
            </a:r>
            <a:endParaRPr lang="en-US" sz="1050" dirty="0"/>
          </a:p>
        </p:txBody>
      </p:sp>
      <p:sp>
        <p:nvSpPr>
          <p:cNvPr id="30" name="Text 27"/>
          <p:cNvSpPr/>
          <p:nvPr/>
        </p:nvSpPr>
        <p:spPr>
          <a:xfrm>
            <a:off x="822960" y="4892040"/>
            <a:ext cx="2148840" cy="219456"/>
          </a:xfrm>
          <a:prstGeom prst="rect">
            <a:avLst/>
          </a:prstGeom>
          <a:noFill/>
          <a:ln/>
        </p:spPr>
        <p:txBody>
          <a:bodyPr wrap="square" lIns="0" tIns="0" rIns="0" bIns="0" rtlCol="0" anchor="ctr"/>
          <a:lstStyle/>
          <a:p>
            <a:pPr indent="0" marL="0">
              <a:buNone/>
            </a:pPr>
            <a:r>
              <a:rPr lang="en-US" sz="950" b="1" dirty="0">
                <a:solidFill>
                  <a:srgbClr val="1F9E96"/>
                </a:solidFill>
                <a:latin typeface="Courier New" pitchFamily="34" charset="0"/>
                <a:ea typeface="Courier New" pitchFamily="34" charset="-122"/>
                <a:cs typeface="Courier New" pitchFamily="34" charset="-120"/>
              </a:rPr>
              <a:t>tools/call</a:t>
            </a:r>
            <a:endParaRPr lang="en-US" sz="950" dirty="0"/>
          </a:p>
        </p:txBody>
      </p:sp>
      <p:sp>
        <p:nvSpPr>
          <p:cNvPr id="31" name="Text 28"/>
          <p:cNvSpPr/>
          <p:nvPr/>
        </p:nvSpPr>
        <p:spPr>
          <a:xfrm>
            <a:off x="3017520" y="4828032"/>
            <a:ext cx="2638044" cy="402336"/>
          </a:xfrm>
          <a:prstGeom prst="rect">
            <a:avLst/>
          </a:prstGeom>
          <a:noFill/>
          <a:ln/>
        </p:spPr>
        <p:txBody>
          <a:bodyPr wrap="square" lIns="0" tIns="0" rIns="0" bIns="0" rtlCol="0" anchor="ctr"/>
          <a:lstStyle/>
          <a:p>
            <a:pPr indent="0" marL="0">
              <a:lnSpc>
                <a:spcPct val="105000"/>
              </a:lnSpc>
              <a:buNone/>
            </a:pPr>
            <a:r>
              <a:rPr lang="en-US" sz="1050" dirty="0">
                <a:solidFill>
                  <a:srgbClr val="6B7280"/>
                </a:solidFill>
                <a:latin typeface="Calibri" pitchFamily="34" charset="0"/>
                <a:ea typeface="Calibri" pitchFamily="34" charset="-122"/>
                <a:cs typeface="Calibri" pitchFamily="34" charset="-120"/>
              </a:rPr>
              <a:t>the agent invokes one, with typed arguments</a:t>
            </a:r>
            <a:endParaRPr lang="en-US" sz="1050" dirty="0"/>
          </a:p>
        </p:txBody>
      </p:sp>
      <p:sp>
        <p:nvSpPr>
          <p:cNvPr id="32" name="Shape 29"/>
          <p:cNvSpPr/>
          <p:nvPr/>
        </p:nvSpPr>
        <p:spPr>
          <a:xfrm>
            <a:off x="6277356" y="3145536"/>
            <a:ext cx="5344668" cy="2212848"/>
          </a:xfrm>
          <a:prstGeom prst="roundRect">
            <a:avLst>
              <a:gd name="adj" fmla="val 3719"/>
            </a:avLst>
          </a:prstGeom>
          <a:solidFill>
            <a:srgbClr val="EDF7F6"/>
          </a:solidFill>
          <a:ln w="12700">
            <a:solidFill>
              <a:srgbClr val="C7E4E1"/>
            </a:solidFill>
            <a:prstDash val="solid"/>
          </a:ln>
          <a:effectLst>
            <a:outerShdw sx="100000" sy="100000" kx="0" ky="0" algn="bl" rotWithShape="0" blurRad="127000" dist="25400" dir="5400000">
              <a:srgbClr val="9AA0B5">
                <a:alpha val="28000"/>
              </a:srgbClr>
            </a:outerShdw>
          </a:effectLst>
        </p:spPr>
        <p:txBody>
          <a:bodyPr/>
          <a:p/>
        </p:txBody>
      </p:sp>
      <p:sp>
        <p:nvSpPr>
          <p:cNvPr id="33" name="Text 30"/>
          <p:cNvSpPr/>
          <p:nvPr/>
        </p:nvSpPr>
        <p:spPr>
          <a:xfrm>
            <a:off x="6533388" y="3255264"/>
            <a:ext cx="4832604" cy="274320"/>
          </a:xfrm>
          <a:prstGeom prst="rect">
            <a:avLst/>
          </a:prstGeom>
          <a:noFill/>
          <a:ln/>
        </p:spPr>
        <p:txBody>
          <a:bodyPr wrap="square" lIns="0" tIns="0" rIns="0" bIns="0" rtlCol="0" anchor="ctr"/>
          <a:lstStyle/>
          <a:p>
            <a:pPr indent="0" marL="0">
              <a:buNone/>
            </a:pPr>
            <a:r>
              <a:rPr lang="en-US" sz="1500" b="1" dirty="0">
                <a:solidFill>
                  <a:srgbClr val="17635E"/>
                </a:solidFill>
                <a:latin typeface="Cambria" pitchFamily="34" charset="0"/>
                <a:ea typeface="Cambria" pitchFamily="34" charset="-122"/>
                <a:cs typeface="Cambria" pitchFamily="34" charset="-120"/>
              </a:rPr>
              <a:t>Why that enables agentic development</a:t>
            </a:r>
            <a:endParaRPr lang="en-US" sz="1500" dirty="0"/>
          </a:p>
        </p:txBody>
      </p:sp>
      <p:sp>
        <p:nvSpPr>
          <p:cNvPr id="34" name="Text 31"/>
          <p:cNvSpPr/>
          <p:nvPr/>
        </p:nvSpPr>
        <p:spPr>
          <a:xfrm>
            <a:off x="6533388" y="3602736"/>
            <a:ext cx="4832604" cy="219456"/>
          </a:xfrm>
          <a:prstGeom prst="rect">
            <a:avLst/>
          </a:prstGeom>
          <a:noFill/>
          <a:ln/>
        </p:spPr>
        <p:txBody>
          <a:bodyPr wrap="square" lIns="0" tIns="0" rIns="0" bIns="0" rtlCol="0" anchor="ctr"/>
          <a:lstStyle/>
          <a:p>
            <a:pPr indent="0" marL="0">
              <a:buNone/>
            </a:pPr>
            <a:r>
              <a:rPr lang="en-US" sz="1200" b="1" dirty="0">
                <a:solidFill>
                  <a:srgbClr val="17635E"/>
                </a:solidFill>
                <a:latin typeface="Calibri" pitchFamily="34" charset="0"/>
                <a:ea typeface="Calibri" pitchFamily="34" charset="-122"/>
                <a:cs typeface="Calibri" pitchFamily="34" charset="-120"/>
              </a:rPr>
              <a:t>Discovery at runtime</a:t>
            </a:r>
            <a:endParaRPr lang="en-US" sz="1200" dirty="0"/>
          </a:p>
        </p:txBody>
      </p:sp>
      <p:sp>
        <p:nvSpPr>
          <p:cNvPr id="35" name="Text 32"/>
          <p:cNvSpPr/>
          <p:nvPr/>
        </p:nvSpPr>
        <p:spPr>
          <a:xfrm>
            <a:off x="6533388" y="3813048"/>
            <a:ext cx="4832604" cy="329184"/>
          </a:xfrm>
          <a:prstGeom prst="rect">
            <a:avLst/>
          </a:prstGeom>
          <a:noFill/>
          <a:ln/>
        </p:spPr>
        <p:txBody>
          <a:bodyPr wrap="square" lIns="0" tIns="0" rIns="0" bIns="0" rtlCol="0" anchor="ctr"/>
          <a:lstStyle/>
          <a:p>
            <a:pPr indent="0" marL="0">
              <a:lnSpc>
                <a:spcPct val="105000"/>
              </a:lnSpc>
              <a:buNone/>
            </a:pPr>
            <a:r>
              <a:rPr lang="en-US" sz="1050" dirty="0">
                <a:solidFill>
                  <a:srgbClr val="1D4F4B"/>
                </a:solidFill>
                <a:latin typeface="Calibri" pitchFamily="34" charset="0"/>
                <a:ea typeface="Calibri" pitchFamily="34" charset="-122"/>
                <a:cs typeface="Calibri" pitchFamily="34" charset="-120"/>
              </a:rPr>
              <a:t>Nobody compiled the agent against Power BI. It asks what's there, every session.</a:t>
            </a:r>
            <a:endParaRPr lang="en-US" sz="1050" dirty="0"/>
          </a:p>
        </p:txBody>
      </p:sp>
      <p:sp>
        <p:nvSpPr>
          <p:cNvPr id="36" name="Text 33"/>
          <p:cNvSpPr/>
          <p:nvPr/>
        </p:nvSpPr>
        <p:spPr>
          <a:xfrm>
            <a:off x="6533388" y="4169664"/>
            <a:ext cx="4832604" cy="219456"/>
          </a:xfrm>
          <a:prstGeom prst="rect">
            <a:avLst/>
          </a:prstGeom>
          <a:noFill/>
          <a:ln/>
        </p:spPr>
        <p:txBody>
          <a:bodyPr wrap="square" lIns="0" tIns="0" rIns="0" bIns="0" rtlCol="0" anchor="ctr"/>
          <a:lstStyle/>
          <a:p>
            <a:pPr indent="0" marL="0">
              <a:buNone/>
            </a:pPr>
            <a:r>
              <a:rPr lang="en-US" sz="1200" b="1" dirty="0">
                <a:solidFill>
                  <a:srgbClr val="17635E"/>
                </a:solidFill>
                <a:latin typeface="Calibri" pitchFamily="34" charset="0"/>
                <a:ea typeface="Calibri" pitchFamily="34" charset="-122"/>
                <a:cs typeface="Calibri" pitchFamily="34" charset="-120"/>
              </a:rPr>
              <a:t>Typed schemas</a:t>
            </a:r>
            <a:endParaRPr lang="en-US" sz="1200" dirty="0"/>
          </a:p>
        </p:txBody>
      </p:sp>
      <p:sp>
        <p:nvSpPr>
          <p:cNvPr id="37" name="Text 34"/>
          <p:cNvSpPr/>
          <p:nvPr/>
        </p:nvSpPr>
        <p:spPr>
          <a:xfrm>
            <a:off x="6533388" y="4379976"/>
            <a:ext cx="4832604" cy="329184"/>
          </a:xfrm>
          <a:prstGeom prst="rect">
            <a:avLst/>
          </a:prstGeom>
          <a:noFill/>
          <a:ln/>
        </p:spPr>
        <p:txBody>
          <a:bodyPr wrap="square" lIns="0" tIns="0" rIns="0" bIns="0" rtlCol="0" anchor="ctr"/>
          <a:lstStyle/>
          <a:p>
            <a:pPr indent="0" marL="0">
              <a:lnSpc>
                <a:spcPct val="105000"/>
              </a:lnSpc>
              <a:buNone/>
            </a:pPr>
            <a:r>
              <a:rPr lang="en-US" sz="1050" dirty="0">
                <a:solidFill>
                  <a:srgbClr val="1D4F4B"/>
                </a:solidFill>
                <a:latin typeface="Calibri" pitchFamily="34" charset="0"/>
                <a:ea typeface="Calibri" pitchFamily="34" charset="-122"/>
                <a:cs typeface="Calibri" pitchFamily="34" charset="-120"/>
              </a:rPr>
              <a:t>Arguments are validated, so a wrong call returns a real error the agent can retry against.</a:t>
            </a:r>
            <a:endParaRPr lang="en-US" sz="1050" dirty="0"/>
          </a:p>
        </p:txBody>
      </p:sp>
      <p:sp>
        <p:nvSpPr>
          <p:cNvPr id="38" name="Text 35"/>
          <p:cNvSpPr/>
          <p:nvPr/>
        </p:nvSpPr>
        <p:spPr>
          <a:xfrm>
            <a:off x="6533388" y="4736592"/>
            <a:ext cx="4832604" cy="219456"/>
          </a:xfrm>
          <a:prstGeom prst="rect">
            <a:avLst/>
          </a:prstGeom>
          <a:noFill/>
          <a:ln/>
        </p:spPr>
        <p:txBody>
          <a:bodyPr wrap="square" lIns="0" tIns="0" rIns="0" bIns="0" rtlCol="0" anchor="ctr"/>
          <a:lstStyle/>
          <a:p>
            <a:pPr indent="0" marL="0">
              <a:buNone/>
            </a:pPr>
            <a:r>
              <a:rPr lang="en-US" sz="1200" b="1" dirty="0">
                <a:solidFill>
                  <a:srgbClr val="17635E"/>
                </a:solidFill>
                <a:latin typeface="Calibri" pitchFamily="34" charset="0"/>
                <a:ea typeface="Calibri" pitchFamily="34" charset="-122"/>
                <a:cs typeface="Calibri" pitchFamily="34" charset="-120"/>
              </a:rPr>
              <a:t>One protocol, any host</a:t>
            </a:r>
            <a:endParaRPr lang="en-US" sz="1200" dirty="0"/>
          </a:p>
        </p:txBody>
      </p:sp>
      <p:sp>
        <p:nvSpPr>
          <p:cNvPr id="39" name="Text 36"/>
          <p:cNvSpPr/>
          <p:nvPr/>
        </p:nvSpPr>
        <p:spPr>
          <a:xfrm>
            <a:off x="6533388" y="4946904"/>
            <a:ext cx="4832604" cy="329184"/>
          </a:xfrm>
          <a:prstGeom prst="rect">
            <a:avLst/>
          </a:prstGeom>
          <a:noFill/>
          <a:ln/>
        </p:spPr>
        <p:txBody>
          <a:bodyPr wrap="square" lIns="0" tIns="0" rIns="0" bIns="0" rtlCol="0" anchor="ctr"/>
          <a:lstStyle/>
          <a:p>
            <a:pPr indent="0" marL="0">
              <a:lnSpc>
                <a:spcPct val="105000"/>
              </a:lnSpc>
              <a:buNone/>
            </a:pPr>
            <a:r>
              <a:rPr lang="en-US" sz="1050" dirty="0">
                <a:solidFill>
                  <a:srgbClr val="1D4F4B"/>
                </a:solidFill>
                <a:latin typeface="Calibri" pitchFamily="34" charset="0"/>
                <a:ea typeface="Calibri" pitchFamily="34" charset="-122"/>
                <a:cs typeface="Calibri" pitchFamily="34" charset="-120"/>
              </a:rPr>
              <a:t>The same server works in VS Code, Claude Code and Copilot CLI. Write once.</a:t>
            </a:r>
            <a:endParaRPr lang="en-US" sz="1050" dirty="0"/>
          </a:p>
        </p:txBody>
      </p:sp>
      <p:sp>
        <p:nvSpPr>
          <p:cNvPr id="40" name="Shape 37"/>
          <p:cNvSpPr/>
          <p:nvPr/>
        </p:nvSpPr>
        <p:spPr>
          <a:xfrm>
            <a:off x="566928" y="5468112"/>
            <a:ext cx="11055096" cy="566928"/>
          </a:xfrm>
          <a:prstGeom prst="roundRect">
            <a:avLst>
              <a:gd name="adj" fmla="val 14516"/>
            </a:avLst>
          </a:prstGeom>
          <a:solidFill>
            <a:srgbClr val="14182E"/>
          </a:solidFill>
          <a:ln w="12700">
            <a:solidFill>
              <a:srgbClr val="232A52"/>
            </a:solidFill>
            <a:prstDash val="solid"/>
          </a:ln>
        </p:spPr>
        <p:txBody>
          <a:bodyPr/>
          <a:p/>
        </p:txBody>
      </p:sp>
      <p:sp>
        <p:nvSpPr>
          <p:cNvPr id="41" name="Text 38"/>
          <p:cNvSpPr/>
          <p:nvPr/>
        </p:nvSpPr>
        <p:spPr>
          <a:xfrm>
            <a:off x="859536" y="5468112"/>
            <a:ext cx="10469880" cy="56692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A REST API needs a developer to wire it up. An MCP server describes itself — and the agent wires itself up.</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9134856" y="6381598"/>
            <a:ext cx="310896" cy="20117"/>
          </a:xfrm>
          <a:prstGeom prst="rect">
            <a:avLst/>
          </a:prstGeom>
          <a:solidFill>
            <a:srgbClr val="1F9E96"/>
          </a:solidFill>
          <a:ln w="12700">
            <a:solidFill>
              <a:srgbClr val="1F9E96"/>
            </a:solidFill>
            <a:prstDash val="solid"/>
          </a:ln>
        </p:spPr>
        <p:txBody>
          <a:bodyPr/>
          <a:lstStyle/>
          <a:p>
            <a:endParaRPr lang="en-US"/>
          </a:p>
        </p:txBody>
      </p:sp>
      <p:sp>
        <p:nvSpPr>
          <p:cNvPr id="4" name="Text 1"/>
          <p:cNvSpPr/>
          <p:nvPr/>
        </p:nvSpPr>
        <p:spPr>
          <a:xfrm>
            <a:off x="9518904" y="6272784"/>
            <a:ext cx="2103120" cy="237744"/>
          </a:xfrm>
          <a:prstGeom prst="rect">
            <a:avLst/>
          </a:prstGeom>
          <a:noFill/>
          <a:ln/>
        </p:spPr>
        <p:txBody>
          <a:bodyPr wrap="square" lIns="0" tIns="0" rIns="0" bIns="0" rtlCol="0" anchor="ctr"/>
          <a:lstStyle/>
          <a:p>
            <a:pPr marL="0" indent="0" algn="r">
              <a:buNone/>
            </a:pPr>
            <a:r>
              <a:rPr lang="en-US" sz="900" b="1" kern="0" spc="120" dirty="0">
                <a:solidFill>
                  <a:srgbClr val="6B7280"/>
                </a:solidFill>
                <a:latin typeface="Calibri" pitchFamily="34" charset="0"/>
                <a:ea typeface="Calibri" pitchFamily="34" charset="-122"/>
                <a:cs typeface="Calibri" pitchFamily="34" charset="-120"/>
              </a:rPr>
              <a:t>7 / 22  ·  CONCEPT</a:t>
            </a:r>
            <a:endParaRPr lang="en-US" sz="900" dirty="0"/>
          </a:p>
        </p:txBody>
      </p:sp>
      <p:sp>
        <p:nvSpPr>
          <p:cNvPr id="5" name="Shape 2"/>
          <p:cNvSpPr/>
          <p:nvPr/>
        </p:nvSpPr>
        <p:spPr>
          <a:xfrm>
            <a:off x="566928" y="274320"/>
            <a:ext cx="566928" cy="41148"/>
          </a:xfrm>
          <a:prstGeom prst="rect">
            <a:avLst/>
          </a:prstGeom>
          <a:solidFill>
            <a:srgbClr val="1F9E96"/>
          </a:solidFill>
          <a:ln w="12700">
            <a:solidFill>
              <a:srgbClr val="1F9E96"/>
            </a:solidFill>
            <a:prstDash val="solid"/>
          </a:ln>
        </p:spPr>
        <p:txBody>
          <a:bodyPr/>
          <a:lstStyle/>
          <a:p>
            <a:endParaRPr lang="en-US"/>
          </a:p>
        </p:txBody>
      </p:sp>
      <p:sp>
        <p:nvSpPr>
          <p:cNvPr id="6" name="Text 3"/>
          <p:cNvSpPr/>
          <p:nvPr/>
        </p:nvSpPr>
        <p:spPr>
          <a:xfrm>
            <a:off x="566928" y="402336"/>
            <a:ext cx="11055096" cy="256032"/>
          </a:xfrm>
          <a:prstGeom prst="rect">
            <a:avLst/>
          </a:prstGeom>
          <a:noFill/>
          <a:ln/>
        </p:spPr>
        <p:txBody>
          <a:bodyPr wrap="square" lIns="0" tIns="0" rIns="0" bIns="0" rtlCol="0" anchor="ctr"/>
          <a:lstStyle/>
          <a:p>
            <a:pPr marL="0" indent="0">
              <a:buNone/>
            </a:pPr>
            <a:r>
              <a:rPr lang="en-US" sz="1100" b="1" kern="0" spc="220" dirty="0">
                <a:solidFill>
                  <a:srgbClr val="1F9E96"/>
                </a:solidFill>
                <a:latin typeface="Calibri" pitchFamily="34" charset="0"/>
                <a:ea typeface="Calibri" pitchFamily="34" charset="-122"/>
                <a:cs typeface="Calibri" pitchFamily="34" charset="-120"/>
              </a:rPr>
              <a:t>ROUTING</a:t>
            </a:r>
            <a:endParaRPr lang="en-US" sz="1100" dirty="0"/>
          </a:p>
        </p:txBody>
      </p:sp>
      <p:sp>
        <p:nvSpPr>
          <p:cNvPr id="7" name="Text 4"/>
          <p:cNvSpPr/>
          <p:nvPr/>
        </p:nvSpPr>
        <p:spPr>
          <a:xfrm>
            <a:off x="566928" y="676656"/>
            <a:ext cx="11055096" cy="621792"/>
          </a:xfrm>
          <a:prstGeom prst="rect">
            <a:avLst/>
          </a:prstGeom>
          <a:noFill/>
          <a:ln/>
        </p:spPr>
        <p:txBody>
          <a:bodyPr wrap="square" lIns="0" tIns="0" rIns="0" bIns="0" rtlCol="0" anchor="ctr"/>
          <a:lstStyle/>
          <a:p>
            <a:pPr marL="0" indent="0">
              <a:buNone/>
            </a:pPr>
            <a:r>
              <a:rPr lang="en-US" sz="3400" b="1" dirty="0">
                <a:solidFill>
                  <a:srgbClr val="14182E"/>
                </a:solidFill>
                <a:latin typeface="Cambria" pitchFamily="34" charset="0"/>
                <a:ea typeface="Cambria" pitchFamily="34" charset="-122"/>
                <a:cs typeface="Cambria" pitchFamily="34" charset="-120"/>
              </a:rPr>
              <a:t>One question, start to finish</a:t>
            </a:r>
            <a:endParaRPr lang="en-US" sz="3400" dirty="0"/>
          </a:p>
        </p:txBody>
      </p:sp>
      <p:sp>
        <p:nvSpPr>
          <p:cNvPr id="8" name="Shape 5"/>
          <p:cNvSpPr/>
          <p:nvPr/>
        </p:nvSpPr>
        <p:spPr>
          <a:xfrm>
            <a:off x="566928" y="1426464"/>
            <a:ext cx="11055096" cy="621792"/>
          </a:xfrm>
          <a:prstGeom prst="roundRect">
            <a:avLst>
              <a:gd name="adj" fmla="val 13235"/>
            </a:avLst>
          </a:prstGeom>
          <a:solidFill>
            <a:srgbClr val="FAFAFD"/>
          </a:solidFill>
          <a:ln w="12700">
            <a:solidFill>
              <a:srgbClr val="DFE2EC"/>
            </a:solidFill>
            <a:prstDash val="solid"/>
          </a:ln>
        </p:spPr>
        <p:txBody>
          <a:bodyPr/>
          <a:lstStyle/>
          <a:p>
            <a:endParaRPr lang="en-US"/>
          </a:p>
        </p:txBody>
      </p:sp>
      <p:sp>
        <p:nvSpPr>
          <p:cNvPr id="9" name="Shape 6"/>
          <p:cNvSpPr/>
          <p:nvPr/>
        </p:nvSpPr>
        <p:spPr>
          <a:xfrm>
            <a:off x="731520" y="1572768"/>
            <a:ext cx="841248" cy="329184"/>
          </a:xfrm>
          <a:prstGeom prst="roundRect">
            <a:avLst>
              <a:gd name="adj" fmla="val 16667"/>
            </a:avLst>
          </a:prstGeom>
          <a:solidFill>
            <a:srgbClr val="14182E"/>
          </a:solidFill>
          <a:ln w="12700">
            <a:solidFill>
              <a:srgbClr val="14182E"/>
            </a:solidFill>
            <a:prstDash val="solid"/>
          </a:ln>
        </p:spPr>
        <p:txBody>
          <a:bodyPr/>
          <a:lstStyle/>
          <a:p>
            <a:endParaRPr lang="en-US"/>
          </a:p>
        </p:txBody>
      </p:sp>
      <p:sp>
        <p:nvSpPr>
          <p:cNvPr id="10" name="Text 7"/>
          <p:cNvSpPr/>
          <p:nvPr/>
        </p:nvSpPr>
        <p:spPr>
          <a:xfrm>
            <a:off x="731520" y="1572768"/>
            <a:ext cx="841248" cy="329184"/>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YOU</a:t>
            </a:r>
            <a:endParaRPr lang="en-US" sz="950" dirty="0"/>
          </a:p>
        </p:txBody>
      </p:sp>
      <p:sp>
        <p:nvSpPr>
          <p:cNvPr id="11" name="Text 8"/>
          <p:cNvSpPr/>
          <p:nvPr/>
        </p:nvSpPr>
        <p:spPr>
          <a:xfrm>
            <a:off x="1719072" y="1426464"/>
            <a:ext cx="5029200" cy="621792"/>
          </a:xfrm>
          <a:prstGeom prst="rect">
            <a:avLst/>
          </a:prstGeom>
          <a:noFill/>
          <a:ln/>
        </p:spPr>
        <p:txBody>
          <a:bodyPr wrap="square" lIns="0" tIns="0" rIns="0" bIns="0" rtlCol="0" anchor="ctr"/>
          <a:lstStyle/>
          <a:p>
            <a:pPr marL="0" indent="0">
              <a:buNone/>
            </a:pPr>
            <a:r>
              <a:rPr lang="en-US" sz="1300" dirty="0">
                <a:solidFill>
                  <a:srgbClr val="2A2F45"/>
                </a:solidFill>
                <a:latin typeface="Calibri" pitchFamily="34" charset="0"/>
                <a:ea typeface="Calibri" pitchFamily="34" charset="-122"/>
                <a:cs typeface="Calibri" pitchFamily="34" charset="-120"/>
              </a:rPr>
              <a:t>“What's the total revenue in this model?”</a:t>
            </a:r>
            <a:endParaRPr lang="en-US" sz="1300" dirty="0"/>
          </a:p>
        </p:txBody>
      </p:sp>
      <p:sp>
        <p:nvSpPr>
          <p:cNvPr id="12" name="Shape 9"/>
          <p:cNvSpPr/>
          <p:nvPr/>
        </p:nvSpPr>
        <p:spPr>
          <a:xfrm>
            <a:off x="566928" y="2121408"/>
            <a:ext cx="11055096" cy="621792"/>
          </a:xfrm>
          <a:prstGeom prst="roundRect">
            <a:avLst>
              <a:gd name="adj" fmla="val 13235"/>
            </a:avLst>
          </a:prstGeom>
          <a:solidFill>
            <a:srgbClr val="FAFAFD"/>
          </a:solidFill>
          <a:ln w="12700">
            <a:solidFill>
              <a:srgbClr val="DFE2EC"/>
            </a:solidFill>
            <a:prstDash val="solid"/>
          </a:ln>
        </p:spPr>
        <p:txBody>
          <a:bodyPr/>
          <a:lstStyle/>
          <a:p>
            <a:endParaRPr lang="en-US"/>
          </a:p>
        </p:txBody>
      </p:sp>
      <p:sp>
        <p:nvSpPr>
          <p:cNvPr id="13" name="Shape 10"/>
          <p:cNvSpPr/>
          <p:nvPr/>
        </p:nvSpPr>
        <p:spPr>
          <a:xfrm>
            <a:off x="731520" y="2267712"/>
            <a:ext cx="841248" cy="329184"/>
          </a:xfrm>
          <a:prstGeom prst="roundRect">
            <a:avLst>
              <a:gd name="adj" fmla="val 16667"/>
            </a:avLst>
          </a:prstGeom>
          <a:solidFill>
            <a:srgbClr val="1F9E96"/>
          </a:solidFill>
          <a:ln w="12700">
            <a:solidFill>
              <a:srgbClr val="1F9E96"/>
            </a:solidFill>
            <a:prstDash val="solid"/>
          </a:ln>
        </p:spPr>
        <p:txBody>
          <a:bodyPr/>
          <a:lstStyle/>
          <a:p>
            <a:endParaRPr lang="en-US"/>
          </a:p>
        </p:txBody>
      </p:sp>
      <p:sp>
        <p:nvSpPr>
          <p:cNvPr id="14" name="Text 11"/>
          <p:cNvSpPr/>
          <p:nvPr/>
        </p:nvSpPr>
        <p:spPr>
          <a:xfrm>
            <a:off x="731520" y="2267712"/>
            <a:ext cx="841248" cy="329184"/>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AGENT</a:t>
            </a:r>
            <a:endParaRPr lang="en-US" sz="950" dirty="0"/>
          </a:p>
        </p:txBody>
      </p:sp>
      <p:sp>
        <p:nvSpPr>
          <p:cNvPr id="15" name="Text 12"/>
          <p:cNvSpPr/>
          <p:nvPr/>
        </p:nvSpPr>
        <p:spPr>
          <a:xfrm>
            <a:off x="1719072" y="2121408"/>
            <a:ext cx="5029200" cy="621792"/>
          </a:xfrm>
          <a:prstGeom prst="rect">
            <a:avLst/>
          </a:prstGeom>
          <a:noFill/>
          <a:ln/>
        </p:spPr>
        <p:txBody>
          <a:bodyPr wrap="square" lIns="0" tIns="0" rIns="0" bIns="0" rtlCol="0" anchor="ctr"/>
          <a:lstStyle/>
          <a:p>
            <a:pPr marL="0" indent="0">
              <a:buNone/>
            </a:pPr>
            <a:r>
              <a:rPr lang="en-US" sz="1300" dirty="0">
                <a:solidFill>
                  <a:srgbClr val="2A2F45"/>
                </a:solidFill>
                <a:latin typeface="Calibri" pitchFamily="34" charset="0"/>
                <a:ea typeface="Calibri" pitchFamily="34" charset="-122"/>
                <a:cs typeface="Calibri" pitchFamily="34" charset="-120"/>
              </a:rPr>
              <a:t>Reads the 21 tool descriptions, picks a starting point</a:t>
            </a:r>
            <a:endParaRPr lang="en-US" sz="1300" dirty="0"/>
          </a:p>
        </p:txBody>
      </p:sp>
      <p:sp>
        <p:nvSpPr>
          <p:cNvPr id="16" name="Text 13"/>
          <p:cNvSpPr/>
          <p:nvPr/>
        </p:nvSpPr>
        <p:spPr>
          <a:xfrm>
            <a:off x="6876288" y="2121408"/>
            <a:ext cx="4562856" cy="621792"/>
          </a:xfrm>
          <a:prstGeom prst="rect">
            <a:avLst/>
          </a:prstGeom>
          <a:noFill/>
          <a:ln/>
        </p:spPr>
        <p:txBody>
          <a:bodyPr wrap="square" lIns="0" tIns="0" rIns="0" bIns="0" rtlCol="0" anchor="ctr"/>
          <a:lstStyle/>
          <a:p>
            <a:pPr marL="0" indent="0">
              <a:buNone/>
            </a:pPr>
            <a:r>
              <a:rPr lang="en-US" sz="950" dirty="0">
                <a:solidFill>
                  <a:srgbClr val="6B7280"/>
                </a:solidFill>
                <a:latin typeface="Courier New" pitchFamily="34" charset="0"/>
                <a:ea typeface="Courier New" pitchFamily="34" charset="-122"/>
                <a:cs typeface="Courier New" pitchFamily="34" charset="-120"/>
              </a:rPr>
              <a:t>connection_operations · ListLocalInstances</a:t>
            </a:r>
            <a:endParaRPr lang="en-US" sz="950" dirty="0"/>
          </a:p>
        </p:txBody>
      </p:sp>
      <p:sp>
        <p:nvSpPr>
          <p:cNvPr id="17" name="Shape 14"/>
          <p:cNvSpPr/>
          <p:nvPr/>
        </p:nvSpPr>
        <p:spPr>
          <a:xfrm>
            <a:off x="566928" y="2816352"/>
            <a:ext cx="11055096" cy="621792"/>
          </a:xfrm>
          <a:prstGeom prst="roundRect">
            <a:avLst>
              <a:gd name="adj" fmla="val 13235"/>
            </a:avLst>
          </a:prstGeom>
          <a:solidFill>
            <a:srgbClr val="FAFAFD"/>
          </a:solidFill>
          <a:ln w="12700">
            <a:solidFill>
              <a:srgbClr val="DFE2EC"/>
            </a:solidFill>
            <a:prstDash val="solid"/>
          </a:ln>
        </p:spPr>
        <p:txBody>
          <a:bodyPr/>
          <a:lstStyle/>
          <a:p>
            <a:endParaRPr lang="en-US"/>
          </a:p>
        </p:txBody>
      </p:sp>
      <p:sp>
        <p:nvSpPr>
          <p:cNvPr id="18" name="Shape 15"/>
          <p:cNvSpPr/>
          <p:nvPr/>
        </p:nvSpPr>
        <p:spPr>
          <a:xfrm>
            <a:off x="731520" y="2962656"/>
            <a:ext cx="841248" cy="329184"/>
          </a:xfrm>
          <a:prstGeom prst="roundRect">
            <a:avLst>
              <a:gd name="adj" fmla="val 16667"/>
            </a:avLst>
          </a:prstGeom>
          <a:solidFill>
            <a:srgbClr val="F2C230"/>
          </a:solidFill>
          <a:ln w="12700">
            <a:solidFill>
              <a:srgbClr val="F2C230"/>
            </a:solidFill>
            <a:prstDash val="solid"/>
          </a:ln>
        </p:spPr>
        <p:txBody>
          <a:bodyPr/>
          <a:lstStyle/>
          <a:p>
            <a:endParaRPr lang="en-US"/>
          </a:p>
        </p:txBody>
      </p:sp>
      <p:sp>
        <p:nvSpPr>
          <p:cNvPr id="19" name="Text 16"/>
          <p:cNvSpPr/>
          <p:nvPr/>
        </p:nvSpPr>
        <p:spPr>
          <a:xfrm>
            <a:off x="731520" y="2962656"/>
            <a:ext cx="841248" cy="329184"/>
          </a:xfrm>
          <a:prstGeom prst="rect">
            <a:avLst/>
          </a:prstGeom>
          <a:noFill/>
          <a:ln/>
        </p:spPr>
        <p:txBody>
          <a:bodyPr wrap="square" lIns="0" tIns="0" rIns="0" bIns="0" rtlCol="0" anchor="ctr"/>
          <a:lstStyle/>
          <a:p>
            <a:pPr marL="0" indent="0" algn="ctr">
              <a:buNone/>
            </a:pPr>
            <a:r>
              <a:rPr lang="en-US" sz="950" b="1" dirty="0">
                <a:solidFill>
                  <a:srgbClr val="14182E"/>
                </a:solidFill>
                <a:latin typeface="Calibri" pitchFamily="34" charset="0"/>
                <a:ea typeface="Calibri" pitchFamily="34" charset="-122"/>
                <a:cs typeface="Calibri" pitchFamily="34" charset="-120"/>
              </a:rPr>
              <a:t>SERVER</a:t>
            </a:r>
            <a:endParaRPr lang="en-US" sz="950" dirty="0"/>
          </a:p>
        </p:txBody>
      </p:sp>
      <p:sp>
        <p:nvSpPr>
          <p:cNvPr id="20" name="Text 17"/>
          <p:cNvSpPr/>
          <p:nvPr/>
        </p:nvSpPr>
        <p:spPr>
          <a:xfrm>
            <a:off x="1719072" y="2816352"/>
            <a:ext cx="5029200" cy="621792"/>
          </a:xfrm>
          <a:prstGeom prst="rect">
            <a:avLst/>
          </a:prstGeom>
          <a:noFill/>
          <a:ln/>
        </p:spPr>
        <p:txBody>
          <a:bodyPr wrap="square" lIns="0" tIns="0" rIns="0" bIns="0" rtlCol="0" anchor="ctr"/>
          <a:lstStyle/>
          <a:p>
            <a:pPr marL="0" indent="0">
              <a:buNone/>
            </a:pPr>
            <a:r>
              <a:rPr lang="en-US" sz="1300" dirty="0">
                <a:solidFill>
                  <a:srgbClr val="2A2F45"/>
                </a:solidFill>
                <a:latin typeface="Calibri" pitchFamily="34" charset="0"/>
                <a:ea typeface="Calibri" pitchFamily="34" charset="-122"/>
                <a:cs typeface="Calibri" pitchFamily="34" charset="-120"/>
              </a:rPr>
              <a:t>Found 1 local instance</a:t>
            </a:r>
            <a:endParaRPr lang="en-US" sz="1300" dirty="0"/>
          </a:p>
        </p:txBody>
      </p:sp>
      <p:sp>
        <p:nvSpPr>
          <p:cNvPr id="21" name="Text 18"/>
          <p:cNvSpPr/>
          <p:nvPr/>
        </p:nvSpPr>
        <p:spPr>
          <a:xfrm>
            <a:off x="6876288" y="2816352"/>
            <a:ext cx="4562856" cy="621792"/>
          </a:xfrm>
          <a:prstGeom prst="rect">
            <a:avLst/>
          </a:prstGeom>
          <a:noFill/>
          <a:ln/>
        </p:spPr>
        <p:txBody>
          <a:bodyPr wrap="square" lIns="0" tIns="0" rIns="0" bIns="0" rtlCol="0" anchor="ctr"/>
          <a:lstStyle/>
          <a:p>
            <a:pPr marL="0" indent="0">
              <a:buNone/>
            </a:pPr>
            <a:r>
              <a:rPr lang="en-US" sz="950" dirty="0">
                <a:solidFill>
                  <a:srgbClr val="6B7280"/>
                </a:solidFill>
                <a:latin typeface="Courier New" pitchFamily="34" charset="0"/>
                <a:ea typeface="Courier New" pitchFamily="34" charset="-122"/>
                <a:cs typeface="Courier New" pitchFamily="34" charset="-120"/>
              </a:rPr>
              <a:t>Data Source=localhost:64296</a:t>
            </a:r>
            <a:endParaRPr lang="en-US" sz="950" dirty="0"/>
          </a:p>
        </p:txBody>
      </p:sp>
      <p:sp>
        <p:nvSpPr>
          <p:cNvPr id="22" name="Shape 19"/>
          <p:cNvSpPr/>
          <p:nvPr/>
        </p:nvSpPr>
        <p:spPr>
          <a:xfrm>
            <a:off x="566928" y="3511296"/>
            <a:ext cx="11055096" cy="621792"/>
          </a:xfrm>
          <a:prstGeom prst="roundRect">
            <a:avLst>
              <a:gd name="adj" fmla="val 13235"/>
            </a:avLst>
          </a:prstGeom>
          <a:solidFill>
            <a:srgbClr val="FAFAFD"/>
          </a:solidFill>
          <a:ln w="12700">
            <a:solidFill>
              <a:srgbClr val="DFE2EC"/>
            </a:solidFill>
            <a:prstDash val="solid"/>
          </a:ln>
        </p:spPr>
        <p:txBody>
          <a:bodyPr/>
          <a:lstStyle/>
          <a:p>
            <a:endParaRPr lang="en-US"/>
          </a:p>
        </p:txBody>
      </p:sp>
      <p:sp>
        <p:nvSpPr>
          <p:cNvPr id="23" name="Shape 20"/>
          <p:cNvSpPr/>
          <p:nvPr/>
        </p:nvSpPr>
        <p:spPr>
          <a:xfrm>
            <a:off x="731520" y="3657600"/>
            <a:ext cx="841248" cy="329184"/>
          </a:xfrm>
          <a:prstGeom prst="roundRect">
            <a:avLst>
              <a:gd name="adj" fmla="val 16667"/>
            </a:avLst>
          </a:prstGeom>
          <a:solidFill>
            <a:srgbClr val="1F9E96"/>
          </a:solidFill>
          <a:ln w="12700">
            <a:solidFill>
              <a:srgbClr val="1F9E96"/>
            </a:solidFill>
            <a:prstDash val="solid"/>
          </a:ln>
        </p:spPr>
        <p:txBody>
          <a:bodyPr/>
          <a:lstStyle/>
          <a:p>
            <a:endParaRPr lang="en-US"/>
          </a:p>
        </p:txBody>
      </p:sp>
      <p:sp>
        <p:nvSpPr>
          <p:cNvPr id="24" name="Text 21"/>
          <p:cNvSpPr/>
          <p:nvPr/>
        </p:nvSpPr>
        <p:spPr>
          <a:xfrm>
            <a:off x="731520" y="3657600"/>
            <a:ext cx="841248" cy="329184"/>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AGENT</a:t>
            </a:r>
            <a:endParaRPr lang="en-US" sz="950" dirty="0"/>
          </a:p>
        </p:txBody>
      </p:sp>
      <p:sp>
        <p:nvSpPr>
          <p:cNvPr id="25" name="Text 22"/>
          <p:cNvSpPr/>
          <p:nvPr/>
        </p:nvSpPr>
        <p:spPr>
          <a:xfrm>
            <a:off x="1719072" y="3511296"/>
            <a:ext cx="5029200" cy="621792"/>
          </a:xfrm>
          <a:prstGeom prst="rect">
            <a:avLst/>
          </a:prstGeom>
          <a:noFill/>
          <a:ln/>
        </p:spPr>
        <p:txBody>
          <a:bodyPr wrap="square" lIns="0" tIns="0" rIns="0" bIns="0" rtlCol="0" anchor="ctr"/>
          <a:lstStyle/>
          <a:p>
            <a:pPr marL="0" indent="0">
              <a:buNone/>
            </a:pPr>
            <a:r>
              <a:rPr lang="en-US" sz="1300" dirty="0">
                <a:solidFill>
                  <a:srgbClr val="2A2F45"/>
                </a:solidFill>
                <a:latin typeface="Calibri" pitchFamily="34" charset="0"/>
                <a:ea typeface="Calibri" pitchFamily="34" charset="-122"/>
                <a:cs typeface="Calibri" pitchFamily="34" charset="-120"/>
              </a:rPr>
              <a:t>Connects, then writes the DAX itself</a:t>
            </a:r>
            <a:endParaRPr lang="en-US" sz="1300" dirty="0"/>
          </a:p>
        </p:txBody>
      </p:sp>
      <p:sp>
        <p:nvSpPr>
          <p:cNvPr id="26" name="Text 23"/>
          <p:cNvSpPr/>
          <p:nvPr/>
        </p:nvSpPr>
        <p:spPr>
          <a:xfrm>
            <a:off x="6876288" y="3511296"/>
            <a:ext cx="4562856" cy="621792"/>
          </a:xfrm>
          <a:prstGeom prst="rect">
            <a:avLst/>
          </a:prstGeom>
          <a:noFill/>
          <a:ln/>
        </p:spPr>
        <p:txBody>
          <a:bodyPr wrap="square" lIns="0" tIns="0" rIns="0" bIns="0" rtlCol="0" anchor="ctr"/>
          <a:lstStyle/>
          <a:p>
            <a:pPr marL="0" indent="0">
              <a:buNone/>
            </a:pPr>
            <a:r>
              <a:rPr lang="en-US" sz="950" dirty="0">
                <a:solidFill>
                  <a:srgbClr val="6B7280"/>
                </a:solidFill>
                <a:latin typeface="Courier New" pitchFamily="34" charset="0"/>
                <a:ea typeface="Courier New" pitchFamily="34" charset="-122"/>
                <a:cs typeface="Courier New" pitchFamily="34" charset="-120"/>
              </a:rPr>
              <a:t>dax_query_operations · Execute</a:t>
            </a:r>
            <a:endParaRPr lang="en-US" sz="950" dirty="0"/>
          </a:p>
          <a:p>
            <a:pPr marL="0" indent="0">
              <a:buNone/>
            </a:pPr>
            <a:r>
              <a:rPr lang="en-US" sz="950" dirty="0">
                <a:solidFill>
                  <a:srgbClr val="6B7280"/>
                </a:solidFill>
                <a:latin typeface="Courier New" pitchFamily="34" charset="0"/>
                <a:ea typeface="Courier New" pitchFamily="34" charset="-122"/>
                <a:cs typeface="Courier New" pitchFamily="34" charset="-120"/>
              </a:rPr>
              <a:t>EVALUATE ROW("Revenue", [Revenue])</a:t>
            </a:r>
            <a:endParaRPr lang="en-US" sz="950" dirty="0"/>
          </a:p>
        </p:txBody>
      </p:sp>
      <p:sp>
        <p:nvSpPr>
          <p:cNvPr id="27" name="Shape 24"/>
          <p:cNvSpPr/>
          <p:nvPr/>
        </p:nvSpPr>
        <p:spPr>
          <a:xfrm>
            <a:off x="566928" y="4206240"/>
            <a:ext cx="11055096" cy="621792"/>
          </a:xfrm>
          <a:prstGeom prst="roundRect">
            <a:avLst>
              <a:gd name="adj" fmla="val 13235"/>
            </a:avLst>
          </a:prstGeom>
          <a:solidFill>
            <a:srgbClr val="FAFAFD"/>
          </a:solidFill>
          <a:ln w="12700">
            <a:solidFill>
              <a:srgbClr val="DFE2EC"/>
            </a:solidFill>
            <a:prstDash val="solid"/>
          </a:ln>
        </p:spPr>
        <p:txBody>
          <a:bodyPr/>
          <a:lstStyle/>
          <a:p>
            <a:endParaRPr lang="en-US"/>
          </a:p>
        </p:txBody>
      </p:sp>
      <p:sp>
        <p:nvSpPr>
          <p:cNvPr id="28" name="Shape 25"/>
          <p:cNvSpPr/>
          <p:nvPr/>
        </p:nvSpPr>
        <p:spPr>
          <a:xfrm>
            <a:off x="731520" y="4352544"/>
            <a:ext cx="841248" cy="329184"/>
          </a:xfrm>
          <a:prstGeom prst="roundRect">
            <a:avLst>
              <a:gd name="adj" fmla="val 16667"/>
            </a:avLst>
          </a:prstGeom>
          <a:solidFill>
            <a:srgbClr val="F2C230"/>
          </a:solidFill>
          <a:ln w="12700">
            <a:solidFill>
              <a:srgbClr val="F2C230"/>
            </a:solidFill>
            <a:prstDash val="solid"/>
          </a:ln>
        </p:spPr>
        <p:txBody>
          <a:bodyPr/>
          <a:lstStyle/>
          <a:p>
            <a:endParaRPr lang="en-US"/>
          </a:p>
        </p:txBody>
      </p:sp>
      <p:sp>
        <p:nvSpPr>
          <p:cNvPr id="29" name="Text 26"/>
          <p:cNvSpPr/>
          <p:nvPr/>
        </p:nvSpPr>
        <p:spPr>
          <a:xfrm>
            <a:off x="731520" y="4352544"/>
            <a:ext cx="841248" cy="329184"/>
          </a:xfrm>
          <a:prstGeom prst="rect">
            <a:avLst/>
          </a:prstGeom>
          <a:noFill/>
          <a:ln/>
        </p:spPr>
        <p:txBody>
          <a:bodyPr wrap="square" lIns="0" tIns="0" rIns="0" bIns="0" rtlCol="0" anchor="ctr"/>
          <a:lstStyle/>
          <a:p>
            <a:pPr marL="0" indent="0" algn="ctr">
              <a:buNone/>
            </a:pPr>
            <a:r>
              <a:rPr lang="en-US" sz="950" b="1" dirty="0">
                <a:solidFill>
                  <a:srgbClr val="14182E"/>
                </a:solidFill>
                <a:latin typeface="Calibri" pitchFamily="34" charset="0"/>
                <a:ea typeface="Calibri" pitchFamily="34" charset="-122"/>
                <a:cs typeface="Calibri" pitchFamily="34" charset="-120"/>
              </a:rPr>
              <a:t>SERVER</a:t>
            </a:r>
            <a:endParaRPr lang="en-US" sz="950" dirty="0"/>
          </a:p>
        </p:txBody>
      </p:sp>
      <p:sp>
        <p:nvSpPr>
          <p:cNvPr id="30" name="Text 27"/>
          <p:cNvSpPr/>
          <p:nvPr/>
        </p:nvSpPr>
        <p:spPr>
          <a:xfrm>
            <a:off x="1719072" y="4206240"/>
            <a:ext cx="5029200" cy="621792"/>
          </a:xfrm>
          <a:prstGeom prst="rect">
            <a:avLst/>
          </a:prstGeom>
          <a:noFill/>
          <a:ln/>
        </p:spPr>
        <p:txBody>
          <a:bodyPr wrap="square" lIns="0" tIns="0" rIns="0" bIns="0" rtlCol="0" anchor="ctr"/>
          <a:lstStyle/>
          <a:p>
            <a:pPr marL="0" indent="0">
              <a:buNone/>
            </a:pPr>
            <a:r>
              <a:rPr lang="en-US" sz="1300" dirty="0">
                <a:solidFill>
                  <a:srgbClr val="2A2F45"/>
                </a:solidFill>
                <a:latin typeface="Calibri" pitchFamily="34" charset="0"/>
                <a:ea typeface="Calibri" pitchFamily="34" charset="-122"/>
                <a:cs typeface="Calibri" pitchFamily="34" charset="-120"/>
              </a:rPr>
              <a:t>Returns rows in 49 ms</a:t>
            </a:r>
            <a:endParaRPr lang="en-US" sz="1300" dirty="0"/>
          </a:p>
        </p:txBody>
      </p:sp>
      <p:sp>
        <p:nvSpPr>
          <p:cNvPr id="31" name="Text 28"/>
          <p:cNvSpPr/>
          <p:nvPr/>
        </p:nvSpPr>
        <p:spPr>
          <a:xfrm>
            <a:off x="6876288" y="4206240"/>
            <a:ext cx="4562856" cy="621792"/>
          </a:xfrm>
          <a:prstGeom prst="rect">
            <a:avLst/>
          </a:prstGeom>
          <a:noFill/>
          <a:ln/>
        </p:spPr>
        <p:txBody>
          <a:bodyPr wrap="square" lIns="0" tIns="0" rIns="0" bIns="0" rtlCol="0" anchor="ctr"/>
          <a:lstStyle/>
          <a:p>
            <a:pPr marL="0" indent="0">
              <a:buNone/>
            </a:pPr>
            <a:r>
              <a:rPr lang="en-US" sz="950" dirty="0">
                <a:solidFill>
                  <a:srgbClr val="6B7280"/>
                </a:solidFill>
                <a:latin typeface="Courier New" pitchFamily="34" charset="0"/>
                <a:ea typeface="Courier New" pitchFamily="34" charset="-122"/>
                <a:cs typeface="Courier New" pitchFamily="34" charset="-120"/>
              </a:rPr>
              <a:t>{ "[Revenue]": 6232517.48 }</a:t>
            </a:r>
            <a:endParaRPr lang="en-US" sz="950" dirty="0"/>
          </a:p>
        </p:txBody>
      </p:sp>
      <p:sp>
        <p:nvSpPr>
          <p:cNvPr id="32" name="Shape 29"/>
          <p:cNvSpPr/>
          <p:nvPr/>
        </p:nvSpPr>
        <p:spPr>
          <a:xfrm>
            <a:off x="566928" y="4901184"/>
            <a:ext cx="11055096" cy="621792"/>
          </a:xfrm>
          <a:prstGeom prst="roundRect">
            <a:avLst>
              <a:gd name="adj" fmla="val 13235"/>
            </a:avLst>
          </a:prstGeom>
          <a:solidFill>
            <a:srgbClr val="EDF7F6"/>
          </a:solidFill>
          <a:ln w="12700">
            <a:solidFill>
              <a:srgbClr val="C7E4E1"/>
            </a:solidFill>
            <a:prstDash val="solid"/>
          </a:ln>
        </p:spPr>
        <p:txBody>
          <a:bodyPr/>
          <a:lstStyle/>
          <a:p>
            <a:endParaRPr lang="en-US"/>
          </a:p>
        </p:txBody>
      </p:sp>
      <p:sp>
        <p:nvSpPr>
          <p:cNvPr id="33" name="Shape 30"/>
          <p:cNvSpPr/>
          <p:nvPr/>
        </p:nvSpPr>
        <p:spPr>
          <a:xfrm>
            <a:off x="731520" y="5047488"/>
            <a:ext cx="841248" cy="329184"/>
          </a:xfrm>
          <a:prstGeom prst="roundRect">
            <a:avLst>
              <a:gd name="adj" fmla="val 16667"/>
            </a:avLst>
          </a:prstGeom>
          <a:solidFill>
            <a:srgbClr val="1F9E96"/>
          </a:solidFill>
          <a:ln w="12700">
            <a:solidFill>
              <a:srgbClr val="1F9E96"/>
            </a:solidFill>
            <a:prstDash val="solid"/>
          </a:ln>
        </p:spPr>
        <p:txBody>
          <a:bodyPr/>
          <a:lstStyle/>
          <a:p>
            <a:endParaRPr lang="en-US"/>
          </a:p>
        </p:txBody>
      </p:sp>
      <p:sp>
        <p:nvSpPr>
          <p:cNvPr id="34" name="Text 31"/>
          <p:cNvSpPr/>
          <p:nvPr/>
        </p:nvSpPr>
        <p:spPr>
          <a:xfrm>
            <a:off x="731520" y="5047488"/>
            <a:ext cx="841248" cy="329184"/>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AGENT</a:t>
            </a:r>
            <a:endParaRPr lang="en-US" sz="950" dirty="0"/>
          </a:p>
        </p:txBody>
      </p:sp>
      <p:sp>
        <p:nvSpPr>
          <p:cNvPr id="35" name="Text 32"/>
          <p:cNvSpPr/>
          <p:nvPr/>
        </p:nvSpPr>
        <p:spPr>
          <a:xfrm>
            <a:off x="1719072" y="4901184"/>
            <a:ext cx="5029200" cy="621792"/>
          </a:xfrm>
          <a:prstGeom prst="rect">
            <a:avLst/>
          </a:prstGeom>
          <a:noFill/>
          <a:ln/>
        </p:spPr>
        <p:txBody>
          <a:bodyPr wrap="square" lIns="0" tIns="0" rIns="0" bIns="0" rtlCol="0" anchor="ctr"/>
          <a:lstStyle/>
          <a:p>
            <a:pPr marL="0" indent="0">
              <a:buNone/>
            </a:pPr>
            <a:r>
              <a:rPr lang="en-US" sz="1300" dirty="0">
                <a:solidFill>
                  <a:srgbClr val="2A2F45"/>
                </a:solidFill>
                <a:latin typeface="Calibri" pitchFamily="34" charset="0"/>
                <a:ea typeface="Calibri" pitchFamily="34" charset="-122"/>
                <a:cs typeface="Calibri" pitchFamily="34" charset="-120"/>
              </a:rPr>
              <a:t>“Total revenue is $6.23M across 1,067 orders.”</a:t>
            </a:r>
            <a:endParaRPr lang="en-US" sz="1300" dirty="0"/>
          </a:p>
        </p:txBody>
      </p:sp>
      <p:sp>
        <p:nvSpPr>
          <p:cNvPr id="36" name="Shape 33"/>
          <p:cNvSpPr/>
          <p:nvPr/>
        </p:nvSpPr>
        <p:spPr>
          <a:xfrm>
            <a:off x="566928" y="5614416"/>
            <a:ext cx="11055096" cy="603504"/>
          </a:xfrm>
          <a:prstGeom prst="roundRect">
            <a:avLst>
              <a:gd name="adj" fmla="val 13636"/>
            </a:avLst>
          </a:prstGeom>
          <a:solidFill>
            <a:srgbClr val="FDF6E3"/>
          </a:solidFill>
          <a:ln w="12700">
            <a:solidFill>
              <a:srgbClr val="EBD9A8"/>
            </a:solidFill>
            <a:prstDash val="solid"/>
          </a:ln>
        </p:spPr>
        <p:txBody>
          <a:bodyPr/>
          <a:lstStyle/>
          <a:p>
            <a:endParaRPr lang="en-US"/>
          </a:p>
        </p:txBody>
      </p:sp>
      <p:sp>
        <p:nvSpPr>
          <p:cNvPr id="37" name="Text 34"/>
          <p:cNvSpPr/>
          <p:nvPr/>
        </p:nvSpPr>
        <p:spPr>
          <a:xfrm>
            <a:off x="859536" y="5614416"/>
            <a:ext cx="10469880" cy="603504"/>
          </a:xfrm>
          <a:prstGeom prst="rect">
            <a:avLst/>
          </a:prstGeom>
          <a:noFill/>
          <a:ln/>
        </p:spPr>
        <p:txBody>
          <a:bodyPr wrap="square" lIns="0" tIns="0" rIns="0" bIns="0" rtlCol="0" anchor="ctr"/>
          <a:lstStyle/>
          <a:p>
            <a:pPr marL="0" indent="0">
              <a:buNone/>
            </a:pPr>
            <a:r>
              <a:rPr lang="en-US" sz="1300" b="1" dirty="0">
                <a:solidFill>
                  <a:srgbClr val="6B551A"/>
                </a:solidFill>
                <a:latin typeface="Calibri" pitchFamily="34" charset="0"/>
                <a:ea typeface="Calibri" pitchFamily="34" charset="-122"/>
                <a:cs typeface="Calibri" pitchFamily="34" charset="-120"/>
              </a:rPr>
              <a:t>Nobody wrote a REST call. The agent chose each tool from its description, and every server response decided the next step.</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9134856" y="6381598"/>
            <a:ext cx="310896" cy="20117"/>
          </a:xfrm>
          <a:prstGeom prst="rect">
            <a:avLst/>
          </a:prstGeom>
          <a:solidFill>
            <a:srgbClr val="1F9E96"/>
          </a:solidFill>
          <a:ln w="12700">
            <a:solidFill>
              <a:srgbClr val="1F9E96"/>
            </a:solidFill>
            <a:prstDash val="solid"/>
          </a:ln>
        </p:spPr>
        <p:txBody>
          <a:bodyPr/>
          <a:lstStyle/>
          <a:p>
            <a:endParaRPr lang="en-US"/>
          </a:p>
        </p:txBody>
      </p:sp>
      <p:sp>
        <p:nvSpPr>
          <p:cNvPr id="4" name="Text 1"/>
          <p:cNvSpPr/>
          <p:nvPr/>
        </p:nvSpPr>
        <p:spPr>
          <a:xfrm>
            <a:off x="9518904" y="6272784"/>
            <a:ext cx="2103120" cy="237744"/>
          </a:xfrm>
          <a:prstGeom prst="rect">
            <a:avLst/>
          </a:prstGeom>
          <a:noFill/>
          <a:ln/>
        </p:spPr>
        <p:txBody>
          <a:bodyPr wrap="square" lIns="0" tIns="0" rIns="0" bIns="0" rtlCol="0" anchor="ctr"/>
          <a:lstStyle/>
          <a:p>
            <a:pPr marL="0" indent="0" algn="r">
              <a:buNone/>
            </a:pPr>
            <a:r>
              <a:rPr lang="en-US" sz="900" b="1" kern="0" spc="120" dirty="0">
                <a:solidFill>
                  <a:srgbClr val="6B7280"/>
                </a:solidFill>
                <a:latin typeface="Calibri" pitchFamily="34" charset="0"/>
                <a:ea typeface="Calibri" pitchFamily="34" charset="-122"/>
                <a:cs typeface="Calibri" pitchFamily="34" charset="-120"/>
              </a:rPr>
              <a:t>8 / 22  ·  CONCEPT</a:t>
            </a:r>
            <a:endParaRPr lang="en-US" sz="900" dirty="0"/>
          </a:p>
        </p:txBody>
      </p:sp>
      <p:sp>
        <p:nvSpPr>
          <p:cNvPr id="5" name="Shape 2"/>
          <p:cNvSpPr/>
          <p:nvPr/>
        </p:nvSpPr>
        <p:spPr>
          <a:xfrm>
            <a:off x="566928" y="274320"/>
            <a:ext cx="566928" cy="41148"/>
          </a:xfrm>
          <a:prstGeom prst="rect">
            <a:avLst/>
          </a:prstGeom>
          <a:solidFill>
            <a:srgbClr val="1F9E96"/>
          </a:solidFill>
          <a:ln w="12700">
            <a:solidFill>
              <a:srgbClr val="1F9E96"/>
            </a:solidFill>
            <a:prstDash val="solid"/>
          </a:ln>
        </p:spPr>
        <p:txBody>
          <a:bodyPr/>
          <a:lstStyle/>
          <a:p>
            <a:endParaRPr lang="en-US"/>
          </a:p>
        </p:txBody>
      </p:sp>
      <p:sp>
        <p:nvSpPr>
          <p:cNvPr id="6" name="Text 3"/>
          <p:cNvSpPr/>
          <p:nvPr/>
        </p:nvSpPr>
        <p:spPr>
          <a:xfrm>
            <a:off x="566928" y="402336"/>
            <a:ext cx="11055096" cy="256032"/>
          </a:xfrm>
          <a:prstGeom prst="rect">
            <a:avLst/>
          </a:prstGeom>
          <a:noFill/>
          <a:ln/>
        </p:spPr>
        <p:txBody>
          <a:bodyPr wrap="square" lIns="0" tIns="0" rIns="0" bIns="0" rtlCol="0" anchor="ctr"/>
          <a:lstStyle/>
          <a:p>
            <a:pPr marL="0" indent="0">
              <a:buNone/>
            </a:pPr>
            <a:r>
              <a:rPr lang="en-US" sz="1100" b="1" kern="0" spc="220" dirty="0">
                <a:solidFill>
                  <a:srgbClr val="1F9E96"/>
                </a:solidFill>
                <a:latin typeface="Calibri" pitchFamily="34" charset="0"/>
                <a:ea typeface="Calibri" pitchFamily="34" charset="-122"/>
                <a:cs typeface="Calibri" pitchFamily="34" charset="-120"/>
              </a:rPr>
              <a:t>WHY IT MATTERS</a:t>
            </a:r>
            <a:endParaRPr lang="en-US" sz="1100" dirty="0"/>
          </a:p>
        </p:txBody>
      </p:sp>
      <p:sp>
        <p:nvSpPr>
          <p:cNvPr id="7" name="Text 4"/>
          <p:cNvSpPr/>
          <p:nvPr/>
        </p:nvSpPr>
        <p:spPr>
          <a:xfrm>
            <a:off x="566928" y="676656"/>
            <a:ext cx="11055096" cy="621792"/>
          </a:xfrm>
          <a:prstGeom prst="rect">
            <a:avLst/>
          </a:prstGeom>
          <a:noFill/>
          <a:ln/>
        </p:spPr>
        <p:txBody>
          <a:bodyPr wrap="square" lIns="0" tIns="0" rIns="0" bIns="0" rtlCol="0" anchor="ctr"/>
          <a:lstStyle/>
          <a:p>
            <a:pPr marL="0" indent="0">
              <a:buNone/>
            </a:pPr>
            <a:r>
              <a:rPr lang="en-US" sz="3400" b="1" dirty="0">
                <a:solidFill>
                  <a:srgbClr val="14182E"/>
                </a:solidFill>
                <a:latin typeface="Cambria" pitchFamily="34" charset="0"/>
                <a:ea typeface="Cambria" pitchFamily="34" charset="-122"/>
                <a:cs typeface="Cambria" pitchFamily="34" charset="-120"/>
              </a:rPr>
              <a:t>Two halves: skills and tools</a:t>
            </a:r>
            <a:endParaRPr lang="en-US" sz="3400" dirty="0"/>
          </a:p>
        </p:txBody>
      </p:sp>
      <p:sp>
        <p:nvSpPr>
          <p:cNvPr id="8" name="Shape 5"/>
          <p:cNvSpPr/>
          <p:nvPr/>
        </p:nvSpPr>
        <p:spPr>
          <a:xfrm>
            <a:off x="566928" y="1627632"/>
            <a:ext cx="5344668" cy="2514600"/>
          </a:xfrm>
          <a:prstGeom prst="roundRect">
            <a:avLst>
              <a:gd name="adj" fmla="val 3273"/>
            </a:avLst>
          </a:prstGeom>
          <a:solidFill>
            <a:srgbClr val="EDF7F6"/>
          </a:solidFill>
          <a:ln w="12700">
            <a:solidFill>
              <a:srgbClr val="C7E4E1"/>
            </a:solidFill>
            <a:prstDash val="solid"/>
          </a:ln>
          <a:effectLst>
            <a:outerShdw blurRad="127000" dist="25400" dir="5400000" algn="bl" rotWithShape="0">
              <a:srgbClr val="9AA0B5">
                <a:alpha val="28000"/>
              </a:srgbClr>
            </a:outerShdw>
          </a:effectLst>
        </p:spPr>
        <p:txBody>
          <a:bodyPr/>
          <a:lstStyle/>
          <a:p>
            <a:endParaRPr lang="en-US"/>
          </a:p>
        </p:txBody>
      </p:sp>
      <p:sp>
        <p:nvSpPr>
          <p:cNvPr id="9" name="Text 6"/>
          <p:cNvSpPr/>
          <p:nvPr/>
        </p:nvSpPr>
        <p:spPr>
          <a:xfrm>
            <a:off x="859536" y="1810512"/>
            <a:ext cx="3881628" cy="365760"/>
          </a:xfrm>
          <a:prstGeom prst="rect">
            <a:avLst/>
          </a:prstGeom>
          <a:noFill/>
          <a:ln/>
        </p:spPr>
        <p:txBody>
          <a:bodyPr wrap="square" lIns="0" tIns="0" rIns="0" bIns="0" rtlCol="0" anchor="ctr"/>
          <a:lstStyle/>
          <a:p>
            <a:pPr marL="0" indent="0">
              <a:buNone/>
            </a:pPr>
            <a:r>
              <a:rPr lang="en-US" sz="2200" b="1" dirty="0">
                <a:solidFill>
                  <a:srgbClr val="17635E"/>
                </a:solidFill>
                <a:latin typeface="Cambria" pitchFamily="34" charset="0"/>
                <a:ea typeface="Cambria" pitchFamily="34" charset="-122"/>
                <a:cs typeface="Cambria" pitchFamily="34" charset="-120"/>
              </a:rPr>
              <a:t>Skills</a:t>
            </a:r>
            <a:endParaRPr lang="en-US" sz="2200" dirty="0"/>
          </a:p>
        </p:txBody>
      </p:sp>
      <p:sp>
        <p:nvSpPr>
          <p:cNvPr id="10" name="Text 7"/>
          <p:cNvSpPr/>
          <p:nvPr/>
        </p:nvSpPr>
        <p:spPr>
          <a:xfrm>
            <a:off x="4357116" y="1883664"/>
            <a:ext cx="1280160" cy="274320"/>
          </a:xfrm>
          <a:prstGeom prst="rect">
            <a:avLst/>
          </a:prstGeom>
          <a:noFill/>
          <a:ln/>
        </p:spPr>
        <p:txBody>
          <a:bodyPr wrap="square" lIns="0" tIns="0" rIns="0" bIns="0" rtlCol="0" anchor="ctr"/>
          <a:lstStyle/>
          <a:p>
            <a:pPr marL="0" indent="0" algn="r">
              <a:buNone/>
            </a:pPr>
            <a:r>
              <a:rPr lang="en-US" sz="1300" b="1" dirty="0">
                <a:solidFill>
                  <a:srgbClr val="6B7280"/>
                </a:solidFill>
                <a:latin typeface="Calibri" pitchFamily="34" charset="0"/>
                <a:ea typeface="Calibri" pitchFamily="34" charset="-122"/>
                <a:cs typeface="Calibri" pitchFamily="34" charset="-120"/>
              </a:rPr>
              <a:t>What to do</a:t>
            </a:r>
            <a:endParaRPr lang="en-US" sz="1300" dirty="0"/>
          </a:p>
        </p:txBody>
      </p:sp>
      <p:sp>
        <p:nvSpPr>
          <p:cNvPr id="11" name="Text 8"/>
          <p:cNvSpPr/>
          <p:nvPr/>
        </p:nvSpPr>
        <p:spPr>
          <a:xfrm>
            <a:off x="859536" y="2286000"/>
            <a:ext cx="4759452" cy="1737360"/>
          </a:xfrm>
          <a:prstGeom prst="rect">
            <a:avLst/>
          </a:prstGeom>
          <a:noFill/>
          <a:ln/>
        </p:spPr>
        <p:txBody>
          <a:bodyPr wrap="square" lIns="0" tIns="0" rIns="0" bIns="0" rtlCol="0" anchor="t"/>
          <a:lstStyle/>
          <a:p>
            <a:pPr marL="342900" indent="-342900">
              <a:lnSpc>
                <a:spcPct val="115000"/>
              </a:lnSpc>
              <a:spcAft>
                <a:spcPts val="900"/>
              </a:spcAft>
              <a:buSzPct val="100000"/>
              <a:buChar char="•"/>
            </a:pPr>
            <a:r>
              <a:rPr lang="en-US" sz="1350" dirty="0">
                <a:solidFill>
                  <a:srgbClr val="1D4F4B"/>
                </a:solidFill>
                <a:latin typeface="Calibri" pitchFamily="34" charset="0"/>
                <a:ea typeface="Calibri" pitchFamily="34" charset="-122"/>
                <a:cs typeface="Calibri" pitchFamily="34" charset="-120"/>
              </a:rPr>
              <a:t>Folders of instructions and scripts the agent loads on demand</a:t>
            </a:r>
            <a:endParaRPr lang="en-US" sz="1350" dirty="0"/>
          </a:p>
          <a:p>
            <a:pPr marL="342900" indent="-342900">
              <a:lnSpc>
                <a:spcPct val="115000"/>
              </a:lnSpc>
              <a:spcAft>
                <a:spcPts val="900"/>
              </a:spcAft>
              <a:buSzPct val="100000"/>
              <a:buChar char="•"/>
            </a:pPr>
            <a:r>
              <a:rPr lang="en-US" sz="1350" dirty="0">
                <a:solidFill>
                  <a:srgbClr val="1D4F4B"/>
                </a:solidFill>
                <a:latin typeface="Calibri" pitchFamily="34" charset="0"/>
                <a:ea typeface="Calibri" pitchFamily="34" charset="-122"/>
                <a:cs typeface="Calibri" pitchFamily="34" charset="-120"/>
              </a:rPr>
              <a:t>Encode conventions: star schema, DAX patterns, PBIP structure, AI readiness</a:t>
            </a:r>
            <a:endParaRPr lang="en-US" sz="1350" dirty="0"/>
          </a:p>
          <a:p>
            <a:pPr marL="342900" indent="-342900">
              <a:lnSpc>
                <a:spcPct val="115000"/>
              </a:lnSpc>
              <a:spcAft>
                <a:spcPts val="900"/>
              </a:spcAft>
              <a:buSzPct val="100000"/>
              <a:buChar char="•"/>
            </a:pPr>
            <a:r>
              <a:rPr lang="en-US" sz="1350" dirty="0">
                <a:solidFill>
                  <a:srgbClr val="1D4F4B"/>
                </a:solidFill>
                <a:latin typeface="Calibri" pitchFamily="34" charset="0"/>
                <a:ea typeface="Calibri" pitchFamily="34" charset="-122"/>
                <a:cs typeface="Calibri" pitchFamily="34" charset="-120"/>
              </a:rPr>
              <a:t>Reusable and shareable — the team's standards, not one person's habits</a:t>
            </a:r>
            <a:endParaRPr lang="en-US" sz="1350" dirty="0"/>
          </a:p>
        </p:txBody>
      </p:sp>
      <p:sp>
        <p:nvSpPr>
          <p:cNvPr id="12" name="Shape 9"/>
          <p:cNvSpPr/>
          <p:nvPr/>
        </p:nvSpPr>
        <p:spPr>
          <a:xfrm>
            <a:off x="6277356" y="1627632"/>
            <a:ext cx="5344668" cy="2514600"/>
          </a:xfrm>
          <a:prstGeom prst="roundRect">
            <a:avLst>
              <a:gd name="adj" fmla="val 3273"/>
            </a:avLst>
          </a:prstGeom>
          <a:solidFill>
            <a:srgbClr val="FDF6E3"/>
          </a:solidFill>
          <a:ln w="12700">
            <a:solidFill>
              <a:srgbClr val="EBD9A8"/>
            </a:solidFill>
            <a:prstDash val="solid"/>
          </a:ln>
          <a:effectLst>
            <a:outerShdw blurRad="127000" dist="25400" dir="5400000" algn="bl" rotWithShape="0">
              <a:srgbClr val="9AA0B5">
                <a:alpha val="28000"/>
              </a:srgbClr>
            </a:outerShdw>
          </a:effectLst>
        </p:spPr>
        <p:txBody>
          <a:bodyPr/>
          <a:lstStyle/>
          <a:p>
            <a:endParaRPr lang="en-US"/>
          </a:p>
        </p:txBody>
      </p:sp>
      <p:sp>
        <p:nvSpPr>
          <p:cNvPr id="13" name="Text 10"/>
          <p:cNvSpPr/>
          <p:nvPr/>
        </p:nvSpPr>
        <p:spPr>
          <a:xfrm>
            <a:off x="6569964" y="1810512"/>
            <a:ext cx="3881628" cy="365760"/>
          </a:xfrm>
          <a:prstGeom prst="rect">
            <a:avLst/>
          </a:prstGeom>
          <a:noFill/>
          <a:ln/>
        </p:spPr>
        <p:txBody>
          <a:bodyPr wrap="square" lIns="0" tIns="0" rIns="0" bIns="0" rtlCol="0" anchor="ctr"/>
          <a:lstStyle/>
          <a:p>
            <a:pPr marL="0" indent="0">
              <a:buNone/>
            </a:pPr>
            <a:r>
              <a:rPr lang="en-US" sz="2200" b="1" dirty="0">
                <a:solidFill>
                  <a:srgbClr val="8A6E12"/>
                </a:solidFill>
                <a:latin typeface="Cambria" pitchFamily="34" charset="0"/>
                <a:ea typeface="Cambria" pitchFamily="34" charset="-122"/>
                <a:cs typeface="Cambria" pitchFamily="34" charset="-120"/>
              </a:rPr>
              <a:t>Tools (MCP)</a:t>
            </a:r>
            <a:endParaRPr lang="en-US" sz="2200" dirty="0"/>
          </a:p>
        </p:txBody>
      </p:sp>
      <p:sp>
        <p:nvSpPr>
          <p:cNvPr id="14" name="Text 11"/>
          <p:cNvSpPr/>
          <p:nvPr/>
        </p:nvSpPr>
        <p:spPr>
          <a:xfrm>
            <a:off x="10067544" y="1883664"/>
            <a:ext cx="1280160" cy="274320"/>
          </a:xfrm>
          <a:prstGeom prst="rect">
            <a:avLst/>
          </a:prstGeom>
          <a:noFill/>
          <a:ln/>
        </p:spPr>
        <p:txBody>
          <a:bodyPr wrap="square" lIns="0" tIns="0" rIns="0" bIns="0" rtlCol="0" anchor="ctr"/>
          <a:lstStyle/>
          <a:p>
            <a:pPr marL="0" indent="0" algn="r">
              <a:buNone/>
            </a:pPr>
            <a:r>
              <a:rPr lang="en-US" sz="1300" b="1" dirty="0">
                <a:solidFill>
                  <a:srgbClr val="6B7280"/>
                </a:solidFill>
                <a:latin typeface="Calibri" pitchFamily="34" charset="0"/>
                <a:ea typeface="Calibri" pitchFamily="34" charset="-122"/>
                <a:cs typeface="Calibri" pitchFamily="34" charset="-120"/>
              </a:rPr>
              <a:t>How to do it</a:t>
            </a:r>
            <a:endParaRPr lang="en-US" sz="1300" dirty="0"/>
          </a:p>
        </p:txBody>
      </p:sp>
      <p:sp>
        <p:nvSpPr>
          <p:cNvPr id="15" name="Text 12"/>
          <p:cNvSpPr/>
          <p:nvPr/>
        </p:nvSpPr>
        <p:spPr>
          <a:xfrm>
            <a:off x="6569964" y="2286000"/>
            <a:ext cx="4759452" cy="1737360"/>
          </a:xfrm>
          <a:prstGeom prst="rect">
            <a:avLst/>
          </a:prstGeom>
          <a:noFill/>
          <a:ln/>
        </p:spPr>
        <p:txBody>
          <a:bodyPr wrap="square" lIns="0" tIns="0" rIns="0" bIns="0" rtlCol="0" anchor="t"/>
          <a:lstStyle/>
          <a:p>
            <a:pPr marL="342900" indent="-342900">
              <a:lnSpc>
                <a:spcPct val="115000"/>
              </a:lnSpc>
              <a:spcAft>
                <a:spcPts val="900"/>
              </a:spcAft>
              <a:buSzPct val="100000"/>
              <a:buChar char="•"/>
            </a:pPr>
            <a:r>
              <a:rPr lang="en-US" sz="1350" dirty="0">
                <a:solidFill>
                  <a:srgbClr val="6B551A"/>
                </a:solidFill>
                <a:latin typeface="Calibri" pitchFamily="34" charset="0"/>
                <a:ea typeface="Calibri" pitchFamily="34" charset="-122"/>
                <a:cs typeface="Calibri" pitchFamily="34" charset="-120"/>
              </a:rPr>
              <a:t>Inspect live schemas, run DAX, edit the model, validate reports</a:t>
            </a:r>
            <a:endParaRPr lang="en-US" sz="1350" dirty="0"/>
          </a:p>
          <a:p>
            <a:pPr marL="342900" indent="-342900">
              <a:lnSpc>
                <a:spcPct val="115000"/>
              </a:lnSpc>
              <a:spcAft>
                <a:spcPts val="900"/>
              </a:spcAft>
              <a:buSzPct val="100000"/>
              <a:buChar char="•"/>
            </a:pPr>
            <a:r>
              <a:rPr lang="en-US" sz="1350" dirty="0">
                <a:solidFill>
                  <a:srgbClr val="6B551A"/>
                </a:solidFill>
                <a:latin typeface="Calibri" pitchFamily="34" charset="0"/>
                <a:ea typeface="Calibri" pitchFamily="34" charset="-122"/>
                <a:cs typeface="Calibri" pitchFamily="34" charset="-120"/>
              </a:rPr>
              <a:t>Drive Power BI Desktop directly — reload, screenshot, verify</a:t>
            </a:r>
            <a:endParaRPr lang="en-US" sz="1350" dirty="0"/>
          </a:p>
          <a:p>
            <a:pPr marL="342900" indent="-342900">
              <a:lnSpc>
                <a:spcPct val="115000"/>
              </a:lnSpc>
              <a:spcAft>
                <a:spcPts val="900"/>
              </a:spcAft>
              <a:buSzPct val="100000"/>
              <a:buChar char="•"/>
            </a:pPr>
            <a:r>
              <a:rPr lang="en-US" sz="1350" dirty="0">
                <a:solidFill>
                  <a:srgbClr val="6B551A"/>
                </a:solidFill>
                <a:latin typeface="Calibri" pitchFamily="34" charset="0"/>
                <a:ea typeface="Calibri" pitchFamily="34" charset="-122"/>
                <a:cs typeface="Calibri" pitchFamily="34" charset="-120"/>
              </a:rPr>
              <a:t>Real actions against real objects, under your permissions</a:t>
            </a:r>
            <a:endParaRPr lang="en-US" sz="1350" dirty="0"/>
          </a:p>
        </p:txBody>
      </p:sp>
      <p:sp>
        <p:nvSpPr>
          <p:cNvPr id="16" name="Shape 13"/>
          <p:cNvSpPr/>
          <p:nvPr/>
        </p:nvSpPr>
        <p:spPr>
          <a:xfrm>
            <a:off x="566928" y="4370832"/>
            <a:ext cx="11055096" cy="1417320"/>
          </a:xfrm>
          <a:prstGeom prst="roundRect">
            <a:avLst>
              <a:gd name="adj" fmla="val 5806"/>
            </a:avLst>
          </a:prstGeom>
          <a:solidFill>
            <a:srgbClr val="14182E"/>
          </a:solidFill>
          <a:ln w="12700">
            <a:solidFill>
              <a:srgbClr val="232A52"/>
            </a:solidFill>
            <a:prstDash val="solid"/>
          </a:ln>
          <a:effectLst>
            <a:outerShdw blurRad="127000" dist="25400" dir="5400000" algn="bl" rotWithShape="0">
              <a:srgbClr val="9AA0B5">
                <a:alpha val="28000"/>
              </a:srgbClr>
            </a:outerShdw>
          </a:effectLst>
        </p:spPr>
        <p:txBody>
          <a:bodyPr/>
          <a:lstStyle/>
          <a:p>
            <a:endParaRPr lang="en-US"/>
          </a:p>
        </p:txBody>
      </p:sp>
      <p:sp>
        <p:nvSpPr>
          <p:cNvPr id="17" name="Text 14"/>
          <p:cNvSpPr/>
          <p:nvPr/>
        </p:nvSpPr>
        <p:spPr>
          <a:xfrm>
            <a:off x="877824" y="4517136"/>
            <a:ext cx="10433304" cy="274320"/>
          </a:xfrm>
          <a:prstGeom prst="rect">
            <a:avLst/>
          </a:prstGeom>
          <a:noFill/>
          <a:ln/>
        </p:spPr>
        <p:txBody>
          <a:bodyPr wrap="square" lIns="0" tIns="0" rIns="0" bIns="0" rtlCol="0" anchor="ctr"/>
          <a:lstStyle/>
          <a:p>
            <a:pPr marL="0" indent="0">
              <a:buNone/>
            </a:pPr>
            <a:r>
              <a:rPr lang="en-US" sz="1100" b="1" kern="0" spc="200" dirty="0">
                <a:solidFill>
                  <a:srgbClr val="F2C230"/>
                </a:solidFill>
                <a:latin typeface="Calibri" pitchFamily="34" charset="0"/>
                <a:ea typeface="Calibri" pitchFamily="34" charset="-122"/>
                <a:cs typeface="Calibri" pitchFamily="34" charset="-120"/>
              </a:rPr>
              <a:t>The loop</a:t>
            </a:r>
            <a:endParaRPr lang="en-US" sz="1100" dirty="0"/>
          </a:p>
        </p:txBody>
      </p:sp>
      <p:sp>
        <p:nvSpPr>
          <p:cNvPr id="18" name="Text 15"/>
          <p:cNvSpPr/>
          <p:nvPr/>
        </p:nvSpPr>
        <p:spPr>
          <a:xfrm>
            <a:off x="877824" y="4828032"/>
            <a:ext cx="10433304" cy="77724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Describe the outcome  →  the agent reads the live model  →  it proposes concrete changes  →  you approve  →  it applies them  →  it verifies and reports back</a:t>
            </a:r>
            <a:endParaRPr lang="en-US" sz="1500" dirty="0"/>
          </a:p>
        </p:txBody>
      </p:sp>
      <p:sp>
        <p:nvSpPr>
          <p:cNvPr id="19" name="Text 16"/>
          <p:cNvSpPr/>
          <p:nvPr/>
        </p:nvSpPr>
        <p:spPr>
          <a:xfrm>
            <a:off x="566928" y="5943600"/>
            <a:ext cx="8311896" cy="384048"/>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You stay the reviewer. That is the part that does not get automated away.</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9134856" y="6381598"/>
            <a:ext cx="310896" cy="20117"/>
          </a:xfrm>
          <a:prstGeom prst="rect">
            <a:avLst/>
          </a:prstGeom>
          <a:solidFill>
            <a:srgbClr val="F2C230"/>
          </a:solidFill>
          <a:ln w="12700">
            <a:solidFill>
              <a:srgbClr val="F2C230"/>
            </a:solidFill>
            <a:prstDash val="solid"/>
          </a:ln>
        </p:spPr>
        <p:txBody>
          <a:bodyPr/>
          <a:p/>
        </p:txBody>
      </p:sp>
      <p:sp>
        <p:nvSpPr>
          <p:cNvPr id="4" name="Text 1"/>
          <p:cNvSpPr/>
          <p:nvPr/>
        </p:nvSpPr>
        <p:spPr>
          <a:xfrm>
            <a:off x="9518904" y="6272784"/>
            <a:ext cx="2103120" cy="237744"/>
          </a:xfrm>
          <a:prstGeom prst="rect">
            <a:avLst/>
          </a:prstGeom>
          <a:noFill/>
          <a:ln/>
        </p:spPr>
        <p:txBody>
          <a:bodyPr wrap="square" lIns="0" tIns="0" rIns="0" bIns="0" rtlCol="0" anchor="ctr"/>
          <a:lstStyle/>
          <a:p>
            <a:pPr algn="r" indent="0" marL="0">
              <a:buNone/>
            </a:pPr>
            <a:r>
              <a:rPr lang="en-US" sz="900" b="1" spc="120" kern="0" dirty="0">
                <a:solidFill>
                  <a:srgbClr val="6B7280"/>
                </a:solidFill>
                <a:latin typeface="Calibri" pitchFamily="34" charset="0"/>
                <a:ea typeface="Calibri" pitchFamily="34" charset="-122"/>
                <a:cs typeface="Calibri" pitchFamily="34" charset="-120"/>
              </a:rPr>
              <a:t>9 / 22  ·  SETUP</a:t>
            </a:r>
            <a:endParaRPr lang="en-US" sz="900" dirty="0"/>
          </a:p>
        </p:txBody>
      </p:sp>
      <p:sp>
        <p:nvSpPr>
          <p:cNvPr id="5" name="Shape 2"/>
          <p:cNvSpPr/>
          <p:nvPr/>
        </p:nvSpPr>
        <p:spPr>
          <a:xfrm>
            <a:off x="566928" y="274320"/>
            <a:ext cx="566928" cy="41148"/>
          </a:xfrm>
          <a:prstGeom prst="rect">
            <a:avLst/>
          </a:prstGeom>
          <a:solidFill>
            <a:srgbClr val="F2C230"/>
          </a:solidFill>
          <a:ln w="12700">
            <a:solidFill>
              <a:srgbClr val="F2C230"/>
            </a:solidFill>
            <a:prstDash val="solid"/>
          </a:ln>
        </p:spPr>
        <p:txBody>
          <a:bodyPr/>
          <a:p/>
        </p:txBody>
      </p:sp>
      <p:sp>
        <p:nvSpPr>
          <p:cNvPr id="6" name="Text 3"/>
          <p:cNvSpPr/>
          <p:nvPr/>
        </p:nvSpPr>
        <p:spPr>
          <a:xfrm>
            <a:off x="566928" y="402336"/>
            <a:ext cx="11055096" cy="256032"/>
          </a:xfrm>
          <a:prstGeom prst="rect">
            <a:avLst/>
          </a:prstGeom>
          <a:noFill/>
          <a:ln/>
        </p:spPr>
        <p:txBody>
          <a:bodyPr wrap="square" lIns="0" tIns="0" rIns="0" bIns="0" rtlCol="0" anchor="ctr"/>
          <a:lstStyle/>
          <a:p>
            <a:pPr indent="0" marL="0">
              <a:buNone/>
            </a:pPr>
            <a:r>
              <a:rPr lang="en-US" sz="1100" b="1" spc="220" kern="0" dirty="0">
                <a:solidFill>
                  <a:srgbClr val="F2C230"/>
                </a:solidFill>
                <a:latin typeface="Calibri" pitchFamily="34" charset="0"/>
                <a:ea typeface="Calibri" pitchFamily="34" charset="-122"/>
                <a:cs typeface="Calibri" pitchFamily="34" charset="-120"/>
              </a:rPr>
              <a:t>SETUP</a:t>
            </a:r>
            <a:endParaRPr lang="en-US" sz="1100" dirty="0"/>
          </a:p>
        </p:txBody>
      </p:sp>
      <p:sp>
        <p:nvSpPr>
          <p:cNvPr id="7" name="Text 4"/>
          <p:cNvSpPr/>
          <p:nvPr/>
        </p:nvSpPr>
        <p:spPr>
          <a:xfrm>
            <a:off x="566928" y="676656"/>
            <a:ext cx="11055096" cy="621792"/>
          </a:xfrm>
          <a:prstGeom prst="rect">
            <a:avLst/>
          </a:prstGeom>
          <a:noFill/>
          <a:ln/>
        </p:spPr>
        <p:txBody>
          <a:bodyPr wrap="square" lIns="0" tIns="0" rIns="0" bIns="0" rtlCol="0" anchor="ctr"/>
          <a:lstStyle/>
          <a:p>
            <a:pPr indent="0" marL="0">
              <a:buNone/>
            </a:pPr>
            <a:r>
              <a:rPr lang="en-US" sz="3400" b="1" dirty="0">
                <a:solidFill>
                  <a:srgbClr val="14182E"/>
                </a:solidFill>
                <a:latin typeface="Cambria" pitchFamily="34" charset="0"/>
                <a:ea typeface="Cambria" pitchFamily="34" charset="-122"/>
                <a:cs typeface="Cambria" pitchFamily="34" charset="-120"/>
              </a:rPr>
              <a:t>Install it: three steps, no JSON</a:t>
            </a:r>
            <a:endParaRPr lang="en-US" sz="3400" dirty="0"/>
          </a:p>
        </p:txBody>
      </p:sp>
      <p:sp>
        <p:nvSpPr>
          <p:cNvPr id="8" name="Shape 5"/>
          <p:cNvSpPr/>
          <p:nvPr/>
        </p:nvSpPr>
        <p:spPr>
          <a:xfrm>
            <a:off x="566928" y="1426464"/>
            <a:ext cx="3502152" cy="1572768"/>
          </a:xfrm>
          <a:prstGeom prst="roundRect">
            <a:avLst>
              <a:gd name="adj" fmla="val 5233"/>
            </a:avLst>
          </a:prstGeom>
          <a:solidFill>
            <a:srgbClr val="FDF6E3"/>
          </a:solidFill>
          <a:ln w="12700">
            <a:solidFill>
              <a:srgbClr val="EBD9A8"/>
            </a:solidFill>
            <a:prstDash val="solid"/>
          </a:ln>
          <a:effectLst>
            <a:outerShdw sx="100000" sy="100000" kx="0" ky="0" algn="bl" rotWithShape="0" blurRad="127000" dist="25400" dir="5400000">
              <a:srgbClr val="9AA0B5">
                <a:alpha val="28000"/>
              </a:srgbClr>
            </a:outerShdw>
          </a:effectLst>
        </p:spPr>
        <p:txBody>
          <a:bodyPr/>
          <a:p/>
        </p:txBody>
      </p:sp>
      <p:sp>
        <p:nvSpPr>
          <p:cNvPr id="9" name="Shape 6"/>
          <p:cNvSpPr/>
          <p:nvPr/>
        </p:nvSpPr>
        <p:spPr>
          <a:xfrm>
            <a:off x="804672" y="1591056"/>
            <a:ext cx="384048" cy="384048"/>
          </a:xfrm>
          <a:prstGeom prst="ellipse">
            <a:avLst/>
          </a:prstGeom>
          <a:solidFill>
            <a:srgbClr val="F2C230"/>
          </a:solidFill>
          <a:ln w="12700">
            <a:solidFill>
              <a:srgbClr val="F2C230"/>
            </a:solidFill>
            <a:prstDash val="solid"/>
          </a:ln>
        </p:spPr>
        <p:txBody>
          <a:bodyPr/>
          <a:p/>
        </p:txBody>
      </p:sp>
      <p:sp>
        <p:nvSpPr>
          <p:cNvPr id="10" name="Text 7"/>
          <p:cNvSpPr/>
          <p:nvPr/>
        </p:nvSpPr>
        <p:spPr>
          <a:xfrm>
            <a:off x="804672" y="1591056"/>
            <a:ext cx="384048" cy="384048"/>
          </a:xfrm>
          <a:prstGeom prst="rect">
            <a:avLst/>
          </a:prstGeom>
          <a:noFill/>
          <a:ln/>
        </p:spPr>
        <p:txBody>
          <a:bodyPr wrap="square" lIns="0" tIns="0" rIns="0" bIns="0" rtlCol="0" anchor="ctr"/>
          <a:lstStyle/>
          <a:p>
            <a:pPr algn="ctr" indent="0" marL="0">
              <a:buNone/>
            </a:pPr>
            <a:r>
              <a:rPr lang="en-US" sz="1300" b="1" dirty="0">
                <a:solidFill>
                  <a:srgbClr val="14182E"/>
                </a:solidFill>
                <a:latin typeface="Calibri" pitchFamily="34" charset="0"/>
                <a:ea typeface="Calibri" pitchFamily="34" charset="-122"/>
                <a:cs typeface="Calibri" pitchFamily="34" charset="-120"/>
              </a:rPr>
              <a:t>1</a:t>
            </a:r>
            <a:endParaRPr lang="en-US" sz="1300" dirty="0"/>
          </a:p>
        </p:txBody>
      </p:sp>
      <p:sp>
        <p:nvSpPr>
          <p:cNvPr id="11" name="Text 8"/>
          <p:cNvSpPr/>
          <p:nvPr/>
        </p:nvSpPr>
        <p:spPr>
          <a:xfrm>
            <a:off x="1298448" y="1609344"/>
            <a:ext cx="2532888" cy="347472"/>
          </a:xfrm>
          <a:prstGeom prst="rect">
            <a:avLst/>
          </a:prstGeom>
          <a:noFill/>
          <a:ln/>
        </p:spPr>
        <p:txBody>
          <a:bodyPr wrap="square" lIns="0" tIns="0" rIns="0" bIns="0" rtlCol="0" anchor="ctr"/>
          <a:lstStyle/>
          <a:p>
            <a:pPr indent="0" marL="0">
              <a:buNone/>
            </a:pPr>
            <a:r>
              <a:rPr lang="en-US" sz="1700" b="1" dirty="0">
                <a:solidFill>
                  <a:srgbClr val="14182E"/>
                </a:solidFill>
                <a:latin typeface="Cambria" pitchFamily="34" charset="0"/>
                <a:ea typeface="Cambria" pitchFamily="34" charset="-122"/>
                <a:cs typeface="Cambria" pitchFamily="34" charset="-120"/>
              </a:rPr>
              <a:t>Install the extension</a:t>
            </a:r>
            <a:endParaRPr lang="en-US" sz="1700" dirty="0"/>
          </a:p>
        </p:txBody>
      </p:sp>
      <p:sp>
        <p:nvSpPr>
          <p:cNvPr id="12" name="Text 9"/>
          <p:cNvSpPr/>
          <p:nvPr/>
        </p:nvSpPr>
        <p:spPr>
          <a:xfrm>
            <a:off x="804672" y="2103120"/>
            <a:ext cx="3026664" cy="804672"/>
          </a:xfrm>
          <a:prstGeom prst="rect">
            <a:avLst/>
          </a:prstGeom>
          <a:noFill/>
          <a:ln/>
        </p:spPr>
        <p:txBody>
          <a:bodyPr wrap="square" lIns="0" tIns="0" rIns="0" bIns="0" rtlCol="0" anchor="ctr"/>
          <a:lstStyle/>
          <a:p>
            <a:pPr indent="0" marL="0">
              <a:lnSpc>
                <a:spcPct val="115000"/>
              </a:lnSpc>
              <a:buNone/>
            </a:pPr>
            <a:r>
              <a:rPr lang="en-US" sz="1050" dirty="0">
                <a:solidFill>
                  <a:srgbClr val="6B7280"/>
                </a:solidFill>
                <a:latin typeface="Calibri" pitchFamily="34" charset="0"/>
                <a:ea typeface="Calibri" pitchFamily="34" charset="-122"/>
                <a:cs typeface="Calibri" pitchFamily="34" charset="-120"/>
              </a:rPr>
              <a:t>VS Code → Extensions (Ctrl+Shift+X) → search powerbi-modeling-mcp → Install.</a:t>
            </a:r>
            <a:endParaRPr lang="en-US" sz="1050" dirty="0"/>
          </a:p>
          <a:p>
            <a:pPr indent="0" marL="0">
              <a:lnSpc>
                <a:spcPct val="115000"/>
              </a:lnSpc>
              <a:buNone/>
            </a:pPr>
            <a:r>
              <a:rPr lang="en-US" sz="1050" dirty="0">
                <a:solidFill>
                  <a:srgbClr val="6B7280"/>
                </a:solidFill>
                <a:latin typeface="Calibri" pitchFamily="34" charset="0"/>
                <a:ea typeface="Calibri" pitchFamily="34" charset="-122"/>
                <a:cs typeface="Calibri" pitchFamily="34" charset="-120"/>
              </a:rPr>
              <a:t>One-click: aka.ms/powerbi-modeling-mcp-vscode</a:t>
            </a:r>
            <a:endParaRPr lang="en-US" sz="1050" dirty="0"/>
          </a:p>
        </p:txBody>
      </p:sp>
      <p:sp>
        <p:nvSpPr>
          <p:cNvPr id="13" name="Shape 10"/>
          <p:cNvSpPr/>
          <p:nvPr/>
        </p:nvSpPr>
        <p:spPr>
          <a:xfrm>
            <a:off x="4343400" y="1426464"/>
            <a:ext cx="3502152" cy="1572768"/>
          </a:xfrm>
          <a:prstGeom prst="roundRect">
            <a:avLst>
              <a:gd name="adj" fmla="val 5233"/>
            </a:avLst>
          </a:prstGeom>
          <a:solidFill>
            <a:srgbClr val="FAFAFD"/>
          </a:solidFill>
          <a:ln w="12700">
            <a:solidFill>
              <a:srgbClr val="DFE2EC"/>
            </a:solidFill>
            <a:prstDash val="solid"/>
          </a:ln>
          <a:effectLst>
            <a:outerShdw sx="100000" sy="100000" kx="0" ky="0" algn="bl" rotWithShape="0" blurRad="127000" dist="25400" dir="5400000">
              <a:srgbClr val="9AA0B5">
                <a:alpha val="28000"/>
              </a:srgbClr>
            </a:outerShdw>
          </a:effectLst>
        </p:spPr>
        <p:txBody>
          <a:bodyPr/>
          <a:p/>
        </p:txBody>
      </p:sp>
      <p:sp>
        <p:nvSpPr>
          <p:cNvPr id="14" name="Shape 11"/>
          <p:cNvSpPr/>
          <p:nvPr/>
        </p:nvSpPr>
        <p:spPr>
          <a:xfrm>
            <a:off x="4581144" y="1591056"/>
            <a:ext cx="384048" cy="384048"/>
          </a:xfrm>
          <a:prstGeom prst="ellipse">
            <a:avLst/>
          </a:prstGeom>
          <a:solidFill>
            <a:srgbClr val="F2C230"/>
          </a:solidFill>
          <a:ln w="12700">
            <a:solidFill>
              <a:srgbClr val="F2C230"/>
            </a:solidFill>
            <a:prstDash val="solid"/>
          </a:ln>
        </p:spPr>
        <p:txBody>
          <a:bodyPr/>
          <a:p/>
        </p:txBody>
      </p:sp>
      <p:sp>
        <p:nvSpPr>
          <p:cNvPr id="15" name="Text 12"/>
          <p:cNvSpPr/>
          <p:nvPr/>
        </p:nvSpPr>
        <p:spPr>
          <a:xfrm>
            <a:off x="4581144" y="1591056"/>
            <a:ext cx="384048" cy="384048"/>
          </a:xfrm>
          <a:prstGeom prst="rect">
            <a:avLst/>
          </a:prstGeom>
          <a:noFill/>
          <a:ln/>
        </p:spPr>
        <p:txBody>
          <a:bodyPr wrap="square" lIns="0" tIns="0" rIns="0" bIns="0" rtlCol="0" anchor="ctr"/>
          <a:lstStyle/>
          <a:p>
            <a:pPr algn="ctr" indent="0" marL="0">
              <a:buNone/>
            </a:pPr>
            <a:r>
              <a:rPr lang="en-US" sz="1300" b="1" dirty="0">
                <a:solidFill>
                  <a:srgbClr val="14182E"/>
                </a:solidFill>
                <a:latin typeface="Calibri" pitchFamily="34" charset="0"/>
                <a:ea typeface="Calibri" pitchFamily="34" charset="-122"/>
                <a:cs typeface="Calibri" pitchFamily="34" charset="-120"/>
              </a:rPr>
              <a:t>2</a:t>
            </a:r>
            <a:endParaRPr lang="en-US" sz="1300" dirty="0"/>
          </a:p>
        </p:txBody>
      </p:sp>
      <p:sp>
        <p:nvSpPr>
          <p:cNvPr id="16" name="Text 13"/>
          <p:cNvSpPr/>
          <p:nvPr/>
        </p:nvSpPr>
        <p:spPr>
          <a:xfrm>
            <a:off x="5074920" y="1609344"/>
            <a:ext cx="2532888" cy="347472"/>
          </a:xfrm>
          <a:prstGeom prst="rect">
            <a:avLst/>
          </a:prstGeom>
          <a:noFill/>
          <a:ln/>
        </p:spPr>
        <p:txBody>
          <a:bodyPr wrap="square" lIns="0" tIns="0" rIns="0" bIns="0" rtlCol="0" anchor="ctr"/>
          <a:lstStyle/>
          <a:p>
            <a:pPr indent="0" marL="0">
              <a:buNone/>
            </a:pPr>
            <a:r>
              <a:rPr lang="en-US" sz="1700" b="1" dirty="0">
                <a:solidFill>
                  <a:srgbClr val="14182E"/>
                </a:solidFill>
                <a:latin typeface="Cambria" pitchFamily="34" charset="0"/>
                <a:ea typeface="Cambria" pitchFamily="34" charset="-122"/>
                <a:cs typeface="Cambria" pitchFamily="34" charset="-120"/>
              </a:rPr>
              <a:t>Confirm it's connected</a:t>
            </a:r>
            <a:endParaRPr lang="en-US" sz="1700" dirty="0"/>
          </a:p>
        </p:txBody>
      </p:sp>
      <p:sp>
        <p:nvSpPr>
          <p:cNvPr id="17" name="Text 14"/>
          <p:cNvSpPr/>
          <p:nvPr/>
        </p:nvSpPr>
        <p:spPr>
          <a:xfrm>
            <a:off x="4581144" y="2103120"/>
            <a:ext cx="3026664" cy="804672"/>
          </a:xfrm>
          <a:prstGeom prst="rect">
            <a:avLst/>
          </a:prstGeom>
          <a:noFill/>
          <a:ln/>
        </p:spPr>
        <p:txBody>
          <a:bodyPr wrap="square" lIns="0" tIns="0" rIns="0" bIns="0" rtlCol="0" anchor="ctr"/>
          <a:lstStyle/>
          <a:p>
            <a:pPr indent="0" marL="0">
              <a:lnSpc>
                <a:spcPct val="115000"/>
              </a:lnSpc>
              <a:buNone/>
            </a:pPr>
            <a:r>
              <a:rPr lang="en-US" sz="1050" dirty="0">
                <a:solidFill>
                  <a:srgbClr val="6B7280"/>
                </a:solidFill>
                <a:latin typeface="Calibri" pitchFamily="34" charset="0"/>
                <a:ea typeface="Calibri" pitchFamily="34" charset="-122"/>
                <a:cs typeface="Calibri" pitchFamily="34" charset="-120"/>
              </a:rPr>
              <a:t>Copilot Chat → Agent mode → Configure Tools.</a:t>
            </a:r>
            <a:endParaRPr lang="en-US" sz="1050" dirty="0"/>
          </a:p>
          <a:p>
            <a:pPr indent="0" marL="0">
              <a:lnSpc>
                <a:spcPct val="115000"/>
              </a:lnSpc>
              <a:buNone/>
            </a:pPr>
            <a:r>
              <a:rPr lang="en-US" sz="1050" dirty="0">
                <a:solidFill>
                  <a:srgbClr val="6B7280"/>
                </a:solidFill>
                <a:latin typeface="Calibri" pitchFamily="34" charset="0"/>
                <a:ea typeface="Calibri" pitchFamily="34" charset="-122"/>
                <a:cs typeface="Calibri" pitchFamily="34" charset="-120"/>
              </a:rPr>
              <a:t>The Power BI tools should be listed and ticked.</a:t>
            </a:r>
            <a:endParaRPr lang="en-US" sz="1050" dirty="0"/>
          </a:p>
        </p:txBody>
      </p:sp>
      <p:sp>
        <p:nvSpPr>
          <p:cNvPr id="18" name="Shape 15"/>
          <p:cNvSpPr/>
          <p:nvPr/>
        </p:nvSpPr>
        <p:spPr>
          <a:xfrm>
            <a:off x="8119872" y="1426464"/>
            <a:ext cx="3502152" cy="1572768"/>
          </a:xfrm>
          <a:prstGeom prst="roundRect">
            <a:avLst>
              <a:gd name="adj" fmla="val 5233"/>
            </a:avLst>
          </a:prstGeom>
          <a:solidFill>
            <a:srgbClr val="FAFAFD"/>
          </a:solidFill>
          <a:ln w="12700">
            <a:solidFill>
              <a:srgbClr val="DFE2EC"/>
            </a:solidFill>
            <a:prstDash val="solid"/>
          </a:ln>
          <a:effectLst>
            <a:outerShdw sx="100000" sy="100000" kx="0" ky="0" algn="bl" rotWithShape="0" blurRad="127000" dist="25400" dir="5400000">
              <a:srgbClr val="9AA0B5">
                <a:alpha val="28000"/>
              </a:srgbClr>
            </a:outerShdw>
          </a:effectLst>
        </p:spPr>
        <p:txBody>
          <a:bodyPr/>
          <a:p/>
        </p:txBody>
      </p:sp>
      <p:sp>
        <p:nvSpPr>
          <p:cNvPr id="19" name="Shape 16"/>
          <p:cNvSpPr/>
          <p:nvPr/>
        </p:nvSpPr>
        <p:spPr>
          <a:xfrm>
            <a:off x="8357616" y="1591056"/>
            <a:ext cx="384048" cy="384048"/>
          </a:xfrm>
          <a:prstGeom prst="ellipse">
            <a:avLst/>
          </a:prstGeom>
          <a:solidFill>
            <a:srgbClr val="F2C230"/>
          </a:solidFill>
          <a:ln w="12700">
            <a:solidFill>
              <a:srgbClr val="F2C230"/>
            </a:solidFill>
            <a:prstDash val="solid"/>
          </a:ln>
        </p:spPr>
        <p:txBody>
          <a:bodyPr/>
          <a:p/>
        </p:txBody>
      </p:sp>
      <p:sp>
        <p:nvSpPr>
          <p:cNvPr id="20" name="Text 17"/>
          <p:cNvSpPr/>
          <p:nvPr/>
        </p:nvSpPr>
        <p:spPr>
          <a:xfrm>
            <a:off x="8357616" y="1591056"/>
            <a:ext cx="384048" cy="384048"/>
          </a:xfrm>
          <a:prstGeom prst="rect">
            <a:avLst/>
          </a:prstGeom>
          <a:noFill/>
          <a:ln/>
        </p:spPr>
        <p:txBody>
          <a:bodyPr wrap="square" lIns="0" tIns="0" rIns="0" bIns="0" rtlCol="0" anchor="ctr"/>
          <a:lstStyle/>
          <a:p>
            <a:pPr algn="ctr" indent="0" marL="0">
              <a:buNone/>
            </a:pPr>
            <a:r>
              <a:rPr lang="en-US" sz="1300" b="1" dirty="0">
                <a:solidFill>
                  <a:srgbClr val="14182E"/>
                </a:solidFill>
                <a:latin typeface="Calibri" pitchFamily="34" charset="0"/>
                <a:ea typeface="Calibri" pitchFamily="34" charset="-122"/>
                <a:cs typeface="Calibri" pitchFamily="34" charset="-120"/>
              </a:rPr>
              <a:t>3</a:t>
            </a:r>
            <a:endParaRPr lang="en-US" sz="1300" dirty="0"/>
          </a:p>
        </p:txBody>
      </p:sp>
      <p:sp>
        <p:nvSpPr>
          <p:cNvPr id="21" name="Text 18"/>
          <p:cNvSpPr/>
          <p:nvPr/>
        </p:nvSpPr>
        <p:spPr>
          <a:xfrm>
            <a:off x="8851392" y="1609344"/>
            <a:ext cx="2532888" cy="347472"/>
          </a:xfrm>
          <a:prstGeom prst="rect">
            <a:avLst/>
          </a:prstGeom>
          <a:noFill/>
          <a:ln/>
        </p:spPr>
        <p:txBody>
          <a:bodyPr wrap="square" lIns="0" tIns="0" rIns="0" bIns="0" rtlCol="0" anchor="ctr"/>
          <a:lstStyle/>
          <a:p>
            <a:pPr indent="0" marL="0">
              <a:buNone/>
            </a:pPr>
            <a:r>
              <a:rPr lang="en-US" sz="1700" b="1" dirty="0">
                <a:solidFill>
                  <a:srgbClr val="14182E"/>
                </a:solidFill>
                <a:latin typeface="Cambria" pitchFamily="34" charset="0"/>
                <a:ea typeface="Cambria" pitchFamily="34" charset="-122"/>
                <a:cs typeface="Cambria" pitchFamily="34" charset="-120"/>
              </a:rPr>
              <a:t>Point it at a model</a:t>
            </a:r>
            <a:endParaRPr lang="en-US" sz="1700" dirty="0"/>
          </a:p>
        </p:txBody>
      </p:sp>
      <p:sp>
        <p:nvSpPr>
          <p:cNvPr id="22" name="Text 19"/>
          <p:cNvSpPr/>
          <p:nvPr/>
        </p:nvSpPr>
        <p:spPr>
          <a:xfrm>
            <a:off x="8357616" y="2103120"/>
            <a:ext cx="3026664" cy="804672"/>
          </a:xfrm>
          <a:prstGeom prst="rect">
            <a:avLst/>
          </a:prstGeom>
          <a:noFill/>
          <a:ln/>
        </p:spPr>
        <p:txBody>
          <a:bodyPr wrap="square" lIns="0" tIns="0" rIns="0" bIns="0" rtlCol="0" anchor="ctr"/>
          <a:lstStyle/>
          <a:p>
            <a:pPr indent="0" marL="0">
              <a:lnSpc>
                <a:spcPct val="115000"/>
              </a:lnSpc>
              <a:buNone/>
            </a:pPr>
            <a:r>
              <a:rPr lang="en-US" sz="1050" dirty="0">
                <a:solidFill>
                  <a:srgbClr val="6B7280"/>
                </a:solidFill>
                <a:latin typeface="Calibri" pitchFamily="34" charset="0"/>
                <a:ea typeface="Calibri" pitchFamily="34" charset="-122"/>
                <a:cs typeface="Calibri" pitchFamily="34" charset="-120"/>
              </a:rPr>
              <a:t>Open Power BI Desktop with a model loaded, then prompt.</a:t>
            </a:r>
            <a:endParaRPr lang="en-US" sz="1050" dirty="0"/>
          </a:p>
          <a:p>
            <a:pPr indent="0" marL="0">
              <a:lnSpc>
                <a:spcPct val="115000"/>
              </a:lnSpc>
              <a:buNone/>
            </a:pPr>
            <a:r>
              <a:rPr lang="en-US" sz="1050" dirty="0">
                <a:solidFill>
                  <a:srgbClr val="6B7280"/>
                </a:solidFill>
                <a:latin typeface="Calibri" pitchFamily="34" charset="0"/>
                <a:ea typeface="Calibri" pitchFamily="34" charset="-122"/>
                <a:cs typeface="Calibri" pitchFamily="34" charset="-120"/>
              </a:rPr>
              <a:t>“Connect to the running Desktop instance.”</a:t>
            </a:r>
            <a:endParaRPr lang="en-US" sz="1050" dirty="0"/>
          </a:p>
        </p:txBody>
      </p:sp>
      <p:sp>
        <p:nvSpPr>
          <p:cNvPr id="23" name="Text 20"/>
          <p:cNvSpPr/>
          <p:nvPr/>
        </p:nvSpPr>
        <p:spPr>
          <a:xfrm>
            <a:off x="566928" y="3145536"/>
            <a:ext cx="6400800" cy="256032"/>
          </a:xfrm>
          <a:prstGeom prst="rect">
            <a:avLst/>
          </a:prstGeom>
          <a:noFill/>
          <a:ln/>
        </p:spPr>
        <p:txBody>
          <a:bodyPr wrap="square" lIns="0" tIns="0" rIns="0" bIns="0" rtlCol="0" anchor="ctr"/>
          <a:lstStyle/>
          <a:p>
            <a:pPr indent="0" marL="0">
              <a:buNone/>
            </a:pPr>
            <a:r>
              <a:rPr lang="en-US" sz="1500" b="1" dirty="0">
                <a:solidFill>
                  <a:srgbClr val="14182E"/>
                </a:solidFill>
                <a:latin typeface="Cambria" pitchFamily="34" charset="0"/>
                <a:ea typeface="Cambria" pitchFamily="34" charset="-122"/>
                <a:cs typeface="Cambria" pitchFamily="34" charset="-120"/>
              </a:rPr>
              <a:t>Four servers, four different jobs</a:t>
            </a:r>
            <a:endParaRPr lang="en-US" sz="1500" dirty="0"/>
          </a:p>
        </p:txBody>
      </p:sp>
      <p:sp>
        <p:nvSpPr>
          <p:cNvPr id="24" name="Shape 21"/>
          <p:cNvSpPr/>
          <p:nvPr/>
        </p:nvSpPr>
        <p:spPr>
          <a:xfrm>
            <a:off x="566928" y="3438144"/>
            <a:ext cx="6400800" cy="493776"/>
          </a:xfrm>
          <a:prstGeom prst="roundRect">
            <a:avLst>
              <a:gd name="adj" fmla="val 11111"/>
            </a:avLst>
          </a:prstGeom>
          <a:solidFill>
            <a:srgbClr val="FDF6E3"/>
          </a:solidFill>
          <a:ln w="12700">
            <a:solidFill>
              <a:srgbClr val="EBD9A8"/>
            </a:solidFill>
            <a:prstDash val="solid"/>
          </a:ln>
        </p:spPr>
        <p:txBody>
          <a:bodyPr/>
          <a:p/>
        </p:txBody>
      </p:sp>
      <p:sp>
        <p:nvSpPr>
          <p:cNvPr id="25" name="Text 22"/>
          <p:cNvSpPr/>
          <p:nvPr/>
        </p:nvSpPr>
        <p:spPr>
          <a:xfrm>
            <a:off x="749808" y="3465576"/>
            <a:ext cx="2834640" cy="219456"/>
          </a:xfrm>
          <a:prstGeom prst="rect">
            <a:avLst/>
          </a:prstGeom>
          <a:noFill/>
          <a:ln/>
        </p:spPr>
        <p:txBody>
          <a:bodyPr wrap="square" lIns="0" tIns="0" rIns="0" bIns="0" rtlCol="0" anchor="ctr"/>
          <a:lstStyle/>
          <a:p>
            <a:pPr indent="0" marL="0">
              <a:buNone/>
            </a:pPr>
            <a:r>
              <a:rPr lang="en-US" sz="1150" b="1" dirty="0">
                <a:solidFill>
                  <a:srgbClr val="14182E"/>
                </a:solidFill>
                <a:latin typeface="Calibri" pitchFamily="34" charset="0"/>
                <a:ea typeface="Calibri" pitchFamily="34" charset="-122"/>
                <a:cs typeface="Calibri" pitchFamily="34" charset="-120"/>
              </a:rPr>
              <a:t>Power BI Authoring MCP</a:t>
            </a:r>
            <a:endParaRPr lang="en-US" sz="1150" dirty="0"/>
          </a:p>
        </p:txBody>
      </p:sp>
      <p:sp>
        <p:nvSpPr>
          <p:cNvPr id="26" name="Text 23"/>
          <p:cNvSpPr/>
          <p:nvPr/>
        </p:nvSpPr>
        <p:spPr>
          <a:xfrm>
            <a:off x="3639312" y="3483864"/>
            <a:ext cx="1188720" cy="201168"/>
          </a:xfrm>
          <a:prstGeom prst="rect">
            <a:avLst/>
          </a:prstGeom>
          <a:noFill/>
          <a:ln/>
        </p:spPr>
        <p:txBody>
          <a:bodyPr wrap="square" lIns="0" tIns="0" rIns="0" bIns="0" rtlCol="0" anchor="ctr"/>
          <a:lstStyle/>
          <a:p>
            <a:pPr indent="0" marL="0">
              <a:buNone/>
            </a:pPr>
            <a:r>
              <a:rPr lang="en-US" sz="850" dirty="0">
                <a:solidFill>
                  <a:srgbClr val="6B7280"/>
                </a:solidFill>
                <a:latin typeface="Courier New" pitchFamily="34" charset="0"/>
                <a:ea typeface="Courier New" pitchFamily="34" charset="-122"/>
                <a:cs typeface="Courier New" pitchFamily="34" charset="-120"/>
              </a:rPr>
              <a:t>local · stdio</a:t>
            </a:r>
            <a:endParaRPr lang="en-US" sz="850" dirty="0"/>
          </a:p>
        </p:txBody>
      </p:sp>
      <p:sp>
        <p:nvSpPr>
          <p:cNvPr id="27" name="Text 24"/>
          <p:cNvSpPr/>
          <p:nvPr/>
        </p:nvSpPr>
        <p:spPr>
          <a:xfrm>
            <a:off x="749808" y="3694176"/>
            <a:ext cx="6035040" cy="219456"/>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Formerly Modeling MCP. Build and edit models. Today's demo</a:t>
            </a:r>
            <a:endParaRPr lang="en-US" sz="1050" dirty="0"/>
          </a:p>
        </p:txBody>
      </p:sp>
      <p:sp>
        <p:nvSpPr>
          <p:cNvPr id="28" name="Shape 25"/>
          <p:cNvSpPr/>
          <p:nvPr/>
        </p:nvSpPr>
        <p:spPr>
          <a:xfrm>
            <a:off x="566928" y="3986784"/>
            <a:ext cx="6400800" cy="493776"/>
          </a:xfrm>
          <a:prstGeom prst="roundRect">
            <a:avLst>
              <a:gd name="adj" fmla="val 11111"/>
            </a:avLst>
          </a:prstGeom>
          <a:solidFill>
            <a:srgbClr val="FAFAFD"/>
          </a:solidFill>
          <a:ln w="12700">
            <a:solidFill>
              <a:srgbClr val="DFE2EC"/>
            </a:solidFill>
            <a:prstDash val="solid"/>
          </a:ln>
        </p:spPr>
        <p:txBody>
          <a:bodyPr/>
          <a:p/>
        </p:txBody>
      </p:sp>
      <p:sp>
        <p:nvSpPr>
          <p:cNvPr id="29" name="Text 26"/>
          <p:cNvSpPr/>
          <p:nvPr/>
        </p:nvSpPr>
        <p:spPr>
          <a:xfrm>
            <a:off x="749808" y="4014216"/>
            <a:ext cx="2834640" cy="219456"/>
          </a:xfrm>
          <a:prstGeom prst="rect">
            <a:avLst/>
          </a:prstGeom>
          <a:noFill/>
          <a:ln/>
        </p:spPr>
        <p:txBody>
          <a:bodyPr wrap="square" lIns="0" tIns="0" rIns="0" bIns="0" rtlCol="0" anchor="ctr"/>
          <a:lstStyle/>
          <a:p>
            <a:pPr indent="0" marL="0">
              <a:buNone/>
            </a:pPr>
            <a:r>
              <a:rPr lang="en-US" sz="1150" b="1" dirty="0">
                <a:solidFill>
                  <a:srgbClr val="14182E"/>
                </a:solidFill>
                <a:latin typeface="Calibri" pitchFamily="34" charset="0"/>
                <a:ea typeface="Calibri" pitchFamily="34" charset="-122"/>
                <a:cs typeface="Calibri" pitchFamily="34" charset="-120"/>
              </a:rPr>
              <a:t>Power BI MCP (remote)</a:t>
            </a:r>
            <a:endParaRPr lang="en-US" sz="1150" dirty="0"/>
          </a:p>
        </p:txBody>
      </p:sp>
      <p:sp>
        <p:nvSpPr>
          <p:cNvPr id="30" name="Text 27"/>
          <p:cNvSpPr/>
          <p:nvPr/>
        </p:nvSpPr>
        <p:spPr>
          <a:xfrm>
            <a:off x="3639312" y="4032504"/>
            <a:ext cx="1188720" cy="201168"/>
          </a:xfrm>
          <a:prstGeom prst="rect">
            <a:avLst/>
          </a:prstGeom>
          <a:noFill/>
          <a:ln/>
        </p:spPr>
        <p:txBody>
          <a:bodyPr wrap="square" lIns="0" tIns="0" rIns="0" bIns="0" rtlCol="0" anchor="ctr"/>
          <a:lstStyle/>
          <a:p>
            <a:pPr indent="0" marL="0">
              <a:buNone/>
            </a:pPr>
            <a:r>
              <a:rPr lang="en-US" sz="850" dirty="0">
                <a:solidFill>
                  <a:srgbClr val="6B7280"/>
                </a:solidFill>
                <a:latin typeface="Courier New" pitchFamily="34" charset="0"/>
                <a:ea typeface="Courier New" pitchFamily="34" charset="-122"/>
                <a:cs typeface="Courier New" pitchFamily="34" charset="-120"/>
              </a:rPr>
              <a:t>hosted · HTTP</a:t>
            </a:r>
            <a:endParaRPr lang="en-US" sz="850" dirty="0"/>
          </a:p>
        </p:txBody>
      </p:sp>
      <p:sp>
        <p:nvSpPr>
          <p:cNvPr id="31" name="Text 28"/>
          <p:cNvSpPr/>
          <p:nvPr/>
        </p:nvSpPr>
        <p:spPr>
          <a:xfrm>
            <a:off x="749808" y="4242816"/>
            <a:ext cx="6035040" cy="219456"/>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Query published models — needs a tenant setting</a:t>
            </a:r>
            <a:endParaRPr lang="en-US" sz="1050" dirty="0"/>
          </a:p>
        </p:txBody>
      </p:sp>
      <p:sp>
        <p:nvSpPr>
          <p:cNvPr id="32" name="Shape 29"/>
          <p:cNvSpPr/>
          <p:nvPr/>
        </p:nvSpPr>
        <p:spPr>
          <a:xfrm>
            <a:off x="566928" y="4535424"/>
            <a:ext cx="6400800" cy="493776"/>
          </a:xfrm>
          <a:prstGeom prst="roundRect">
            <a:avLst>
              <a:gd name="adj" fmla="val 11111"/>
            </a:avLst>
          </a:prstGeom>
          <a:solidFill>
            <a:srgbClr val="FAFAFD"/>
          </a:solidFill>
          <a:ln w="12700">
            <a:solidFill>
              <a:srgbClr val="DFE2EC"/>
            </a:solidFill>
            <a:prstDash val="solid"/>
          </a:ln>
        </p:spPr>
        <p:txBody>
          <a:bodyPr/>
          <a:p/>
        </p:txBody>
      </p:sp>
      <p:sp>
        <p:nvSpPr>
          <p:cNvPr id="33" name="Text 30"/>
          <p:cNvSpPr/>
          <p:nvPr/>
        </p:nvSpPr>
        <p:spPr>
          <a:xfrm>
            <a:off x="749808" y="4562856"/>
            <a:ext cx="2834640" cy="219456"/>
          </a:xfrm>
          <a:prstGeom prst="rect">
            <a:avLst/>
          </a:prstGeom>
          <a:noFill/>
          <a:ln/>
        </p:spPr>
        <p:txBody>
          <a:bodyPr wrap="square" lIns="0" tIns="0" rIns="0" bIns="0" rtlCol="0" anchor="ctr"/>
          <a:lstStyle/>
          <a:p>
            <a:pPr indent="0" marL="0">
              <a:buNone/>
            </a:pPr>
            <a:r>
              <a:rPr lang="en-US" sz="1150" b="1" dirty="0">
                <a:solidFill>
                  <a:srgbClr val="14182E"/>
                </a:solidFill>
                <a:latin typeface="Calibri" pitchFamily="34" charset="0"/>
                <a:ea typeface="Calibri" pitchFamily="34" charset="-122"/>
                <a:cs typeface="Calibri" pitchFamily="34" charset="-120"/>
              </a:rPr>
              <a:t>Fabric Core MCP</a:t>
            </a:r>
            <a:endParaRPr lang="en-US" sz="1150" dirty="0"/>
          </a:p>
        </p:txBody>
      </p:sp>
      <p:sp>
        <p:nvSpPr>
          <p:cNvPr id="34" name="Text 31"/>
          <p:cNvSpPr/>
          <p:nvPr/>
        </p:nvSpPr>
        <p:spPr>
          <a:xfrm>
            <a:off x="3639312" y="4581144"/>
            <a:ext cx="1188720" cy="201168"/>
          </a:xfrm>
          <a:prstGeom prst="rect">
            <a:avLst/>
          </a:prstGeom>
          <a:noFill/>
          <a:ln/>
        </p:spPr>
        <p:txBody>
          <a:bodyPr wrap="square" lIns="0" tIns="0" rIns="0" bIns="0" rtlCol="0" anchor="ctr"/>
          <a:lstStyle/>
          <a:p>
            <a:pPr indent="0" marL="0">
              <a:buNone/>
            </a:pPr>
            <a:r>
              <a:rPr lang="en-US" sz="850" dirty="0">
                <a:solidFill>
                  <a:srgbClr val="6B7280"/>
                </a:solidFill>
                <a:latin typeface="Courier New" pitchFamily="34" charset="0"/>
                <a:ea typeface="Courier New" pitchFamily="34" charset="-122"/>
                <a:cs typeface="Courier New" pitchFamily="34" charset="-120"/>
              </a:rPr>
              <a:t>hosted · HTTP</a:t>
            </a:r>
            <a:endParaRPr lang="en-US" sz="850" dirty="0"/>
          </a:p>
        </p:txBody>
      </p:sp>
      <p:sp>
        <p:nvSpPr>
          <p:cNvPr id="35" name="Text 32"/>
          <p:cNvSpPr/>
          <p:nvPr/>
        </p:nvSpPr>
        <p:spPr>
          <a:xfrm>
            <a:off x="749808" y="4791456"/>
            <a:ext cx="6035040" cy="219456"/>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Workspaces, items, folders, roles, capacities</a:t>
            </a:r>
            <a:endParaRPr lang="en-US" sz="1050" dirty="0"/>
          </a:p>
        </p:txBody>
      </p:sp>
      <p:sp>
        <p:nvSpPr>
          <p:cNvPr id="36" name="Shape 33"/>
          <p:cNvSpPr/>
          <p:nvPr/>
        </p:nvSpPr>
        <p:spPr>
          <a:xfrm>
            <a:off x="566928" y="5084064"/>
            <a:ext cx="6400800" cy="493776"/>
          </a:xfrm>
          <a:prstGeom prst="roundRect">
            <a:avLst>
              <a:gd name="adj" fmla="val 11111"/>
            </a:avLst>
          </a:prstGeom>
          <a:solidFill>
            <a:srgbClr val="FAFAFD"/>
          </a:solidFill>
          <a:ln w="12700">
            <a:solidFill>
              <a:srgbClr val="DFE2EC"/>
            </a:solidFill>
            <a:prstDash val="solid"/>
          </a:ln>
        </p:spPr>
        <p:txBody>
          <a:bodyPr/>
          <a:p/>
        </p:txBody>
      </p:sp>
      <p:sp>
        <p:nvSpPr>
          <p:cNvPr id="37" name="Text 34"/>
          <p:cNvSpPr/>
          <p:nvPr/>
        </p:nvSpPr>
        <p:spPr>
          <a:xfrm>
            <a:off x="749808" y="5111496"/>
            <a:ext cx="2834640" cy="219456"/>
          </a:xfrm>
          <a:prstGeom prst="rect">
            <a:avLst/>
          </a:prstGeom>
          <a:noFill/>
          <a:ln/>
        </p:spPr>
        <p:txBody>
          <a:bodyPr wrap="square" lIns="0" tIns="0" rIns="0" bIns="0" rtlCol="0" anchor="ctr"/>
          <a:lstStyle/>
          <a:p>
            <a:pPr indent="0" marL="0">
              <a:buNone/>
            </a:pPr>
            <a:r>
              <a:rPr lang="en-US" sz="1150" b="1" dirty="0">
                <a:solidFill>
                  <a:srgbClr val="14182E"/>
                </a:solidFill>
                <a:latin typeface="Calibri" pitchFamily="34" charset="0"/>
                <a:ea typeface="Calibri" pitchFamily="34" charset="-122"/>
                <a:cs typeface="Calibri" pitchFamily="34" charset="-120"/>
              </a:rPr>
              <a:t>Fabric MCP (local, OSS)</a:t>
            </a:r>
            <a:endParaRPr lang="en-US" sz="1150" dirty="0"/>
          </a:p>
        </p:txBody>
      </p:sp>
      <p:sp>
        <p:nvSpPr>
          <p:cNvPr id="38" name="Text 35"/>
          <p:cNvSpPr/>
          <p:nvPr/>
        </p:nvSpPr>
        <p:spPr>
          <a:xfrm>
            <a:off x="3639312" y="5129784"/>
            <a:ext cx="1188720" cy="201168"/>
          </a:xfrm>
          <a:prstGeom prst="rect">
            <a:avLst/>
          </a:prstGeom>
          <a:noFill/>
          <a:ln/>
        </p:spPr>
        <p:txBody>
          <a:bodyPr wrap="square" lIns="0" tIns="0" rIns="0" bIns="0" rtlCol="0" anchor="ctr"/>
          <a:lstStyle/>
          <a:p>
            <a:pPr indent="0" marL="0">
              <a:buNone/>
            </a:pPr>
            <a:r>
              <a:rPr lang="en-US" sz="850" dirty="0">
                <a:solidFill>
                  <a:srgbClr val="6B7280"/>
                </a:solidFill>
                <a:latin typeface="Courier New" pitchFamily="34" charset="0"/>
                <a:ea typeface="Courier New" pitchFamily="34" charset="-122"/>
                <a:cs typeface="Courier New" pitchFamily="34" charset="-120"/>
              </a:rPr>
              <a:t>local · stdio</a:t>
            </a:r>
            <a:endParaRPr lang="en-US" sz="850" dirty="0"/>
          </a:p>
        </p:txBody>
      </p:sp>
      <p:sp>
        <p:nvSpPr>
          <p:cNvPr id="39" name="Text 36"/>
          <p:cNvSpPr/>
          <p:nvPr/>
        </p:nvSpPr>
        <p:spPr>
          <a:xfrm>
            <a:off x="749808" y="5340096"/>
            <a:ext cx="6035040" cy="219456"/>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Fabric API specs, OneLake files and tables</a:t>
            </a:r>
            <a:endParaRPr lang="en-US" sz="1050" dirty="0"/>
          </a:p>
        </p:txBody>
      </p:sp>
      <p:sp>
        <p:nvSpPr>
          <p:cNvPr id="40" name="Shape 37"/>
          <p:cNvSpPr/>
          <p:nvPr/>
        </p:nvSpPr>
        <p:spPr>
          <a:xfrm>
            <a:off x="7168896" y="3145536"/>
            <a:ext cx="4453128" cy="1234440"/>
          </a:xfrm>
          <a:prstGeom prst="roundRect">
            <a:avLst>
              <a:gd name="adj" fmla="val 6667"/>
            </a:avLst>
          </a:prstGeom>
          <a:solidFill>
            <a:srgbClr val="FAFAFD"/>
          </a:solidFill>
          <a:ln w="12700">
            <a:solidFill>
              <a:srgbClr val="DFE2EC"/>
            </a:solidFill>
            <a:prstDash val="solid"/>
          </a:ln>
          <a:effectLst>
            <a:outerShdw sx="100000" sy="100000" kx="0" ky="0" algn="bl" rotWithShape="0" blurRad="127000" dist="25400" dir="5400000">
              <a:srgbClr val="9AA0B5">
                <a:alpha val="28000"/>
              </a:srgbClr>
            </a:outerShdw>
          </a:effectLst>
        </p:spPr>
        <p:txBody>
          <a:bodyPr/>
          <a:p/>
        </p:txBody>
      </p:sp>
      <p:sp>
        <p:nvSpPr>
          <p:cNvPr id="41" name="Text 38"/>
          <p:cNvSpPr/>
          <p:nvPr/>
        </p:nvSpPr>
        <p:spPr>
          <a:xfrm>
            <a:off x="7406640" y="3246120"/>
            <a:ext cx="3977640" cy="237744"/>
          </a:xfrm>
          <a:prstGeom prst="rect">
            <a:avLst/>
          </a:prstGeom>
          <a:noFill/>
          <a:ln/>
        </p:spPr>
        <p:txBody>
          <a:bodyPr wrap="square" lIns="0" tIns="0" rIns="0" bIns="0" rtlCol="0" anchor="ctr"/>
          <a:lstStyle/>
          <a:p>
            <a:pPr indent="0" marL="0">
              <a:buNone/>
            </a:pPr>
            <a:r>
              <a:rPr lang="en-US" sz="1500" b="1" dirty="0">
                <a:solidFill>
                  <a:srgbClr val="14182E"/>
                </a:solidFill>
                <a:latin typeface="Cambria" pitchFamily="34" charset="0"/>
                <a:ea typeface="Cambria" pitchFamily="34" charset="-122"/>
                <a:cs typeface="Cambria" pitchFamily="34" charset="-120"/>
              </a:rPr>
              <a:t>Before you start</a:t>
            </a:r>
            <a:endParaRPr lang="en-US" sz="1500" dirty="0"/>
          </a:p>
        </p:txBody>
      </p:sp>
      <p:sp>
        <p:nvSpPr>
          <p:cNvPr id="42" name="Text 39"/>
          <p:cNvSpPr/>
          <p:nvPr/>
        </p:nvSpPr>
        <p:spPr>
          <a:xfrm>
            <a:off x="7406640" y="3520440"/>
            <a:ext cx="3977640" cy="777240"/>
          </a:xfrm>
          <a:prstGeom prst="rect">
            <a:avLst/>
          </a:prstGeom>
          <a:noFill/>
          <a:ln/>
        </p:spPr>
        <p:txBody>
          <a:bodyPr wrap="square" lIns="0" tIns="0" rIns="0" bIns="0" rtlCol="0" anchor="t"/>
          <a:lstStyle/>
          <a:p>
            <a:pPr marL="342900" indent="-342900">
              <a:lnSpc>
                <a:spcPct val="115000"/>
              </a:lnSpc>
              <a:spcAft>
                <a:spcPts val="200"/>
              </a:spcAft>
              <a:buSzPct val="100000"/>
              <a:buChar char="•"/>
            </a:pPr>
            <a:r>
              <a:rPr lang="en-US" sz="1050" dirty="0">
                <a:solidFill>
                  <a:srgbClr val="2A2F45"/>
                </a:solidFill>
                <a:latin typeface="Calibri" pitchFamily="34" charset="0"/>
                <a:ea typeface="Calibri" pitchFamily="34" charset="-122"/>
                <a:cs typeface="Calibri" pitchFamily="34" charset="-120"/>
              </a:rPr>
              <a:t>Node.js 18+ on the machine</a:t>
            </a:r>
            <a:endParaRPr lang="en-US" sz="1050" dirty="0"/>
          </a:p>
          <a:p>
            <a:pPr marL="342900" indent="-342900">
              <a:lnSpc>
                <a:spcPct val="115000"/>
              </a:lnSpc>
              <a:spcAft>
                <a:spcPts val="200"/>
              </a:spcAft>
              <a:buSzPct val="100000"/>
              <a:buChar char="•"/>
            </a:pPr>
            <a:r>
              <a:rPr lang="en-US" sz="1050" dirty="0">
                <a:solidFill>
                  <a:srgbClr val="2A2F45"/>
                </a:solidFill>
                <a:latin typeface="Calibri" pitchFamily="34" charset="0"/>
                <a:ea typeface="Calibri" pitchFamily="34" charset="-122"/>
                <a:cs typeface="Calibri" pitchFamily="34" charset="-120"/>
              </a:rPr>
              <a:t>az login for anything that touches Fabric</a:t>
            </a:r>
            <a:endParaRPr lang="en-US" sz="1050" dirty="0"/>
          </a:p>
          <a:p>
            <a:pPr marL="342900" indent="-342900">
              <a:lnSpc>
                <a:spcPct val="115000"/>
              </a:lnSpc>
              <a:spcAft>
                <a:spcPts val="200"/>
              </a:spcAft>
              <a:buSzPct val="100000"/>
              <a:buChar char="•"/>
            </a:pPr>
            <a:r>
              <a:rPr lang="en-US" sz="1050" dirty="0">
                <a:solidFill>
                  <a:srgbClr val="2A2F45"/>
                </a:solidFill>
                <a:latin typeface="Calibri" pitchFamily="34" charset="0"/>
                <a:ea typeface="Calibri" pitchFamily="34" charset="-122"/>
                <a:cs typeface="Calibri" pitchFamily="34" charset="-120"/>
              </a:rPr>
              <a:t>Remote server needs the preview tenant setting switched on</a:t>
            </a:r>
            <a:endParaRPr lang="en-US" sz="1050" dirty="0"/>
          </a:p>
        </p:txBody>
      </p:sp>
      <p:sp>
        <p:nvSpPr>
          <p:cNvPr id="43" name="Shape 40"/>
          <p:cNvSpPr/>
          <p:nvPr/>
        </p:nvSpPr>
        <p:spPr>
          <a:xfrm>
            <a:off x="7168896" y="4526280"/>
            <a:ext cx="4453128" cy="1051560"/>
          </a:xfrm>
          <a:prstGeom prst="roundRect">
            <a:avLst>
              <a:gd name="adj" fmla="val 7826"/>
            </a:avLst>
          </a:prstGeom>
          <a:solidFill>
            <a:srgbClr val="FBF0EF"/>
          </a:solidFill>
          <a:ln w="12700">
            <a:solidFill>
              <a:srgbClr val="EBC9C6"/>
            </a:solidFill>
            <a:prstDash val="solid"/>
          </a:ln>
          <a:effectLst>
            <a:outerShdw sx="100000" sy="100000" kx="0" ky="0" algn="bl" rotWithShape="0" blurRad="127000" dist="25400" dir="5400000">
              <a:srgbClr val="9AA0B5">
                <a:alpha val="28000"/>
              </a:srgbClr>
            </a:outerShdw>
          </a:effectLst>
        </p:spPr>
        <p:txBody>
          <a:bodyPr/>
          <a:p/>
        </p:txBody>
      </p:sp>
      <p:sp>
        <p:nvSpPr>
          <p:cNvPr id="44" name="Text 41"/>
          <p:cNvSpPr/>
          <p:nvPr/>
        </p:nvSpPr>
        <p:spPr>
          <a:xfrm>
            <a:off x="7424928" y="4526280"/>
            <a:ext cx="3941064" cy="1051560"/>
          </a:xfrm>
          <a:prstGeom prst="rect">
            <a:avLst/>
          </a:prstGeom>
          <a:noFill/>
          <a:ln/>
        </p:spPr>
        <p:txBody>
          <a:bodyPr wrap="square" lIns="0" tIns="0" rIns="0" bIns="0" rtlCol="0" anchor="ctr"/>
          <a:lstStyle/>
          <a:p>
            <a:pPr indent="0" marL="0">
              <a:buNone/>
            </a:pPr>
            <a:r>
              <a:rPr lang="en-US" sz="1100" b="1" dirty="0">
                <a:solidFill>
                  <a:srgbClr val="7A3B36"/>
                </a:solidFill>
                <a:latin typeface="Calibri" pitchFamily="34" charset="0"/>
                <a:ea typeface="Calibri" pitchFamily="34" charset="-122"/>
                <a:cs typeface="Calibri" pitchFamily="34" charset="-120"/>
              </a:rPr>
              <a:t>Out of the box it writes to the live model with no confirmation prompts. Start with --readonly: Settings → Power BI Authoring MCP → Args. --require-confirmation brings prompts back.</a:t>
            </a:r>
            <a:endParaRPr lang="en-US" sz="1100" dirty="0"/>
          </a:p>
        </p:txBody>
      </p:sp>
      <p:sp>
        <p:nvSpPr>
          <p:cNvPr id="45" name="Text 42"/>
          <p:cNvSpPr/>
          <p:nvPr/>
        </p:nvSpPr>
        <p:spPr>
          <a:xfrm>
            <a:off x="566928" y="5943600"/>
            <a:ext cx="8311896" cy="384048"/>
          </a:xfrm>
          <a:prstGeom prst="rect">
            <a:avLst/>
          </a:prstGeom>
          <a:noFill/>
          <a:ln/>
        </p:spPr>
        <p:txBody>
          <a:bodyPr wrap="square" lIns="0" tIns="0" rIns="0" bIns="0"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The powerbi-authoring plugin registers this same server over npx — so keep Node installed either way.</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9134856" y="6381598"/>
            <a:ext cx="310896" cy="20117"/>
          </a:xfrm>
          <a:prstGeom prst="rect">
            <a:avLst/>
          </a:prstGeom>
          <a:solidFill>
            <a:srgbClr val="F2C230"/>
          </a:solidFill>
          <a:ln w="12700">
            <a:solidFill>
              <a:srgbClr val="F2C230"/>
            </a:solidFill>
            <a:prstDash val="solid"/>
          </a:ln>
        </p:spPr>
        <p:txBody>
          <a:bodyPr/>
          <a:p/>
        </p:txBody>
      </p:sp>
      <p:sp>
        <p:nvSpPr>
          <p:cNvPr id="4" name="Text 1"/>
          <p:cNvSpPr/>
          <p:nvPr/>
        </p:nvSpPr>
        <p:spPr>
          <a:xfrm>
            <a:off x="9518904" y="6272784"/>
            <a:ext cx="2103120" cy="237744"/>
          </a:xfrm>
          <a:prstGeom prst="rect">
            <a:avLst/>
          </a:prstGeom>
          <a:noFill/>
          <a:ln/>
        </p:spPr>
        <p:txBody>
          <a:bodyPr wrap="square" lIns="0" tIns="0" rIns="0" bIns="0" rtlCol="0" anchor="ctr"/>
          <a:lstStyle/>
          <a:p>
            <a:pPr algn="r" indent="0" marL="0">
              <a:buNone/>
            </a:pPr>
            <a:r>
              <a:rPr lang="en-US" sz="900" b="1" spc="120" kern="0" dirty="0">
                <a:solidFill>
                  <a:srgbClr val="6B7280"/>
                </a:solidFill>
                <a:latin typeface="Calibri" pitchFamily="34" charset="0"/>
                <a:ea typeface="Calibri" pitchFamily="34" charset="-122"/>
                <a:cs typeface="Calibri" pitchFamily="34" charset="-120"/>
              </a:rPr>
              <a:t>10 / 22  ·  SETUP</a:t>
            </a:r>
            <a:endParaRPr lang="en-US" sz="900" dirty="0"/>
          </a:p>
        </p:txBody>
      </p:sp>
      <p:sp>
        <p:nvSpPr>
          <p:cNvPr id="5" name="Shape 2"/>
          <p:cNvSpPr/>
          <p:nvPr/>
        </p:nvSpPr>
        <p:spPr>
          <a:xfrm>
            <a:off x="566928" y="274320"/>
            <a:ext cx="566928" cy="41148"/>
          </a:xfrm>
          <a:prstGeom prst="rect">
            <a:avLst/>
          </a:prstGeom>
          <a:solidFill>
            <a:srgbClr val="F2C230"/>
          </a:solidFill>
          <a:ln w="12700">
            <a:solidFill>
              <a:srgbClr val="F2C230"/>
            </a:solidFill>
            <a:prstDash val="solid"/>
          </a:ln>
        </p:spPr>
        <p:txBody>
          <a:bodyPr/>
          <a:p/>
        </p:txBody>
      </p:sp>
      <p:sp>
        <p:nvSpPr>
          <p:cNvPr id="6" name="Text 3"/>
          <p:cNvSpPr/>
          <p:nvPr/>
        </p:nvSpPr>
        <p:spPr>
          <a:xfrm>
            <a:off x="566928" y="402336"/>
            <a:ext cx="11055096" cy="256032"/>
          </a:xfrm>
          <a:prstGeom prst="rect">
            <a:avLst/>
          </a:prstGeom>
          <a:noFill/>
          <a:ln/>
        </p:spPr>
        <p:txBody>
          <a:bodyPr wrap="square" lIns="0" tIns="0" rIns="0" bIns="0" rtlCol="0" anchor="ctr"/>
          <a:lstStyle/>
          <a:p>
            <a:pPr indent="0" marL="0">
              <a:buNone/>
            </a:pPr>
            <a:r>
              <a:rPr lang="en-US" sz="1100" b="1" spc="220" kern="0" dirty="0">
                <a:solidFill>
                  <a:srgbClr val="F2C230"/>
                </a:solidFill>
                <a:latin typeface="Calibri" pitchFamily="34" charset="0"/>
                <a:ea typeface="Calibri" pitchFamily="34" charset="-122"/>
                <a:cs typeface="Calibri" pitchFamily="34" charset="-120"/>
              </a:rPr>
              <a:t>READING THE TOOLSET</a:t>
            </a:r>
            <a:endParaRPr lang="en-US" sz="1100" dirty="0"/>
          </a:p>
        </p:txBody>
      </p:sp>
      <p:sp>
        <p:nvSpPr>
          <p:cNvPr id="7" name="Text 4"/>
          <p:cNvSpPr/>
          <p:nvPr/>
        </p:nvSpPr>
        <p:spPr>
          <a:xfrm>
            <a:off x="566928" y="676656"/>
            <a:ext cx="11055096" cy="621792"/>
          </a:xfrm>
          <a:prstGeom prst="rect">
            <a:avLst/>
          </a:prstGeom>
          <a:noFill/>
          <a:ln/>
        </p:spPr>
        <p:txBody>
          <a:bodyPr wrap="square" lIns="0" tIns="0" rIns="0" bIns="0" rtlCol="0" anchor="ctr"/>
          <a:lstStyle/>
          <a:p>
            <a:pPr indent="0" marL="0">
              <a:buNone/>
            </a:pPr>
            <a:r>
              <a:rPr lang="en-US" sz="3400" b="1" dirty="0">
                <a:solidFill>
                  <a:srgbClr val="14182E"/>
                </a:solidFill>
                <a:latin typeface="Cambria" pitchFamily="34" charset="0"/>
                <a:ea typeface="Cambria" pitchFamily="34" charset="-122"/>
                <a:cs typeface="Cambria" pitchFamily="34" charset="-120"/>
              </a:rPr>
              <a:t>How do I see what it can do?</a:t>
            </a:r>
            <a:endParaRPr lang="en-US" sz="3400" dirty="0"/>
          </a:p>
        </p:txBody>
      </p:sp>
      <p:sp>
        <p:nvSpPr>
          <p:cNvPr id="8" name="Shape 5"/>
          <p:cNvSpPr/>
          <p:nvPr/>
        </p:nvSpPr>
        <p:spPr>
          <a:xfrm>
            <a:off x="566928" y="1463040"/>
            <a:ext cx="6583680" cy="3108960"/>
          </a:xfrm>
          <a:prstGeom prst="roundRect">
            <a:avLst>
              <a:gd name="adj" fmla="val 2647"/>
            </a:avLst>
          </a:prstGeom>
          <a:solidFill>
            <a:srgbClr val="EDF7F6"/>
          </a:solidFill>
          <a:ln w="12700">
            <a:solidFill>
              <a:srgbClr val="C7E4E1"/>
            </a:solidFill>
            <a:prstDash val="solid"/>
          </a:ln>
          <a:effectLst>
            <a:outerShdw sx="100000" sy="100000" kx="0" ky="0" algn="bl" rotWithShape="0" blurRad="127000" dist="25400" dir="5400000">
              <a:srgbClr val="9AA0B5">
                <a:alpha val="28000"/>
              </a:srgbClr>
            </a:outerShdw>
          </a:effectLst>
        </p:spPr>
        <p:txBody>
          <a:bodyPr/>
          <a:p/>
        </p:txBody>
      </p:sp>
      <p:sp>
        <p:nvSpPr>
          <p:cNvPr id="9" name="Shape 6"/>
          <p:cNvSpPr/>
          <p:nvPr/>
        </p:nvSpPr>
        <p:spPr>
          <a:xfrm>
            <a:off x="841248" y="1645920"/>
            <a:ext cx="384048" cy="384048"/>
          </a:xfrm>
          <a:prstGeom prst="ellipse">
            <a:avLst/>
          </a:prstGeom>
          <a:solidFill>
            <a:srgbClr val="1F9E96"/>
          </a:solidFill>
          <a:ln w="12700">
            <a:solidFill>
              <a:srgbClr val="1F9E96"/>
            </a:solidFill>
            <a:prstDash val="solid"/>
          </a:ln>
        </p:spPr>
        <p:txBody>
          <a:bodyPr/>
          <a:p/>
        </p:txBody>
      </p:sp>
      <p:sp>
        <p:nvSpPr>
          <p:cNvPr id="10" name="Text 7"/>
          <p:cNvSpPr/>
          <p:nvPr/>
        </p:nvSpPr>
        <p:spPr>
          <a:xfrm>
            <a:off x="841248" y="16459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1" name="Text 8"/>
          <p:cNvSpPr/>
          <p:nvPr/>
        </p:nvSpPr>
        <p:spPr>
          <a:xfrm>
            <a:off x="1353312" y="1645920"/>
            <a:ext cx="5577840" cy="365760"/>
          </a:xfrm>
          <a:prstGeom prst="rect">
            <a:avLst/>
          </a:prstGeom>
          <a:noFill/>
          <a:ln/>
        </p:spPr>
        <p:txBody>
          <a:bodyPr wrap="square" lIns="0" tIns="0" rIns="0" bIns="0" rtlCol="0" anchor="ctr"/>
          <a:lstStyle/>
          <a:p>
            <a:pPr indent="0" marL="0">
              <a:buNone/>
            </a:pPr>
            <a:r>
              <a:rPr lang="en-US" sz="1900" b="1" dirty="0">
                <a:solidFill>
                  <a:srgbClr val="17635E"/>
                </a:solidFill>
                <a:latin typeface="Cambria" pitchFamily="34" charset="0"/>
                <a:ea typeface="Cambria" pitchFamily="34" charset="-122"/>
                <a:cs typeface="Cambria" pitchFamily="34" charset="-120"/>
              </a:rPr>
              <a:t>In VS Code — no terminal needed</a:t>
            </a:r>
            <a:endParaRPr lang="en-US" sz="1900" dirty="0"/>
          </a:p>
        </p:txBody>
      </p:sp>
      <p:sp>
        <p:nvSpPr>
          <p:cNvPr id="12" name="Text 9"/>
          <p:cNvSpPr/>
          <p:nvPr/>
        </p:nvSpPr>
        <p:spPr>
          <a:xfrm>
            <a:off x="859536" y="2157984"/>
            <a:ext cx="1965960" cy="237744"/>
          </a:xfrm>
          <a:prstGeom prst="rect">
            <a:avLst/>
          </a:prstGeom>
          <a:noFill/>
          <a:ln/>
        </p:spPr>
        <p:txBody>
          <a:bodyPr wrap="square" lIns="0" tIns="0" rIns="0" bIns="0" rtlCol="0" anchor="ctr"/>
          <a:lstStyle/>
          <a:p>
            <a:pPr indent="0" marL="0">
              <a:buNone/>
            </a:pPr>
            <a:r>
              <a:rPr lang="en-US" sz="1200" b="1" dirty="0">
                <a:solidFill>
                  <a:srgbClr val="17635E"/>
                </a:solidFill>
                <a:latin typeface="Calibri" pitchFamily="34" charset="0"/>
                <a:ea typeface="Calibri" pitchFamily="34" charset="-122"/>
                <a:cs typeface="Calibri" pitchFamily="34" charset="-120"/>
              </a:rPr>
              <a:t>Command Palette</a:t>
            </a:r>
            <a:endParaRPr lang="en-US" sz="1200" dirty="0"/>
          </a:p>
        </p:txBody>
      </p:sp>
      <p:sp>
        <p:nvSpPr>
          <p:cNvPr id="13" name="Text 10"/>
          <p:cNvSpPr/>
          <p:nvPr/>
        </p:nvSpPr>
        <p:spPr>
          <a:xfrm>
            <a:off x="2898648" y="2093976"/>
            <a:ext cx="4023360" cy="676656"/>
          </a:xfrm>
          <a:prstGeom prst="rect">
            <a:avLst/>
          </a:prstGeom>
          <a:noFill/>
          <a:ln/>
        </p:spPr>
        <p:txBody>
          <a:bodyPr wrap="square" lIns="0" tIns="0" rIns="0" bIns="0" rtlCol="0" anchor="ctr"/>
          <a:lstStyle/>
          <a:p>
            <a:pPr indent="0" marL="0">
              <a:lnSpc>
                <a:spcPct val="110000"/>
              </a:lnSpc>
              <a:buNone/>
            </a:pPr>
            <a:r>
              <a:rPr lang="en-US" sz="1100" dirty="0">
                <a:solidFill>
                  <a:srgbClr val="1D4F4B"/>
                </a:solidFill>
                <a:latin typeface="Calibri" pitchFamily="34" charset="0"/>
                <a:ea typeface="Calibri" pitchFamily="34" charset="-122"/>
                <a:cs typeface="Calibri" pitchFamily="34" charset="-120"/>
              </a:rPr>
              <a:t>Ctrl+Shift+P → MCP: List Servers. Every server, whether it came from mcp.json or an extension. Pick one → Show Output.</a:t>
            </a:r>
            <a:endParaRPr lang="en-US" sz="1100" dirty="0"/>
          </a:p>
        </p:txBody>
      </p:sp>
      <p:sp>
        <p:nvSpPr>
          <p:cNvPr id="14" name="Text 11"/>
          <p:cNvSpPr/>
          <p:nvPr/>
        </p:nvSpPr>
        <p:spPr>
          <a:xfrm>
            <a:off x="859536" y="2907792"/>
            <a:ext cx="1965960" cy="237744"/>
          </a:xfrm>
          <a:prstGeom prst="rect">
            <a:avLst/>
          </a:prstGeom>
          <a:noFill/>
          <a:ln/>
        </p:spPr>
        <p:txBody>
          <a:bodyPr wrap="square" lIns="0" tIns="0" rIns="0" bIns="0" rtlCol="0" anchor="ctr"/>
          <a:lstStyle/>
          <a:p>
            <a:pPr indent="0" marL="0">
              <a:buNone/>
            </a:pPr>
            <a:r>
              <a:rPr lang="en-US" sz="1200" b="1" dirty="0">
                <a:solidFill>
                  <a:srgbClr val="17635E"/>
                </a:solidFill>
                <a:latin typeface="Calibri" pitchFamily="34" charset="0"/>
                <a:ea typeface="Calibri" pitchFamily="34" charset="-122"/>
                <a:cs typeface="Calibri" pitchFamily="34" charset="-120"/>
              </a:rPr>
              <a:t>Extensions view</a:t>
            </a:r>
            <a:endParaRPr lang="en-US" sz="1200" dirty="0"/>
          </a:p>
        </p:txBody>
      </p:sp>
      <p:sp>
        <p:nvSpPr>
          <p:cNvPr id="15" name="Text 12"/>
          <p:cNvSpPr/>
          <p:nvPr/>
        </p:nvSpPr>
        <p:spPr>
          <a:xfrm>
            <a:off x="2898648" y="2843784"/>
            <a:ext cx="4023360" cy="676656"/>
          </a:xfrm>
          <a:prstGeom prst="rect">
            <a:avLst/>
          </a:prstGeom>
          <a:noFill/>
          <a:ln/>
        </p:spPr>
        <p:txBody>
          <a:bodyPr wrap="square" lIns="0" tIns="0" rIns="0" bIns="0" rtlCol="0" anchor="ctr"/>
          <a:lstStyle/>
          <a:p>
            <a:pPr indent="0" marL="0">
              <a:lnSpc>
                <a:spcPct val="110000"/>
              </a:lnSpc>
              <a:buNone/>
            </a:pPr>
            <a:r>
              <a:rPr lang="en-US" sz="1100" dirty="0">
                <a:solidFill>
                  <a:srgbClr val="1D4F4B"/>
                </a:solidFill>
                <a:latin typeface="Calibri" pitchFamily="34" charset="0"/>
                <a:ea typeface="Calibri" pitchFamily="34" charset="-122"/>
                <a:cs typeface="Calibri" pitchFamily="34" charset="-120"/>
              </a:rPr>
              <a:t>Its MCP Servers section lists mcp.json servers only. An extension's server isn't there; the extension is.</a:t>
            </a:r>
            <a:endParaRPr lang="en-US" sz="1100" dirty="0"/>
          </a:p>
        </p:txBody>
      </p:sp>
      <p:sp>
        <p:nvSpPr>
          <p:cNvPr id="16" name="Text 13"/>
          <p:cNvSpPr/>
          <p:nvPr/>
        </p:nvSpPr>
        <p:spPr>
          <a:xfrm>
            <a:off x="859536" y="3657600"/>
            <a:ext cx="1965960" cy="237744"/>
          </a:xfrm>
          <a:prstGeom prst="rect">
            <a:avLst/>
          </a:prstGeom>
          <a:noFill/>
          <a:ln/>
        </p:spPr>
        <p:txBody>
          <a:bodyPr wrap="square" lIns="0" tIns="0" rIns="0" bIns="0" rtlCol="0" anchor="ctr"/>
          <a:lstStyle/>
          <a:p>
            <a:pPr indent="0" marL="0">
              <a:buNone/>
            </a:pPr>
            <a:r>
              <a:rPr lang="en-US" sz="1200" b="1" dirty="0">
                <a:solidFill>
                  <a:srgbClr val="17635E"/>
                </a:solidFill>
                <a:latin typeface="Calibri" pitchFamily="34" charset="0"/>
                <a:ea typeface="Calibri" pitchFamily="34" charset="-122"/>
                <a:cs typeface="Calibri" pitchFamily="34" charset="-120"/>
              </a:rPr>
              <a:t>Chat, agent mode</a:t>
            </a:r>
            <a:endParaRPr lang="en-US" sz="1200" dirty="0"/>
          </a:p>
        </p:txBody>
      </p:sp>
      <p:sp>
        <p:nvSpPr>
          <p:cNvPr id="17" name="Text 14"/>
          <p:cNvSpPr/>
          <p:nvPr/>
        </p:nvSpPr>
        <p:spPr>
          <a:xfrm>
            <a:off x="2898648" y="3593592"/>
            <a:ext cx="4023360" cy="676656"/>
          </a:xfrm>
          <a:prstGeom prst="rect">
            <a:avLst/>
          </a:prstGeom>
          <a:noFill/>
          <a:ln/>
        </p:spPr>
        <p:txBody>
          <a:bodyPr wrap="square" lIns="0" tIns="0" rIns="0" bIns="0" rtlCol="0" anchor="ctr"/>
          <a:lstStyle/>
          <a:p>
            <a:pPr indent="0" marL="0">
              <a:lnSpc>
                <a:spcPct val="110000"/>
              </a:lnSpc>
              <a:buNone/>
            </a:pPr>
            <a:r>
              <a:rPr lang="en-US" sz="1100" dirty="0">
                <a:solidFill>
                  <a:srgbClr val="1D4F4B"/>
                </a:solidFill>
                <a:latin typeface="Calibri" pitchFamily="34" charset="0"/>
                <a:ea typeface="Calibri" pitchFamily="34" charset="-122"/>
                <a:cs typeface="Calibri" pitchFamily="34" charset="-120"/>
              </a:rPr>
              <a:t>Click Configure Tools. Every tool, listed and toggleable — this is the real proof it's connected.</a:t>
            </a:r>
            <a:endParaRPr lang="en-US" sz="1100" dirty="0"/>
          </a:p>
        </p:txBody>
      </p:sp>
      <p:sp>
        <p:nvSpPr>
          <p:cNvPr id="18" name="Shape 15"/>
          <p:cNvSpPr/>
          <p:nvPr/>
        </p:nvSpPr>
        <p:spPr>
          <a:xfrm>
            <a:off x="566928" y="4718304"/>
            <a:ext cx="6583680" cy="1188720"/>
          </a:xfrm>
          <a:prstGeom prst="roundRect">
            <a:avLst>
              <a:gd name="adj" fmla="val 6923"/>
            </a:avLst>
          </a:prstGeom>
          <a:solidFill>
            <a:srgbClr val="FBF0EF"/>
          </a:solidFill>
          <a:ln w="12700">
            <a:solidFill>
              <a:srgbClr val="EBC9C6"/>
            </a:solidFill>
            <a:prstDash val="solid"/>
          </a:ln>
          <a:effectLst>
            <a:outerShdw sx="100000" sy="100000" kx="0" ky="0" algn="bl" rotWithShape="0" blurRad="127000" dist="25400" dir="5400000">
              <a:srgbClr val="9AA0B5">
                <a:alpha val="28000"/>
              </a:srgbClr>
            </a:outerShdw>
          </a:effectLst>
        </p:spPr>
        <p:txBody>
          <a:bodyPr/>
          <a:p/>
        </p:txBody>
      </p:sp>
      <p:sp>
        <p:nvSpPr>
          <p:cNvPr id="19" name="Text 16"/>
          <p:cNvSpPr/>
          <p:nvPr/>
        </p:nvSpPr>
        <p:spPr>
          <a:xfrm>
            <a:off x="859536" y="4809744"/>
            <a:ext cx="6035040" cy="310896"/>
          </a:xfrm>
          <a:prstGeom prst="rect">
            <a:avLst/>
          </a:prstGeom>
          <a:noFill/>
          <a:ln/>
        </p:spPr>
        <p:txBody>
          <a:bodyPr wrap="square" lIns="0" tIns="0" rIns="0" bIns="0" rtlCol="0" anchor="ctr"/>
          <a:lstStyle/>
          <a:p>
            <a:pPr indent="0" marL="0">
              <a:buNone/>
            </a:pPr>
            <a:r>
              <a:rPr lang="en-US" sz="1500" b="1" dirty="0">
                <a:solidFill>
                  <a:srgbClr val="B23A34"/>
                </a:solidFill>
                <a:latin typeface="Cambria" pitchFamily="34" charset="0"/>
                <a:ea typeface="Cambria" pitchFamily="34" charset="-122"/>
                <a:cs typeface="Cambria" pitchFamily="34" charset="-120"/>
              </a:rPr>
              <a:t>The trap: extension servers aren’t in mcp.json</a:t>
            </a:r>
            <a:endParaRPr lang="en-US" sz="1500" dirty="0"/>
          </a:p>
        </p:txBody>
      </p:sp>
      <p:sp>
        <p:nvSpPr>
          <p:cNvPr id="20" name="Text 17"/>
          <p:cNvSpPr/>
          <p:nvPr/>
        </p:nvSpPr>
        <p:spPr>
          <a:xfrm>
            <a:off x="859536" y="5157216"/>
            <a:ext cx="6035040" cy="621792"/>
          </a:xfrm>
          <a:prstGeom prst="rect">
            <a:avLst/>
          </a:prstGeom>
          <a:noFill/>
          <a:ln/>
        </p:spPr>
        <p:txBody>
          <a:bodyPr wrap="square" lIns="0" tIns="0" rIns="0" bIns="0" rtlCol="0" anchor="ctr"/>
          <a:lstStyle/>
          <a:p>
            <a:pPr indent="0" marL="0">
              <a:lnSpc>
                <a:spcPct val="110000"/>
              </a:lnSpc>
              <a:buNone/>
            </a:pPr>
            <a:r>
              <a:rPr lang="en-US" sz="1150" dirty="0">
                <a:solidFill>
                  <a:srgbClr val="7A3B36"/>
                </a:solidFill>
                <a:latin typeface="Calibri" pitchFamily="34" charset="0"/>
                <a:ea typeface="Calibri" pitchFamily="34" charset="-122"/>
                <a:cs typeface="Calibri" pitchFamily="34" charset="-120"/>
              </a:rPr>
              <a:t>They register through the extension API: missing from mcp.json and from the Extensions view's MCP Servers list. MCP: List Servers is the check.</a:t>
            </a:r>
            <a:endParaRPr lang="en-US" sz="1150" dirty="0"/>
          </a:p>
        </p:txBody>
      </p:sp>
      <p:sp>
        <p:nvSpPr>
          <p:cNvPr id="21" name="Text 18"/>
          <p:cNvSpPr/>
          <p:nvPr/>
        </p:nvSpPr>
        <p:spPr>
          <a:xfrm>
            <a:off x="7333488" y="1463040"/>
            <a:ext cx="4288536" cy="256032"/>
          </a:xfrm>
          <a:prstGeom prst="rect">
            <a:avLst/>
          </a:prstGeom>
          <a:noFill/>
          <a:ln/>
        </p:spPr>
        <p:txBody>
          <a:bodyPr wrap="square" lIns="0" tIns="0" rIns="0" bIns="0" rtlCol="0" anchor="ctr"/>
          <a:lstStyle/>
          <a:p>
            <a:pPr indent="0" marL="0">
              <a:buNone/>
            </a:pPr>
            <a:r>
              <a:rPr lang="en-US" sz="1500" b="1" dirty="0">
                <a:solidFill>
                  <a:srgbClr val="14182E"/>
                </a:solidFill>
                <a:latin typeface="Cambria" pitchFamily="34" charset="0"/>
                <a:ea typeface="Cambria" pitchFamily="34" charset="-122"/>
                <a:cs typeface="Cambria" pitchFamily="34" charset="-120"/>
              </a:rPr>
              <a:t>2 · One line in the terminal</a:t>
            </a:r>
            <a:endParaRPr lang="en-US" sz="1500" dirty="0"/>
          </a:p>
        </p:txBody>
      </p:sp>
      <p:sp>
        <p:nvSpPr>
          <p:cNvPr id="22" name="Shape 19"/>
          <p:cNvSpPr/>
          <p:nvPr/>
        </p:nvSpPr>
        <p:spPr>
          <a:xfrm>
            <a:off x="7333488" y="1773936"/>
            <a:ext cx="4288536" cy="1082802"/>
          </a:xfrm>
          <a:prstGeom prst="roundRect">
            <a:avLst>
              <a:gd name="adj" fmla="val 5067"/>
            </a:avLst>
          </a:prstGeom>
          <a:solidFill>
            <a:srgbClr val="14182E"/>
          </a:solidFill>
          <a:ln w="12700">
            <a:solidFill>
              <a:srgbClr val="232A52"/>
            </a:solidFill>
            <a:prstDash val="solid"/>
          </a:ln>
        </p:spPr>
        <p:txBody>
          <a:bodyPr/>
          <a:p/>
        </p:txBody>
      </p:sp>
      <p:sp>
        <p:nvSpPr>
          <p:cNvPr id="23" name="Text 20"/>
          <p:cNvSpPr/>
          <p:nvPr/>
        </p:nvSpPr>
        <p:spPr>
          <a:xfrm>
            <a:off x="7479792" y="1883664"/>
            <a:ext cx="3995928" cy="863346"/>
          </a:xfrm>
          <a:prstGeom prst="rect">
            <a:avLst/>
          </a:prstGeom>
          <a:noFill/>
          <a:ln/>
        </p:spPr>
        <p:txBody>
          <a:bodyPr wrap="square" lIns="0" tIns="0" rIns="0" bIns="0" rtlCol="0" anchor="t"/>
          <a:lstStyle/>
          <a:p>
            <a:pPr indent="0" marL="0">
              <a:lnSpc>
                <a:spcPct val="118000"/>
              </a:lnSpc>
              <a:buNone/>
            </a:pPr>
            <a:r>
              <a:rPr lang="en-US" sz="1050" dirty="0">
                <a:solidFill>
                  <a:srgbClr val="FFFFFF"/>
                </a:solidFill>
                <a:latin typeface="Courier New" pitchFamily="34" charset="0"/>
                <a:ea typeface="Courier New" pitchFamily="34" charset="-122"/>
                <a:cs typeface="Courier New" pitchFamily="34" charset="-120"/>
              </a:rPr>
              <a:t>claude mcp list</a:t>
            </a:r>
            <a:endParaRPr lang="en-US" sz="1050" dirty="0"/>
          </a:p>
          <a:p>
            <a:pPr indent="0" marL="0">
              <a:lnSpc>
                <a:spcPct val="118000"/>
              </a:lnSpc>
              <a:buNone/>
            </a:pPr>
            <a:endParaRPr lang="en-US" sz="1050" dirty="0"/>
          </a:p>
          <a:p>
            <a:pPr indent="0" marL="0">
              <a:lnSpc>
                <a:spcPct val="118000"/>
              </a:lnSpc>
              <a:buNone/>
            </a:pPr>
            <a:r>
              <a:rPr lang="en-US" sz="1050" dirty="0">
                <a:solidFill>
                  <a:srgbClr val="8A93B2"/>
                </a:solidFill>
                <a:latin typeface="Courier New" pitchFamily="34" charset="0"/>
                <a:ea typeface="Courier New" pitchFamily="34" charset="-122"/>
                <a:cs typeface="Courier New" pitchFamily="34" charset="-120"/>
              </a:rPr>
              <a:t># or inside any session:</a:t>
            </a:r>
            <a:endParaRPr lang="en-US" sz="1050" dirty="0"/>
          </a:p>
          <a:p>
            <a:pPr indent="0" marL="0">
              <a:lnSpc>
                <a:spcPct val="118000"/>
              </a:lnSpc>
              <a:buNone/>
            </a:pPr>
            <a:r>
              <a:rPr lang="en-US" sz="1050" dirty="0">
                <a:solidFill>
                  <a:srgbClr val="FFFFFF"/>
                </a:solidFill>
                <a:latin typeface="Courier New" pitchFamily="34" charset="0"/>
                <a:ea typeface="Courier New" pitchFamily="34" charset="-122"/>
                <a:cs typeface="Courier New" pitchFamily="34" charset="-120"/>
              </a:rPr>
              <a:t>/mcp</a:t>
            </a:r>
            <a:endParaRPr lang="en-US" sz="1050" dirty="0"/>
          </a:p>
        </p:txBody>
      </p:sp>
      <p:sp>
        <p:nvSpPr>
          <p:cNvPr id="24" name="Text 21"/>
          <p:cNvSpPr/>
          <p:nvPr/>
        </p:nvSpPr>
        <p:spPr>
          <a:xfrm>
            <a:off x="7333488" y="2999232"/>
            <a:ext cx="4288536" cy="256032"/>
          </a:xfrm>
          <a:prstGeom prst="rect">
            <a:avLst/>
          </a:prstGeom>
          <a:noFill/>
          <a:ln/>
        </p:spPr>
        <p:txBody>
          <a:bodyPr wrap="square" lIns="0" tIns="0" rIns="0" bIns="0" rtlCol="0" anchor="ctr"/>
          <a:lstStyle/>
          <a:p>
            <a:pPr indent="0" marL="0">
              <a:buNone/>
            </a:pPr>
            <a:r>
              <a:rPr lang="en-US" sz="1500" b="1" dirty="0">
                <a:solidFill>
                  <a:srgbClr val="14182E"/>
                </a:solidFill>
                <a:latin typeface="Cambria" pitchFamily="34" charset="0"/>
                <a:ea typeface="Cambria" pitchFamily="34" charset="-122"/>
                <a:cs typeface="Cambria" pitchFamily="34" charset="-120"/>
              </a:rPr>
              <a:t>3 · The raw protocol</a:t>
            </a:r>
            <a:endParaRPr lang="en-US" sz="1500" dirty="0"/>
          </a:p>
        </p:txBody>
      </p:sp>
      <p:sp>
        <p:nvSpPr>
          <p:cNvPr id="25" name="Shape 22"/>
          <p:cNvSpPr/>
          <p:nvPr/>
        </p:nvSpPr>
        <p:spPr>
          <a:xfrm>
            <a:off x="7333488" y="3310128"/>
            <a:ext cx="4288536" cy="669417"/>
          </a:xfrm>
          <a:prstGeom prst="roundRect">
            <a:avLst>
              <a:gd name="adj" fmla="val 8196"/>
            </a:avLst>
          </a:prstGeom>
          <a:solidFill>
            <a:srgbClr val="14182E"/>
          </a:solidFill>
          <a:ln w="12700">
            <a:solidFill>
              <a:srgbClr val="232A52"/>
            </a:solidFill>
            <a:prstDash val="solid"/>
          </a:ln>
        </p:spPr>
        <p:txBody>
          <a:bodyPr/>
          <a:p/>
        </p:txBody>
      </p:sp>
      <p:sp>
        <p:nvSpPr>
          <p:cNvPr id="26" name="Text 23"/>
          <p:cNvSpPr/>
          <p:nvPr/>
        </p:nvSpPr>
        <p:spPr>
          <a:xfrm>
            <a:off x="7479792" y="3419856"/>
            <a:ext cx="3995928" cy="449961"/>
          </a:xfrm>
          <a:prstGeom prst="rect">
            <a:avLst/>
          </a:prstGeom>
          <a:noFill/>
          <a:ln/>
        </p:spPr>
        <p:txBody>
          <a:bodyPr wrap="square" lIns="0" tIns="0" rIns="0" bIns="0" rtlCol="0" anchor="t"/>
          <a:lstStyle/>
          <a:p>
            <a:pPr indent="0" marL="0">
              <a:lnSpc>
                <a:spcPct val="118000"/>
              </a:lnSpc>
              <a:buNone/>
            </a:pPr>
            <a:r>
              <a:rPr lang="en-US" sz="1050" dirty="0">
                <a:solidFill>
                  <a:srgbClr val="8A93B2"/>
                </a:solidFill>
                <a:latin typeface="Courier New" pitchFamily="34" charset="0"/>
                <a:ea typeface="Courier New" pitchFamily="34" charset="-122"/>
                <a:cs typeface="Courier New" pitchFamily="34" charset="-120"/>
              </a:rPr>
              <a:t># initialize -&gt; tools/list</a:t>
            </a:r>
            <a:endParaRPr lang="en-US" sz="1050" dirty="0"/>
          </a:p>
          <a:p>
            <a:pPr indent="0" marL="0">
              <a:lnSpc>
                <a:spcPct val="118000"/>
              </a:lnSpc>
              <a:buNone/>
            </a:pPr>
            <a:r>
              <a:rPr lang="en-US" sz="1050" dirty="0">
                <a:solidFill>
                  <a:srgbClr val="FFFFFF"/>
                </a:solidFill>
                <a:latin typeface="Courier New" pitchFamily="34" charset="0"/>
                <a:ea typeface="Courier New" pitchFamily="34" charset="-122"/>
                <a:cs typeface="Courier New" pitchFamily="34" charset="-120"/>
              </a:rPr>
              <a:t>node list-mcp-tools.js</a:t>
            </a:r>
            <a:endParaRPr lang="en-US" sz="1050" dirty="0"/>
          </a:p>
        </p:txBody>
      </p:sp>
      <p:sp>
        <p:nvSpPr>
          <p:cNvPr id="27" name="Shape 24"/>
          <p:cNvSpPr/>
          <p:nvPr/>
        </p:nvSpPr>
        <p:spPr>
          <a:xfrm>
            <a:off x="7333488" y="4133088"/>
            <a:ext cx="4288536" cy="1773936"/>
          </a:xfrm>
          <a:prstGeom prst="roundRect">
            <a:avLst>
              <a:gd name="adj" fmla="val 4639"/>
            </a:avLst>
          </a:prstGeom>
          <a:solidFill>
            <a:srgbClr val="FDF6E3"/>
          </a:solidFill>
          <a:ln w="12700">
            <a:solidFill>
              <a:srgbClr val="EBD9A8"/>
            </a:solidFill>
            <a:prstDash val="solid"/>
          </a:ln>
          <a:effectLst>
            <a:outerShdw sx="100000" sy="100000" kx="0" ky="0" algn="bl" rotWithShape="0" blurRad="127000" dist="25400" dir="5400000">
              <a:srgbClr val="9AA0B5">
                <a:alpha val="28000"/>
              </a:srgbClr>
            </a:outerShdw>
          </a:effectLst>
        </p:spPr>
        <p:txBody>
          <a:bodyPr/>
          <a:p/>
        </p:txBody>
      </p:sp>
      <p:sp>
        <p:nvSpPr>
          <p:cNvPr id="28" name="Text 25"/>
          <p:cNvSpPr/>
          <p:nvPr/>
        </p:nvSpPr>
        <p:spPr>
          <a:xfrm>
            <a:off x="7589520" y="4297680"/>
            <a:ext cx="3776472" cy="310896"/>
          </a:xfrm>
          <a:prstGeom prst="rect">
            <a:avLst/>
          </a:prstGeom>
          <a:noFill/>
          <a:ln/>
        </p:spPr>
        <p:txBody>
          <a:bodyPr wrap="square" lIns="0" tIns="0" rIns="0" bIns="0" rtlCol="0" anchor="ctr"/>
          <a:lstStyle/>
          <a:p>
            <a:pPr indent="0" marL="0">
              <a:buNone/>
            </a:pPr>
            <a:r>
              <a:rPr lang="en-US" sz="1500" b="1" dirty="0">
                <a:solidFill>
                  <a:srgbClr val="6B551A"/>
                </a:solidFill>
                <a:latin typeface="Cambria" pitchFamily="34" charset="0"/>
                <a:ea typeface="Cambria" pitchFamily="34" charset="-122"/>
                <a:cs typeface="Cambria" pitchFamily="34" charset="-120"/>
              </a:rPr>
              <a:t>The descriptions are the routing logic</a:t>
            </a:r>
            <a:endParaRPr lang="en-US" sz="1500" dirty="0"/>
          </a:p>
        </p:txBody>
      </p:sp>
      <p:sp>
        <p:nvSpPr>
          <p:cNvPr id="29" name="Text 26"/>
          <p:cNvSpPr/>
          <p:nvPr/>
        </p:nvSpPr>
        <p:spPr>
          <a:xfrm>
            <a:off x="7589520" y="4663440"/>
            <a:ext cx="3776472" cy="1097280"/>
          </a:xfrm>
          <a:prstGeom prst="rect">
            <a:avLst/>
          </a:prstGeom>
          <a:noFill/>
          <a:ln/>
        </p:spPr>
        <p:txBody>
          <a:bodyPr wrap="square" lIns="0" tIns="0" rIns="0" bIns="0" rtlCol="0" anchor="ctr"/>
          <a:lstStyle/>
          <a:p>
            <a:pPr indent="0" marL="0">
              <a:lnSpc>
                <a:spcPct val="112000"/>
              </a:lnSpc>
              <a:buNone/>
            </a:pPr>
            <a:r>
              <a:rPr lang="en-US" sz="1150" dirty="0">
                <a:solidFill>
                  <a:srgbClr val="6B551A"/>
                </a:solidFill>
                <a:latin typeface="Calibri" pitchFamily="34" charset="0"/>
                <a:ea typeface="Calibri" pitchFamily="34" charset="-122"/>
                <a:cs typeface="Calibri" pitchFamily="34" charset="-120"/>
              </a:rPr>
              <a:t>That text is the only thing the model reads when it decides which tool to call. Vague descriptions produce vague routing — in your MCP server, and in your semantic model.</a:t>
            </a:r>
            <a:endParaRPr lang="en-US" sz="1150" dirty="0"/>
          </a:p>
        </p:txBody>
      </p:sp>
      <p:sp>
        <p:nvSpPr>
          <p:cNvPr id="30" name="Text 27"/>
          <p:cNvSpPr/>
          <p:nvPr/>
        </p:nvSpPr>
        <p:spPr>
          <a:xfrm>
            <a:off x="566928" y="5943600"/>
            <a:ext cx="8311896" cy="384048"/>
          </a:xfrm>
          <a:prstGeom prst="rect">
            <a:avLst/>
          </a:prstGeom>
          <a:noFill/>
          <a:ln/>
        </p:spPr>
        <p:txBody>
          <a:bodyPr wrap="square" lIns="0" tIns="0" rIns="0" bIns="0"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--readonly does not shorten the list: all 21 tools still register, and a write guard blocks the writes at call time.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9134856" y="6381598"/>
            <a:ext cx="310896" cy="20117"/>
          </a:xfrm>
          <a:prstGeom prst="rect">
            <a:avLst/>
          </a:prstGeom>
          <a:solidFill>
            <a:srgbClr val="B23A34"/>
          </a:solidFill>
          <a:ln w="12700">
            <a:solidFill>
              <a:srgbClr val="B23A34"/>
            </a:solidFill>
            <a:prstDash val="solid"/>
          </a:ln>
        </p:spPr>
        <p:txBody>
          <a:bodyPr/>
          <a:lstStyle/>
          <a:p>
            <a:endParaRPr lang="en-US"/>
          </a:p>
        </p:txBody>
      </p:sp>
      <p:sp>
        <p:nvSpPr>
          <p:cNvPr id="4" name="Text 1"/>
          <p:cNvSpPr/>
          <p:nvPr/>
        </p:nvSpPr>
        <p:spPr>
          <a:xfrm>
            <a:off x="9518904" y="6272784"/>
            <a:ext cx="2103120" cy="237744"/>
          </a:xfrm>
          <a:prstGeom prst="rect">
            <a:avLst/>
          </a:prstGeom>
          <a:noFill/>
          <a:ln/>
        </p:spPr>
        <p:txBody>
          <a:bodyPr wrap="square" lIns="0" tIns="0" rIns="0" bIns="0" rtlCol="0" anchor="ctr"/>
          <a:lstStyle/>
          <a:p>
            <a:pPr marL="0" indent="0" algn="r">
              <a:buNone/>
            </a:pPr>
            <a:r>
              <a:rPr lang="en-US" sz="900" b="1" kern="0" spc="120" dirty="0">
                <a:solidFill>
                  <a:srgbClr val="6B7280"/>
                </a:solidFill>
                <a:latin typeface="Calibri" pitchFamily="34" charset="0"/>
                <a:ea typeface="Calibri" pitchFamily="34" charset="-122"/>
                <a:cs typeface="Calibri" pitchFamily="34" charset="-120"/>
              </a:rPr>
              <a:t>11 / 22  ·  BOUNDARY</a:t>
            </a:r>
            <a:endParaRPr lang="en-US" sz="900" dirty="0"/>
          </a:p>
        </p:txBody>
      </p:sp>
      <p:sp>
        <p:nvSpPr>
          <p:cNvPr id="5" name="Shape 2"/>
          <p:cNvSpPr/>
          <p:nvPr/>
        </p:nvSpPr>
        <p:spPr>
          <a:xfrm>
            <a:off x="566928" y="274320"/>
            <a:ext cx="566928" cy="41148"/>
          </a:xfrm>
          <a:prstGeom prst="rect">
            <a:avLst/>
          </a:prstGeom>
          <a:solidFill>
            <a:srgbClr val="1F9E96"/>
          </a:solidFill>
          <a:ln w="12700">
            <a:solidFill>
              <a:srgbClr val="1F9E96"/>
            </a:solidFill>
            <a:prstDash val="solid"/>
          </a:ln>
        </p:spPr>
        <p:txBody>
          <a:bodyPr/>
          <a:lstStyle/>
          <a:p>
            <a:endParaRPr lang="en-US"/>
          </a:p>
        </p:txBody>
      </p:sp>
      <p:sp>
        <p:nvSpPr>
          <p:cNvPr id="6" name="Text 3"/>
          <p:cNvSpPr/>
          <p:nvPr/>
        </p:nvSpPr>
        <p:spPr>
          <a:xfrm>
            <a:off x="566928" y="402336"/>
            <a:ext cx="11055096" cy="256032"/>
          </a:xfrm>
          <a:prstGeom prst="rect">
            <a:avLst/>
          </a:prstGeom>
          <a:noFill/>
          <a:ln/>
        </p:spPr>
        <p:txBody>
          <a:bodyPr wrap="square" lIns="0" tIns="0" rIns="0" bIns="0" rtlCol="0" anchor="ctr"/>
          <a:lstStyle/>
          <a:p>
            <a:pPr marL="0" indent="0">
              <a:buNone/>
            </a:pPr>
            <a:r>
              <a:rPr lang="en-US" sz="1100" b="1" kern="0" spc="220" dirty="0">
                <a:solidFill>
                  <a:srgbClr val="1F9E96"/>
                </a:solidFill>
                <a:latin typeface="Calibri" pitchFamily="34" charset="0"/>
                <a:ea typeface="Calibri" pitchFamily="34" charset="-122"/>
                <a:cs typeface="Calibri" pitchFamily="34" charset="-120"/>
              </a:rPr>
              <a:t>THE BOUNDARY · 1</a:t>
            </a:r>
            <a:endParaRPr lang="en-US" sz="1100" dirty="0"/>
          </a:p>
        </p:txBody>
      </p:sp>
      <p:sp>
        <p:nvSpPr>
          <p:cNvPr id="7" name="Text 4"/>
          <p:cNvSpPr/>
          <p:nvPr/>
        </p:nvSpPr>
        <p:spPr>
          <a:xfrm>
            <a:off x="566928" y="676656"/>
            <a:ext cx="11055096" cy="621792"/>
          </a:xfrm>
          <a:prstGeom prst="rect">
            <a:avLst/>
          </a:prstGeom>
          <a:noFill/>
          <a:ln/>
        </p:spPr>
        <p:txBody>
          <a:bodyPr wrap="square" lIns="0" tIns="0" rIns="0" bIns="0" rtlCol="0" anchor="ctr"/>
          <a:lstStyle/>
          <a:p>
            <a:pPr marL="0" indent="0">
              <a:buNone/>
            </a:pPr>
            <a:r>
              <a:rPr lang="en-US" sz="3400" b="1" dirty="0">
                <a:solidFill>
                  <a:srgbClr val="14182E"/>
                </a:solidFill>
                <a:latin typeface="Cambria" pitchFamily="34" charset="0"/>
                <a:ea typeface="Cambria" pitchFamily="34" charset="-122"/>
                <a:cs typeface="Cambria" pitchFamily="34" charset="-120"/>
              </a:rPr>
              <a:t>What it can do</a:t>
            </a:r>
            <a:endParaRPr lang="en-US" sz="3400" dirty="0"/>
          </a:p>
        </p:txBody>
      </p:sp>
      <p:sp>
        <p:nvSpPr>
          <p:cNvPr id="8" name="Shape 5"/>
          <p:cNvSpPr/>
          <p:nvPr/>
        </p:nvSpPr>
        <p:spPr>
          <a:xfrm>
            <a:off x="566928" y="1600200"/>
            <a:ext cx="5344668" cy="1261872"/>
          </a:xfrm>
          <a:prstGeom prst="roundRect">
            <a:avLst>
              <a:gd name="adj" fmla="val 6522"/>
            </a:avLst>
          </a:prstGeom>
          <a:solidFill>
            <a:srgbClr val="EDF7F6"/>
          </a:solidFill>
          <a:ln w="12700">
            <a:solidFill>
              <a:srgbClr val="C7E4E1"/>
            </a:solidFill>
            <a:prstDash val="solid"/>
          </a:ln>
          <a:effectLst>
            <a:outerShdw blurRad="127000" dist="25400" dir="5400000" algn="bl" rotWithShape="0">
              <a:srgbClr val="9AA0B5">
                <a:alpha val="28000"/>
              </a:srgbClr>
            </a:outerShdw>
          </a:effectLst>
        </p:spPr>
        <p:txBody>
          <a:bodyPr/>
          <a:lstStyle/>
          <a:p>
            <a:endParaRPr lang="en-US"/>
          </a:p>
        </p:txBody>
      </p:sp>
      <p:sp>
        <p:nvSpPr>
          <p:cNvPr id="9" name="Shape 6"/>
          <p:cNvSpPr/>
          <p:nvPr/>
        </p:nvSpPr>
        <p:spPr>
          <a:xfrm>
            <a:off x="841248" y="1874520"/>
            <a:ext cx="310896" cy="310896"/>
          </a:xfrm>
          <a:prstGeom prst="ellipse">
            <a:avLst/>
          </a:prstGeom>
          <a:solidFill>
            <a:srgbClr val="1F9E96"/>
          </a:solidFill>
          <a:ln w="12700">
            <a:solidFill>
              <a:srgbClr val="1F9E96"/>
            </a:solidFill>
            <a:prstDash val="solid"/>
          </a:ln>
        </p:spPr>
        <p:txBody>
          <a:bodyPr/>
          <a:lstStyle/>
          <a:p>
            <a:endParaRPr lang="en-US"/>
          </a:p>
        </p:txBody>
      </p:sp>
      <p:sp>
        <p:nvSpPr>
          <p:cNvPr id="10" name="Text 7"/>
          <p:cNvSpPr/>
          <p:nvPr/>
        </p:nvSpPr>
        <p:spPr>
          <a:xfrm>
            <a:off x="841248" y="1874520"/>
            <a:ext cx="310896"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1" name="Text 8"/>
          <p:cNvSpPr/>
          <p:nvPr/>
        </p:nvSpPr>
        <p:spPr>
          <a:xfrm>
            <a:off x="1280160" y="1819656"/>
            <a:ext cx="4375404" cy="310896"/>
          </a:xfrm>
          <a:prstGeom prst="rect">
            <a:avLst/>
          </a:prstGeom>
          <a:noFill/>
          <a:ln/>
        </p:spPr>
        <p:txBody>
          <a:bodyPr wrap="square" lIns="0" tIns="0" rIns="0" bIns="0" rtlCol="0" anchor="ctr"/>
          <a:lstStyle/>
          <a:p>
            <a:pPr marL="0" indent="0">
              <a:buNone/>
            </a:pPr>
            <a:r>
              <a:rPr lang="en-US" sz="1700" b="1" dirty="0">
                <a:solidFill>
                  <a:srgbClr val="17635E"/>
                </a:solidFill>
                <a:latin typeface="Cambria" pitchFamily="34" charset="0"/>
                <a:ea typeface="Cambria" pitchFamily="34" charset="-122"/>
                <a:cs typeface="Cambria" pitchFamily="34" charset="-120"/>
              </a:rPr>
              <a:t>Model structure</a:t>
            </a:r>
            <a:endParaRPr lang="en-US" sz="1700" dirty="0"/>
          </a:p>
        </p:txBody>
      </p:sp>
      <p:sp>
        <p:nvSpPr>
          <p:cNvPr id="12" name="Text 9"/>
          <p:cNvSpPr/>
          <p:nvPr/>
        </p:nvSpPr>
        <p:spPr>
          <a:xfrm>
            <a:off x="1280160" y="2130552"/>
            <a:ext cx="4375404" cy="621792"/>
          </a:xfrm>
          <a:prstGeom prst="rect">
            <a:avLst/>
          </a:prstGeom>
          <a:noFill/>
          <a:ln/>
        </p:spPr>
        <p:txBody>
          <a:bodyPr wrap="square" lIns="0" tIns="0" rIns="0" bIns="0" rtlCol="0" anchor="ctr"/>
          <a:lstStyle/>
          <a:p>
            <a:pPr marL="0" indent="0">
              <a:buNone/>
            </a:pPr>
            <a:r>
              <a:rPr lang="en-US" sz="1250" dirty="0">
                <a:solidFill>
                  <a:srgbClr val="1D4F4B"/>
                </a:solidFill>
                <a:latin typeface="Calibri" pitchFamily="34" charset="0"/>
                <a:ea typeface="Calibri" pitchFamily="34" charset="-122"/>
                <a:cs typeface="Calibri" pitchFamily="34" charset="-120"/>
              </a:rPr>
              <a:t>Tables, columns, measures, relationships, hierarchies, partitions</a:t>
            </a:r>
            <a:endParaRPr lang="en-US" sz="1250" dirty="0"/>
          </a:p>
        </p:txBody>
      </p:sp>
      <p:sp>
        <p:nvSpPr>
          <p:cNvPr id="13" name="Shape 10"/>
          <p:cNvSpPr/>
          <p:nvPr/>
        </p:nvSpPr>
        <p:spPr>
          <a:xfrm>
            <a:off x="6277356" y="1600200"/>
            <a:ext cx="5344668" cy="1261872"/>
          </a:xfrm>
          <a:prstGeom prst="roundRect">
            <a:avLst>
              <a:gd name="adj" fmla="val 6522"/>
            </a:avLst>
          </a:prstGeom>
          <a:solidFill>
            <a:srgbClr val="EDF7F6"/>
          </a:solidFill>
          <a:ln w="12700">
            <a:solidFill>
              <a:srgbClr val="C7E4E1"/>
            </a:solidFill>
            <a:prstDash val="solid"/>
          </a:ln>
          <a:effectLst>
            <a:outerShdw blurRad="127000" dist="25400" dir="5400000" algn="bl" rotWithShape="0">
              <a:srgbClr val="9AA0B5">
                <a:alpha val="28000"/>
              </a:srgbClr>
            </a:outerShdw>
          </a:effectLst>
        </p:spPr>
        <p:txBody>
          <a:bodyPr/>
          <a:lstStyle/>
          <a:p>
            <a:endParaRPr lang="en-US"/>
          </a:p>
        </p:txBody>
      </p:sp>
      <p:sp>
        <p:nvSpPr>
          <p:cNvPr id="14" name="Shape 11"/>
          <p:cNvSpPr/>
          <p:nvPr/>
        </p:nvSpPr>
        <p:spPr>
          <a:xfrm>
            <a:off x="6551676" y="1874520"/>
            <a:ext cx="310896" cy="310896"/>
          </a:xfrm>
          <a:prstGeom prst="ellipse">
            <a:avLst/>
          </a:prstGeom>
          <a:solidFill>
            <a:srgbClr val="1F9E96"/>
          </a:solidFill>
          <a:ln w="12700">
            <a:solidFill>
              <a:srgbClr val="1F9E96"/>
            </a:solidFill>
            <a:prstDash val="solid"/>
          </a:ln>
        </p:spPr>
        <p:txBody>
          <a:bodyPr/>
          <a:lstStyle/>
          <a:p>
            <a:endParaRPr lang="en-US"/>
          </a:p>
        </p:txBody>
      </p:sp>
      <p:sp>
        <p:nvSpPr>
          <p:cNvPr id="15" name="Text 12"/>
          <p:cNvSpPr/>
          <p:nvPr/>
        </p:nvSpPr>
        <p:spPr>
          <a:xfrm>
            <a:off x="6551676" y="1874520"/>
            <a:ext cx="310896"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6" name="Text 13"/>
          <p:cNvSpPr/>
          <p:nvPr/>
        </p:nvSpPr>
        <p:spPr>
          <a:xfrm>
            <a:off x="6990588" y="1819656"/>
            <a:ext cx="4375404" cy="310896"/>
          </a:xfrm>
          <a:prstGeom prst="rect">
            <a:avLst/>
          </a:prstGeom>
          <a:noFill/>
          <a:ln/>
        </p:spPr>
        <p:txBody>
          <a:bodyPr wrap="square" lIns="0" tIns="0" rIns="0" bIns="0" rtlCol="0" anchor="ctr"/>
          <a:lstStyle/>
          <a:p>
            <a:pPr marL="0" indent="0">
              <a:buNone/>
            </a:pPr>
            <a:r>
              <a:rPr lang="en-US" sz="1700" b="1" dirty="0">
                <a:solidFill>
                  <a:srgbClr val="17635E"/>
                </a:solidFill>
                <a:latin typeface="Cambria" pitchFamily="34" charset="0"/>
                <a:ea typeface="Cambria" pitchFamily="34" charset="-122"/>
                <a:cs typeface="Cambria" pitchFamily="34" charset="-120"/>
              </a:rPr>
              <a:t>Metadata for AI</a:t>
            </a:r>
            <a:endParaRPr lang="en-US" sz="1700" dirty="0"/>
          </a:p>
        </p:txBody>
      </p:sp>
      <p:sp>
        <p:nvSpPr>
          <p:cNvPr id="17" name="Text 14"/>
          <p:cNvSpPr/>
          <p:nvPr/>
        </p:nvSpPr>
        <p:spPr>
          <a:xfrm>
            <a:off x="6990588" y="2130552"/>
            <a:ext cx="4375404" cy="621792"/>
          </a:xfrm>
          <a:prstGeom prst="rect">
            <a:avLst/>
          </a:prstGeom>
          <a:noFill/>
          <a:ln/>
        </p:spPr>
        <p:txBody>
          <a:bodyPr wrap="square" lIns="0" tIns="0" rIns="0" bIns="0" rtlCol="0" anchor="ctr"/>
          <a:lstStyle/>
          <a:p>
            <a:pPr marL="0" indent="0">
              <a:buNone/>
            </a:pPr>
            <a:r>
              <a:rPr lang="en-US" sz="1250" dirty="0">
                <a:solidFill>
                  <a:srgbClr val="1D4F4B"/>
                </a:solidFill>
                <a:latin typeface="Calibri" pitchFamily="34" charset="0"/>
                <a:ea typeface="Calibri" pitchFamily="34" charset="-122"/>
                <a:cs typeface="Calibri" pitchFamily="34" charset="-120"/>
              </a:rPr>
              <a:t>Descriptions, display folders, format strings, hidden flags, summarizeBy</a:t>
            </a:r>
            <a:endParaRPr lang="en-US" sz="1250" dirty="0"/>
          </a:p>
        </p:txBody>
      </p:sp>
      <p:sp>
        <p:nvSpPr>
          <p:cNvPr id="18" name="Shape 15"/>
          <p:cNvSpPr/>
          <p:nvPr/>
        </p:nvSpPr>
        <p:spPr>
          <a:xfrm>
            <a:off x="566928" y="3063240"/>
            <a:ext cx="5344668" cy="1261872"/>
          </a:xfrm>
          <a:prstGeom prst="roundRect">
            <a:avLst>
              <a:gd name="adj" fmla="val 6522"/>
            </a:avLst>
          </a:prstGeom>
          <a:solidFill>
            <a:srgbClr val="EDF7F6"/>
          </a:solidFill>
          <a:ln w="12700">
            <a:solidFill>
              <a:srgbClr val="C7E4E1"/>
            </a:solidFill>
            <a:prstDash val="solid"/>
          </a:ln>
          <a:effectLst>
            <a:outerShdw blurRad="127000" dist="25400" dir="5400000" algn="bl" rotWithShape="0">
              <a:srgbClr val="9AA0B5">
                <a:alpha val="28000"/>
              </a:srgbClr>
            </a:outerShdw>
          </a:effectLst>
        </p:spPr>
        <p:txBody>
          <a:bodyPr/>
          <a:lstStyle/>
          <a:p>
            <a:endParaRPr lang="en-US"/>
          </a:p>
        </p:txBody>
      </p:sp>
      <p:sp>
        <p:nvSpPr>
          <p:cNvPr id="19" name="Shape 16"/>
          <p:cNvSpPr/>
          <p:nvPr/>
        </p:nvSpPr>
        <p:spPr>
          <a:xfrm>
            <a:off x="841248" y="3337560"/>
            <a:ext cx="310896" cy="310896"/>
          </a:xfrm>
          <a:prstGeom prst="ellipse">
            <a:avLst/>
          </a:prstGeom>
          <a:solidFill>
            <a:srgbClr val="1F9E96"/>
          </a:solidFill>
          <a:ln w="12700">
            <a:solidFill>
              <a:srgbClr val="1F9E96"/>
            </a:solidFill>
            <a:prstDash val="solid"/>
          </a:ln>
        </p:spPr>
        <p:txBody>
          <a:bodyPr/>
          <a:lstStyle/>
          <a:p>
            <a:endParaRPr lang="en-US"/>
          </a:p>
        </p:txBody>
      </p:sp>
      <p:sp>
        <p:nvSpPr>
          <p:cNvPr id="20" name="Text 17"/>
          <p:cNvSpPr/>
          <p:nvPr/>
        </p:nvSpPr>
        <p:spPr>
          <a:xfrm>
            <a:off x="841248" y="3337560"/>
            <a:ext cx="310896"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1" name="Text 18"/>
          <p:cNvSpPr/>
          <p:nvPr/>
        </p:nvSpPr>
        <p:spPr>
          <a:xfrm>
            <a:off x="1280160" y="3282696"/>
            <a:ext cx="4375404" cy="310896"/>
          </a:xfrm>
          <a:prstGeom prst="rect">
            <a:avLst/>
          </a:prstGeom>
          <a:noFill/>
          <a:ln/>
        </p:spPr>
        <p:txBody>
          <a:bodyPr wrap="square" lIns="0" tIns="0" rIns="0" bIns="0" rtlCol="0" anchor="ctr"/>
          <a:lstStyle/>
          <a:p>
            <a:pPr marL="0" indent="0">
              <a:buNone/>
            </a:pPr>
            <a:r>
              <a:rPr lang="en-US" sz="1700" b="1" dirty="0">
                <a:solidFill>
                  <a:srgbClr val="17635E"/>
                </a:solidFill>
                <a:latin typeface="Cambria" pitchFamily="34" charset="0"/>
                <a:ea typeface="Cambria" pitchFamily="34" charset="-122"/>
                <a:cs typeface="Cambria" pitchFamily="34" charset="-120"/>
              </a:rPr>
              <a:t>Advanced modelling</a:t>
            </a:r>
            <a:endParaRPr lang="en-US" sz="1700" dirty="0"/>
          </a:p>
        </p:txBody>
      </p:sp>
      <p:sp>
        <p:nvSpPr>
          <p:cNvPr id="22" name="Text 19"/>
          <p:cNvSpPr/>
          <p:nvPr/>
        </p:nvSpPr>
        <p:spPr>
          <a:xfrm>
            <a:off x="1280160" y="3593592"/>
            <a:ext cx="4375404" cy="621792"/>
          </a:xfrm>
          <a:prstGeom prst="rect">
            <a:avLst/>
          </a:prstGeom>
          <a:noFill/>
          <a:ln/>
        </p:spPr>
        <p:txBody>
          <a:bodyPr wrap="square" lIns="0" tIns="0" rIns="0" bIns="0" rtlCol="0" anchor="ctr"/>
          <a:lstStyle/>
          <a:p>
            <a:pPr marL="0" indent="0">
              <a:buNone/>
            </a:pPr>
            <a:r>
              <a:rPr lang="en-US" sz="1250" dirty="0">
                <a:solidFill>
                  <a:srgbClr val="1D4F4B"/>
                </a:solidFill>
                <a:latin typeface="Calibri" pitchFamily="34" charset="0"/>
                <a:ea typeface="Calibri" pitchFamily="34" charset="-122"/>
                <a:cs typeface="Calibri" pitchFamily="34" charset="-120"/>
              </a:rPr>
              <a:t>Calculation groups, perspectives, security roles, translations, cultures</a:t>
            </a:r>
            <a:endParaRPr lang="en-US" sz="1250" dirty="0"/>
          </a:p>
        </p:txBody>
      </p:sp>
      <p:sp>
        <p:nvSpPr>
          <p:cNvPr id="23" name="Shape 20"/>
          <p:cNvSpPr/>
          <p:nvPr/>
        </p:nvSpPr>
        <p:spPr>
          <a:xfrm>
            <a:off x="6277356" y="3063240"/>
            <a:ext cx="5344668" cy="1261872"/>
          </a:xfrm>
          <a:prstGeom prst="roundRect">
            <a:avLst>
              <a:gd name="adj" fmla="val 6522"/>
            </a:avLst>
          </a:prstGeom>
          <a:solidFill>
            <a:srgbClr val="EDF7F6"/>
          </a:solidFill>
          <a:ln w="12700">
            <a:solidFill>
              <a:srgbClr val="C7E4E1"/>
            </a:solidFill>
            <a:prstDash val="solid"/>
          </a:ln>
          <a:effectLst>
            <a:outerShdw blurRad="127000" dist="25400" dir="5400000" algn="bl" rotWithShape="0">
              <a:srgbClr val="9AA0B5">
                <a:alpha val="28000"/>
              </a:srgbClr>
            </a:outerShdw>
          </a:effectLst>
        </p:spPr>
        <p:txBody>
          <a:bodyPr/>
          <a:lstStyle/>
          <a:p>
            <a:endParaRPr lang="en-US"/>
          </a:p>
        </p:txBody>
      </p:sp>
      <p:sp>
        <p:nvSpPr>
          <p:cNvPr id="24" name="Shape 21"/>
          <p:cNvSpPr/>
          <p:nvPr/>
        </p:nvSpPr>
        <p:spPr>
          <a:xfrm>
            <a:off x="6551676" y="3337560"/>
            <a:ext cx="310896" cy="310896"/>
          </a:xfrm>
          <a:prstGeom prst="ellipse">
            <a:avLst/>
          </a:prstGeom>
          <a:solidFill>
            <a:srgbClr val="1F9E96"/>
          </a:solidFill>
          <a:ln w="12700">
            <a:solidFill>
              <a:srgbClr val="1F9E96"/>
            </a:solidFill>
            <a:prstDash val="solid"/>
          </a:ln>
        </p:spPr>
        <p:txBody>
          <a:bodyPr/>
          <a:lstStyle/>
          <a:p>
            <a:endParaRPr lang="en-US"/>
          </a:p>
        </p:txBody>
      </p:sp>
      <p:sp>
        <p:nvSpPr>
          <p:cNvPr id="25" name="Text 22"/>
          <p:cNvSpPr/>
          <p:nvPr/>
        </p:nvSpPr>
        <p:spPr>
          <a:xfrm>
            <a:off x="6551676" y="3337560"/>
            <a:ext cx="310896"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6" name="Text 23"/>
          <p:cNvSpPr/>
          <p:nvPr/>
        </p:nvSpPr>
        <p:spPr>
          <a:xfrm>
            <a:off x="6990588" y="3282696"/>
            <a:ext cx="4375404" cy="310896"/>
          </a:xfrm>
          <a:prstGeom prst="rect">
            <a:avLst/>
          </a:prstGeom>
          <a:noFill/>
          <a:ln/>
        </p:spPr>
        <p:txBody>
          <a:bodyPr wrap="square" lIns="0" tIns="0" rIns="0" bIns="0" rtlCol="0" anchor="ctr"/>
          <a:lstStyle/>
          <a:p>
            <a:pPr marL="0" indent="0">
              <a:buNone/>
            </a:pPr>
            <a:r>
              <a:rPr lang="en-US" sz="1700" b="1" dirty="0">
                <a:solidFill>
                  <a:srgbClr val="17635E"/>
                </a:solidFill>
                <a:latin typeface="Cambria" pitchFamily="34" charset="0"/>
                <a:ea typeface="Cambria" pitchFamily="34" charset="-122"/>
                <a:cs typeface="Cambria" pitchFamily="34" charset="-120"/>
              </a:rPr>
              <a:t>DAX</a:t>
            </a:r>
            <a:endParaRPr lang="en-US" sz="1700" dirty="0"/>
          </a:p>
        </p:txBody>
      </p:sp>
      <p:sp>
        <p:nvSpPr>
          <p:cNvPr id="27" name="Text 24"/>
          <p:cNvSpPr/>
          <p:nvPr/>
        </p:nvSpPr>
        <p:spPr>
          <a:xfrm>
            <a:off x="6990588" y="3593592"/>
            <a:ext cx="4375404" cy="621792"/>
          </a:xfrm>
          <a:prstGeom prst="rect">
            <a:avLst/>
          </a:prstGeom>
          <a:noFill/>
          <a:ln/>
        </p:spPr>
        <p:txBody>
          <a:bodyPr wrap="square" lIns="0" tIns="0" rIns="0" bIns="0" rtlCol="0" anchor="ctr"/>
          <a:lstStyle/>
          <a:p>
            <a:pPr marL="0" indent="0">
              <a:buNone/>
            </a:pPr>
            <a:r>
              <a:rPr lang="en-US" sz="1250" dirty="0">
                <a:solidFill>
                  <a:srgbClr val="1D4F4B"/>
                </a:solidFill>
                <a:latin typeface="Calibri" pitchFamily="34" charset="0"/>
                <a:ea typeface="Calibri" pitchFamily="34" charset="-122"/>
                <a:cs typeface="Calibri" pitchFamily="34" charset="-120"/>
              </a:rPr>
              <a:t>Validate before writing, execute, capture execution metrics, run traces</a:t>
            </a:r>
            <a:endParaRPr lang="en-US" sz="1250" dirty="0"/>
          </a:p>
        </p:txBody>
      </p:sp>
      <p:sp>
        <p:nvSpPr>
          <p:cNvPr id="28" name="Shape 25"/>
          <p:cNvSpPr/>
          <p:nvPr/>
        </p:nvSpPr>
        <p:spPr>
          <a:xfrm>
            <a:off x="566928" y="4526280"/>
            <a:ext cx="5344668" cy="1261872"/>
          </a:xfrm>
          <a:prstGeom prst="roundRect">
            <a:avLst>
              <a:gd name="adj" fmla="val 6522"/>
            </a:avLst>
          </a:prstGeom>
          <a:solidFill>
            <a:srgbClr val="EDF7F6"/>
          </a:solidFill>
          <a:ln w="12700">
            <a:solidFill>
              <a:srgbClr val="C7E4E1"/>
            </a:solidFill>
            <a:prstDash val="solid"/>
          </a:ln>
          <a:effectLst>
            <a:outerShdw blurRad="127000" dist="25400" dir="5400000" algn="bl" rotWithShape="0">
              <a:srgbClr val="9AA0B5">
                <a:alpha val="28000"/>
              </a:srgbClr>
            </a:outerShdw>
          </a:effectLst>
        </p:spPr>
        <p:txBody>
          <a:bodyPr/>
          <a:lstStyle/>
          <a:p>
            <a:endParaRPr lang="en-US"/>
          </a:p>
        </p:txBody>
      </p:sp>
      <p:sp>
        <p:nvSpPr>
          <p:cNvPr id="29" name="Shape 26"/>
          <p:cNvSpPr/>
          <p:nvPr/>
        </p:nvSpPr>
        <p:spPr>
          <a:xfrm>
            <a:off x="841248" y="4800600"/>
            <a:ext cx="310896" cy="310896"/>
          </a:xfrm>
          <a:prstGeom prst="ellipse">
            <a:avLst/>
          </a:prstGeom>
          <a:solidFill>
            <a:srgbClr val="1F9E96"/>
          </a:solidFill>
          <a:ln w="12700">
            <a:solidFill>
              <a:srgbClr val="1F9E96"/>
            </a:solidFill>
            <a:prstDash val="solid"/>
          </a:ln>
        </p:spPr>
        <p:txBody>
          <a:bodyPr/>
          <a:lstStyle/>
          <a:p>
            <a:endParaRPr lang="en-US"/>
          </a:p>
        </p:txBody>
      </p:sp>
      <p:sp>
        <p:nvSpPr>
          <p:cNvPr id="30" name="Text 27"/>
          <p:cNvSpPr/>
          <p:nvPr/>
        </p:nvSpPr>
        <p:spPr>
          <a:xfrm>
            <a:off x="841248" y="4800600"/>
            <a:ext cx="310896"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31" name="Text 28"/>
          <p:cNvSpPr/>
          <p:nvPr/>
        </p:nvSpPr>
        <p:spPr>
          <a:xfrm>
            <a:off x="1280160" y="4745736"/>
            <a:ext cx="4375404" cy="310896"/>
          </a:xfrm>
          <a:prstGeom prst="rect">
            <a:avLst/>
          </a:prstGeom>
          <a:noFill/>
          <a:ln/>
        </p:spPr>
        <p:txBody>
          <a:bodyPr wrap="square" lIns="0" tIns="0" rIns="0" bIns="0" rtlCol="0" anchor="ctr"/>
          <a:lstStyle/>
          <a:p>
            <a:pPr marL="0" indent="0">
              <a:buNone/>
            </a:pPr>
            <a:r>
              <a:rPr lang="en-US" sz="1700" b="1" dirty="0">
                <a:solidFill>
                  <a:srgbClr val="17635E"/>
                </a:solidFill>
                <a:latin typeface="Cambria" pitchFamily="34" charset="0"/>
                <a:ea typeface="Cambria" pitchFamily="34" charset="-122"/>
                <a:cs typeface="Cambria" pitchFamily="34" charset="-120"/>
              </a:rPr>
              <a:t>Scale</a:t>
            </a:r>
            <a:endParaRPr lang="en-US" sz="1700" dirty="0"/>
          </a:p>
        </p:txBody>
      </p:sp>
      <p:sp>
        <p:nvSpPr>
          <p:cNvPr id="32" name="Text 29"/>
          <p:cNvSpPr/>
          <p:nvPr/>
        </p:nvSpPr>
        <p:spPr>
          <a:xfrm>
            <a:off x="1280160" y="5056632"/>
            <a:ext cx="4375404" cy="621792"/>
          </a:xfrm>
          <a:prstGeom prst="rect">
            <a:avLst/>
          </a:prstGeom>
          <a:noFill/>
          <a:ln/>
        </p:spPr>
        <p:txBody>
          <a:bodyPr wrap="square" lIns="0" tIns="0" rIns="0" bIns="0" rtlCol="0" anchor="ctr"/>
          <a:lstStyle/>
          <a:p>
            <a:pPr marL="0" indent="0">
              <a:buNone/>
            </a:pPr>
            <a:r>
              <a:rPr lang="en-US" sz="1250" dirty="0">
                <a:solidFill>
                  <a:srgbClr val="1D4F4B"/>
                </a:solidFill>
                <a:latin typeface="Calibri" pitchFamily="34" charset="0"/>
                <a:ea typeface="Calibri" pitchFamily="34" charset="-122"/>
                <a:cs typeface="Calibri" pitchFamily="34" charset="-120"/>
              </a:rPr>
              <a:t>Batch operations over hundreds of objects, inside transactions</a:t>
            </a:r>
            <a:endParaRPr lang="en-US" sz="1250" dirty="0"/>
          </a:p>
        </p:txBody>
      </p:sp>
      <p:sp>
        <p:nvSpPr>
          <p:cNvPr id="33" name="Shape 30"/>
          <p:cNvSpPr/>
          <p:nvPr/>
        </p:nvSpPr>
        <p:spPr>
          <a:xfrm>
            <a:off x="6277356" y="4526280"/>
            <a:ext cx="5344668" cy="1261872"/>
          </a:xfrm>
          <a:prstGeom prst="roundRect">
            <a:avLst>
              <a:gd name="adj" fmla="val 6522"/>
            </a:avLst>
          </a:prstGeom>
          <a:solidFill>
            <a:srgbClr val="EDF7F6"/>
          </a:solidFill>
          <a:ln w="12700">
            <a:solidFill>
              <a:srgbClr val="C7E4E1"/>
            </a:solidFill>
            <a:prstDash val="solid"/>
          </a:ln>
          <a:effectLst>
            <a:outerShdw blurRad="127000" dist="25400" dir="5400000" algn="bl" rotWithShape="0">
              <a:srgbClr val="9AA0B5">
                <a:alpha val="28000"/>
              </a:srgbClr>
            </a:outerShdw>
          </a:effectLst>
        </p:spPr>
        <p:txBody>
          <a:bodyPr/>
          <a:lstStyle/>
          <a:p>
            <a:endParaRPr lang="en-US"/>
          </a:p>
        </p:txBody>
      </p:sp>
      <p:sp>
        <p:nvSpPr>
          <p:cNvPr id="34" name="Shape 31"/>
          <p:cNvSpPr/>
          <p:nvPr/>
        </p:nvSpPr>
        <p:spPr>
          <a:xfrm>
            <a:off x="6551676" y="4800600"/>
            <a:ext cx="310896" cy="310896"/>
          </a:xfrm>
          <a:prstGeom prst="ellipse">
            <a:avLst/>
          </a:prstGeom>
          <a:solidFill>
            <a:srgbClr val="1F9E96"/>
          </a:solidFill>
          <a:ln w="12700">
            <a:solidFill>
              <a:srgbClr val="1F9E96"/>
            </a:solidFill>
            <a:prstDash val="solid"/>
          </a:ln>
        </p:spPr>
        <p:txBody>
          <a:bodyPr/>
          <a:lstStyle/>
          <a:p>
            <a:endParaRPr lang="en-US"/>
          </a:p>
        </p:txBody>
      </p:sp>
      <p:sp>
        <p:nvSpPr>
          <p:cNvPr id="35" name="Text 32"/>
          <p:cNvSpPr/>
          <p:nvPr/>
        </p:nvSpPr>
        <p:spPr>
          <a:xfrm>
            <a:off x="6551676" y="4800600"/>
            <a:ext cx="310896"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36" name="Text 33"/>
          <p:cNvSpPr/>
          <p:nvPr/>
        </p:nvSpPr>
        <p:spPr>
          <a:xfrm>
            <a:off x="6990588" y="4745736"/>
            <a:ext cx="4375404" cy="310896"/>
          </a:xfrm>
          <a:prstGeom prst="rect">
            <a:avLst/>
          </a:prstGeom>
          <a:noFill/>
          <a:ln/>
        </p:spPr>
        <p:txBody>
          <a:bodyPr wrap="square" lIns="0" tIns="0" rIns="0" bIns="0" rtlCol="0" anchor="ctr"/>
          <a:lstStyle/>
          <a:p>
            <a:pPr marL="0" indent="0">
              <a:buNone/>
            </a:pPr>
            <a:r>
              <a:rPr lang="en-US" sz="1700" b="1" dirty="0">
                <a:solidFill>
                  <a:srgbClr val="17635E"/>
                </a:solidFill>
                <a:latin typeface="Cambria" pitchFamily="34" charset="0"/>
                <a:ea typeface="Cambria" pitchFamily="34" charset="-122"/>
                <a:cs typeface="Cambria" pitchFamily="34" charset="-120"/>
              </a:rPr>
              <a:t>Targets</a:t>
            </a:r>
            <a:endParaRPr lang="en-US" sz="1700" dirty="0"/>
          </a:p>
        </p:txBody>
      </p:sp>
      <p:sp>
        <p:nvSpPr>
          <p:cNvPr id="37" name="Text 34"/>
          <p:cNvSpPr/>
          <p:nvPr/>
        </p:nvSpPr>
        <p:spPr>
          <a:xfrm>
            <a:off x="6990588" y="5056632"/>
            <a:ext cx="4375404" cy="621792"/>
          </a:xfrm>
          <a:prstGeom prst="rect">
            <a:avLst/>
          </a:prstGeom>
          <a:noFill/>
          <a:ln/>
        </p:spPr>
        <p:txBody>
          <a:bodyPr wrap="square" lIns="0" tIns="0" rIns="0" bIns="0" rtlCol="0" anchor="ctr"/>
          <a:lstStyle/>
          <a:p>
            <a:pPr marL="0" indent="0">
              <a:buNone/>
            </a:pPr>
            <a:r>
              <a:rPr lang="en-US" sz="1250" dirty="0">
                <a:solidFill>
                  <a:srgbClr val="1D4F4B"/>
                </a:solidFill>
                <a:latin typeface="Calibri" pitchFamily="34" charset="0"/>
                <a:ea typeface="Calibri" pitchFamily="34" charset="-122"/>
                <a:cs typeface="Calibri" pitchFamily="34" charset="-120"/>
              </a:rPr>
              <a:t>Power BI Desktop, a PBIP folder, a Fabric workspace model, on-prem SSAS</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9134856" y="6381598"/>
            <a:ext cx="310896" cy="20117"/>
          </a:xfrm>
          <a:prstGeom prst="rect">
            <a:avLst/>
          </a:prstGeom>
          <a:solidFill>
            <a:srgbClr val="B23A34"/>
          </a:solidFill>
          <a:ln w="12700">
            <a:solidFill>
              <a:srgbClr val="B23A34"/>
            </a:solidFill>
            <a:prstDash val="solid"/>
          </a:ln>
        </p:spPr>
        <p:txBody>
          <a:bodyPr/>
          <a:p/>
        </p:txBody>
      </p:sp>
      <p:sp>
        <p:nvSpPr>
          <p:cNvPr id="4" name="Text 1"/>
          <p:cNvSpPr/>
          <p:nvPr/>
        </p:nvSpPr>
        <p:spPr>
          <a:xfrm>
            <a:off x="9518904" y="6272784"/>
            <a:ext cx="2103120" cy="237744"/>
          </a:xfrm>
          <a:prstGeom prst="rect">
            <a:avLst/>
          </a:prstGeom>
          <a:noFill/>
          <a:ln/>
        </p:spPr>
        <p:txBody>
          <a:bodyPr wrap="square" lIns="0" tIns="0" rIns="0" bIns="0" rtlCol="0" anchor="ctr"/>
          <a:lstStyle/>
          <a:p>
            <a:pPr algn="r" indent="0" marL="0">
              <a:buNone/>
            </a:pPr>
            <a:r>
              <a:rPr lang="en-US" sz="900" b="1" spc="120" kern="0" dirty="0">
                <a:solidFill>
                  <a:srgbClr val="6B7280"/>
                </a:solidFill>
                <a:latin typeface="Calibri" pitchFamily="34" charset="0"/>
                <a:ea typeface="Calibri" pitchFamily="34" charset="-122"/>
                <a:cs typeface="Calibri" pitchFamily="34" charset="-120"/>
              </a:rPr>
              <a:t>12 / 22  ·  BOUNDARY</a:t>
            </a:r>
            <a:endParaRPr lang="en-US" sz="900" dirty="0"/>
          </a:p>
        </p:txBody>
      </p:sp>
      <p:sp>
        <p:nvSpPr>
          <p:cNvPr id="5" name="Shape 2"/>
          <p:cNvSpPr/>
          <p:nvPr/>
        </p:nvSpPr>
        <p:spPr>
          <a:xfrm>
            <a:off x="566928" y="274320"/>
            <a:ext cx="566928" cy="41148"/>
          </a:xfrm>
          <a:prstGeom prst="rect">
            <a:avLst/>
          </a:prstGeom>
          <a:solidFill>
            <a:srgbClr val="B23A34"/>
          </a:solidFill>
          <a:ln w="12700">
            <a:solidFill>
              <a:srgbClr val="B23A34"/>
            </a:solidFill>
            <a:prstDash val="solid"/>
          </a:ln>
        </p:spPr>
        <p:txBody>
          <a:bodyPr/>
          <a:p/>
        </p:txBody>
      </p:sp>
      <p:sp>
        <p:nvSpPr>
          <p:cNvPr id="6" name="Text 3"/>
          <p:cNvSpPr/>
          <p:nvPr/>
        </p:nvSpPr>
        <p:spPr>
          <a:xfrm>
            <a:off x="566928" y="402336"/>
            <a:ext cx="11055096" cy="256032"/>
          </a:xfrm>
          <a:prstGeom prst="rect">
            <a:avLst/>
          </a:prstGeom>
          <a:noFill/>
          <a:ln/>
        </p:spPr>
        <p:txBody>
          <a:bodyPr wrap="square" lIns="0" tIns="0" rIns="0" bIns="0" rtlCol="0" anchor="ctr"/>
          <a:lstStyle/>
          <a:p>
            <a:pPr indent="0" marL="0">
              <a:buNone/>
            </a:pPr>
            <a:r>
              <a:rPr lang="en-US" sz="1100" b="1" spc="220" kern="0" dirty="0">
                <a:solidFill>
                  <a:srgbClr val="B23A34"/>
                </a:solidFill>
                <a:latin typeface="Calibri" pitchFamily="34" charset="0"/>
                <a:ea typeface="Calibri" pitchFamily="34" charset="-122"/>
                <a:cs typeface="Calibri" pitchFamily="34" charset="-120"/>
              </a:rPr>
              <a:t>THE BOUNDARY · 2</a:t>
            </a:r>
            <a:endParaRPr lang="en-US" sz="1100" dirty="0"/>
          </a:p>
        </p:txBody>
      </p:sp>
      <p:sp>
        <p:nvSpPr>
          <p:cNvPr id="7" name="Text 4"/>
          <p:cNvSpPr/>
          <p:nvPr/>
        </p:nvSpPr>
        <p:spPr>
          <a:xfrm>
            <a:off x="566928" y="676656"/>
            <a:ext cx="11055096" cy="621792"/>
          </a:xfrm>
          <a:prstGeom prst="rect">
            <a:avLst/>
          </a:prstGeom>
          <a:noFill/>
          <a:ln/>
        </p:spPr>
        <p:txBody>
          <a:bodyPr wrap="square" lIns="0" tIns="0" rIns="0" bIns="0" rtlCol="0" anchor="ctr"/>
          <a:lstStyle/>
          <a:p>
            <a:pPr indent="0" marL="0">
              <a:buNone/>
            </a:pPr>
            <a:r>
              <a:rPr lang="en-US" sz="3400" b="1" dirty="0">
                <a:solidFill>
                  <a:srgbClr val="14182E"/>
                </a:solidFill>
                <a:latin typeface="Cambria" pitchFamily="34" charset="0"/>
                <a:ea typeface="Cambria" pitchFamily="34" charset="-122"/>
                <a:cs typeface="Cambria" pitchFamily="34" charset="-120"/>
              </a:rPr>
              <a:t>What it can't do</a:t>
            </a:r>
            <a:endParaRPr lang="en-US" sz="3400" dirty="0"/>
          </a:p>
        </p:txBody>
      </p:sp>
      <p:sp>
        <p:nvSpPr>
          <p:cNvPr id="8" name="Shape 5"/>
          <p:cNvSpPr/>
          <p:nvPr/>
        </p:nvSpPr>
        <p:spPr>
          <a:xfrm>
            <a:off x="566928" y="1600200"/>
            <a:ext cx="5344668" cy="1261872"/>
          </a:xfrm>
          <a:prstGeom prst="roundRect">
            <a:avLst>
              <a:gd name="adj" fmla="val 6522"/>
            </a:avLst>
          </a:prstGeom>
          <a:solidFill>
            <a:srgbClr val="FBF0EF"/>
          </a:solidFill>
          <a:ln w="12700">
            <a:solidFill>
              <a:srgbClr val="EBC9C6"/>
            </a:solidFill>
            <a:prstDash val="solid"/>
          </a:ln>
          <a:effectLst>
            <a:outerShdw sx="100000" sy="100000" kx="0" ky="0" algn="bl" rotWithShape="0" blurRad="127000" dist="25400" dir="5400000">
              <a:srgbClr val="9AA0B5">
                <a:alpha val="28000"/>
              </a:srgbClr>
            </a:outerShdw>
          </a:effectLst>
        </p:spPr>
        <p:txBody>
          <a:bodyPr/>
          <a:p/>
        </p:txBody>
      </p:sp>
      <p:sp>
        <p:nvSpPr>
          <p:cNvPr id="9" name="Shape 6"/>
          <p:cNvSpPr/>
          <p:nvPr/>
        </p:nvSpPr>
        <p:spPr>
          <a:xfrm>
            <a:off x="841248" y="1874520"/>
            <a:ext cx="310896" cy="310896"/>
          </a:xfrm>
          <a:prstGeom prst="ellipse">
            <a:avLst/>
          </a:prstGeom>
          <a:solidFill>
            <a:srgbClr val="B23A34"/>
          </a:solidFill>
          <a:ln w="12700">
            <a:solidFill>
              <a:srgbClr val="B23A34"/>
            </a:solidFill>
            <a:prstDash val="solid"/>
          </a:ln>
        </p:spPr>
        <p:txBody>
          <a:bodyPr/>
          <a:p/>
        </p:txBody>
      </p:sp>
      <p:sp>
        <p:nvSpPr>
          <p:cNvPr id="10" name="Text 7"/>
          <p:cNvSpPr/>
          <p:nvPr/>
        </p:nvSpPr>
        <p:spPr>
          <a:xfrm>
            <a:off x="841248" y="187452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1" name="Text 8"/>
          <p:cNvSpPr/>
          <p:nvPr/>
        </p:nvSpPr>
        <p:spPr>
          <a:xfrm>
            <a:off x="1280160" y="1801368"/>
            <a:ext cx="4375404" cy="329184"/>
          </a:xfrm>
          <a:prstGeom prst="rect">
            <a:avLst/>
          </a:prstGeom>
          <a:noFill/>
          <a:ln/>
        </p:spPr>
        <p:txBody>
          <a:bodyPr wrap="square" lIns="0" tIns="0" rIns="0" bIns="0" rtlCol="0" anchor="ctr"/>
          <a:lstStyle/>
          <a:p>
            <a:pPr indent="0" marL="0">
              <a:buNone/>
            </a:pPr>
            <a:r>
              <a:rPr lang="en-US" sz="1700" b="1" dirty="0">
                <a:solidFill>
                  <a:srgbClr val="B23A34"/>
                </a:solidFill>
                <a:latin typeface="Cambria" pitchFamily="34" charset="0"/>
                <a:ea typeface="Cambria" pitchFamily="34" charset="-122"/>
                <a:cs typeface="Cambria" pitchFamily="34" charset="-120"/>
              </a:rPr>
              <a:t>No report layout</a:t>
            </a:r>
            <a:endParaRPr lang="en-US" sz="1700" dirty="0"/>
          </a:p>
        </p:txBody>
      </p:sp>
      <p:sp>
        <p:nvSpPr>
          <p:cNvPr id="12" name="Text 9"/>
          <p:cNvSpPr/>
          <p:nvPr/>
        </p:nvSpPr>
        <p:spPr>
          <a:xfrm>
            <a:off x="1280160" y="2130552"/>
            <a:ext cx="4375404" cy="640080"/>
          </a:xfrm>
          <a:prstGeom prst="rect">
            <a:avLst/>
          </a:prstGeom>
          <a:noFill/>
          <a:ln/>
        </p:spPr>
        <p:txBody>
          <a:bodyPr wrap="square" lIns="0" tIns="0" rIns="0" bIns="0" rtlCol="0" anchor="ctr"/>
          <a:lstStyle/>
          <a:p>
            <a:pPr indent="0" marL="0">
              <a:buNone/>
            </a:pPr>
            <a:r>
              <a:rPr lang="en-US" sz="1250" dirty="0">
                <a:solidFill>
                  <a:srgbClr val="7A3B36"/>
                </a:solidFill>
                <a:latin typeface="Calibri" pitchFamily="34" charset="0"/>
                <a:ea typeface="Calibri" pitchFamily="34" charset="-122"/>
                <a:cs typeface="Calibri" pitchFamily="34" charset="-120"/>
              </a:rPr>
              <a:t>Pages, visuals, bookmarks, themes — that is a skill, not this server</a:t>
            </a:r>
            <a:endParaRPr lang="en-US" sz="1250" dirty="0"/>
          </a:p>
        </p:txBody>
      </p:sp>
      <p:sp>
        <p:nvSpPr>
          <p:cNvPr id="13" name="Shape 10"/>
          <p:cNvSpPr/>
          <p:nvPr/>
        </p:nvSpPr>
        <p:spPr>
          <a:xfrm>
            <a:off x="6277356" y="1600200"/>
            <a:ext cx="5344668" cy="1261872"/>
          </a:xfrm>
          <a:prstGeom prst="roundRect">
            <a:avLst>
              <a:gd name="adj" fmla="val 6522"/>
            </a:avLst>
          </a:prstGeom>
          <a:solidFill>
            <a:srgbClr val="FBF0EF"/>
          </a:solidFill>
          <a:ln w="12700">
            <a:solidFill>
              <a:srgbClr val="EBC9C6"/>
            </a:solidFill>
            <a:prstDash val="solid"/>
          </a:ln>
          <a:effectLst>
            <a:outerShdw sx="100000" sy="100000" kx="0" ky="0" algn="bl" rotWithShape="0" blurRad="127000" dist="25400" dir="5400000">
              <a:srgbClr val="9AA0B5">
                <a:alpha val="28000"/>
              </a:srgbClr>
            </a:outerShdw>
          </a:effectLst>
        </p:spPr>
        <p:txBody>
          <a:bodyPr/>
          <a:p/>
        </p:txBody>
      </p:sp>
      <p:sp>
        <p:nvSpPr>
          <p:cNvPr id="14" name="Shape 11"/>
          <p:cNvSpPr/>
          <p:nvPr/>
        </p:nvSpPr>
        <p:spPr>
          <a:xfrm>
            <a:off x="6551676" y="1874520"/>
            <a:ext cx="310896" cy="310896"/>
          </a:xfrm>
          <a:prstGeom prst="ellipse">
            <a:avLst/>
          </a:prstGeom>
          <a:solidFill>
            <a:srgbClr val="B23A34"/>
          </a:solidFill>
          <a:ln w="12700">
            <a:solidFill>
              <a:srgbClr val="B23A34"/>
            </a:solidFill>
            <a:prstDash val="solid"/>
          </a:ln>
        </p:spPr>
        <p:txBody>
          <a:bodyPr/>
          <a:p/>
        </p:txBody>
      </p:sp>
      <p:sp>
        <p:nvSpPr>
          <p:cNvPr id="15" name="Text 12"/>
          <p:cNvSpPr/>
          <p:nvPr/>
        </p:nvSpPr>
        <p:spPr>
          <a:xfrm>
            <a:off x="6551676" y="187452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6" name="Text 13"/>
          <p:cNvSpPr/>
          <p:nvPr/>
        </p:nvSpPr>
        <p:spPr>
          <a:xfrm>
            <a:off x="6990588" y="1801368"/>
            <a:ext cx="4375404" cy="329184"/>
          </a:xfrm>
          <a:prstGeom prst="rect">
            <a:avLst/>
          </a:prstGeom>
          <a:noFill/>
          <a:ln/>
        </p:spPr>
        <p:txBody>
          <a:bodyPr wrap="square" lIns="0" tIns="0" rIns="0" bIns="0" rtlCol="0" anchor="ctr"/>
          <a:lstStyle/>
          <a:p>
            <a:pPr indent="0" marL="0">
              <a:buNone/>
            </a:pPr>
            <a:r>
              <a:rPr lang="en-US" sz="1700" b="1" dirty="0">
                <a:solidFill>
                  <a:srgbClr val="B23A34"/>
                </a:solidFill>
                <a:latin typeface="Cambria" pitchFamily="34" charset="0"/>
                <a:ea typeface="Cambria" pitchFamily="34" charset="-122"/>
                <a:cs typeface="Cambria" pitchFamily="34" charset="-120"/>
              </a:rPr>
              <a:t>No synonyms</a:t>
            </a:r>
            <a:endParaRPr lang="en-US" sz="1700" dirty="0"/>
          </a:p>
        </p:txBody>
      </p:sp>
      <p:sp>
        <p:nvSpPr>
          <p:cNvPr id="17" name="Text 14"/>
          <p:cNvSpPr/>
          <p:nvPr/>
        </p:nvSpPr>
        <p:spPr>
          <a:xfrm>
            <a:off x="6990588" y="2130552"/>
            <a:ext cx="4375404" cy="640080"/>
          </a:xfrm>
          <a:prstGeom prst="rect">
            <a:avLst/>
          </a:prstGeom>
          <a:noFill/>
          <a:ln/>
        </p:spPr>
        <p:txBody>
          <a:bodyPr wrap="square" lIns="0" tIns="0" rIns="0" bIns="0" rtlCol="0" anchor="ctr"/>
          <a:lstStyle/>
          <a:p>
            <a:pPr indent="0" marL="0">
              <a:buNone/>
            </a:pPr>
            <a:r>
              <a:rPr lang="en-US" sz="1250" dirty="0">
                <a:solidFill>
                  <a:srgbClr val="7A3B36"/>
                </a:solidFill>
                <a:latin typeface="Calibri" pitchFamily="34" charset="0"/>
                <a:ea typeface="Calibri" pitchFamily="34" charset="-122"/>
                <a:cs typeface="Calibri" pitchFamily="34" charset="-120"/>
              </a:rPr>
              <a:t>No tool reads or writes linguistic metadata, even in 1.0. Use Desktop's Synonyms box, or script it through TOM</a:t>
            </a:r>
            <a:endParaRPr lang="en-US" sz="1250" dirty="0"/>
          </a:p>
        </p:txBody>
      </p:sp>
      <p:sp>
        <p:nvSpPr>
          <p:cNvPr id="18" name="Shape 15"/>
          <p:cNvSpPr/>
          <p:nvPr/>
        </p:nvSpPr>
        <p:spPr>
          <a:xfrm>
            <a:off x="566928" y="3063240"/>
            <a:ext cx="5344668" cy="1261872"/>
          </a:xfrm>
          <a:prstGeom prst="roundRect">
            <a:avLst>
              <a:gd name="adj" fmla="val 6522"/>
            </a:avLst>
          </a:prstGeom>
          <a:solidFill>
            <a:srgbClr val="FBF0EF"/>
          </a:solidFill>
          <a:ln w="12700">
            <a:solidFill>
              <a:srgbClr val="EBC9C6"/>
            </a:solidFill>
            <a:prstDash val="solid"/>
          </a:ln>
          <a:effectLst>
            <a:outerShdw sx="100000" sy="100000" kx="0" ky="0" algn="bl" rotWithShape="0" blurRad="127000" dist="25400" dir="5400000">
              <a:srgbClr val="9AA0B5">
                <a:alpha val="28000"/>
              </a:srgbClr>
            </a:outerShdw>
          </a:effectLst>
        </p:spPr>
        <p:txBody>
          <a:bodyPr/>
          <a:p/>
        </p:txBody>
      </p:sp>
      <p:sp>
        <p:nvSpPr>
          <p:cNvPr id="19" name="Shape 16"/>
          <p:cNvSpPr/>
          <p:nvPr/>
        </p:nvSpPr>
        <p:spPr>
          <a:xfrm>
            <a:off x="841248" y="3337560"/>
            <a:ext cx="310896" cy="310896"/>
          </a:xfrm>
          <a:prstGeom prst="ellipse">
            <a:avLst/>
          </a:prstGeom>
          <a:solidFill>
            <a:srgbClr val="B23A34"/>
          </a:solidFill>
          <a:ln w="12700">
            <a:solidFill>
              <a:srgbClr val="B23A34"/>
            </a:solidFill>
            <a:prstDash val="solid"/>
          </a:ln>
        </p:spPr>
        <p:txBody>
          <a:bodyPr/>
          <a:p/>
        </p:txBody>
      </p:sp>
      <p:sp>
        <p:nvSpPr>
          <p:cNvPr id="20" name="Text 17"/>
          <p:cNvSpPr/>
          <p:nvPr/>
        </p:nvSpPr>
        <p:spPr>
          <a:xfrm>
            <a:off x="841248" y="333756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1" name="Text 18"/>
          <p:cNvSpPr/>
          <p:nvPr/>
        </p:nvSpPr>
        <p:spPr>
          <a:xfrm>
            <a:off x="1280160" y="3264408"/>
            <a:ext cx="4375404" cy="329184"/>
          </a:xfrm>
          <a:prstGeom prst="rect">
            <a:avLst/>
          </a:prstGeom>
          <a:noFill/>
          <a:ln/>
        </p:spPr>
        <p:txBody>
          <a:bodyPr wrap="square" lIns="0" tIns="0" rIns="0" bIns="0" rtlCol="0" anchor="ctr"/>
          <a:lstStyle/>
          <a:p>
            <a:pPr indent="0" marL="0">
              <a:buNone/>
            </a:pPr>
            <a:r>
              <a:rPr lang="en-US" sz="1700" b="1" dirty="0">
                <a:solidFill>
                  <a:srgbClr val="B23A34"/>
                </a:solidFill>
                <a:latin typeface="Cambria" pitchFamily="34" charset="0"/>
                <a:ea typeface="Cambria" pitchFamily="34" charset="-122"/>
                <a:cs typeface="Cambria" pitchFamily="34" charset="-120"/>
              </a:rPr>
              <a:t>No writes without capacity</a:t>
            </a:r>
            <a:endParaRPr lang="en-US" sz="1700" dirty="0"/>
          </a:p>
        </p:txBody>
      </p:sp>
      <p:sp>
        <p:nvSpPr>
          <p:cNvPr id="22" name="Text 19"/>
          <p:cNvSpPr/>
          <p:nvPr/>
        </p:nvSpPr>
        <p:spPr>
          <a:xfrm>
            <a:off x="1280160" y="3593592"/>
            <a:ext cx="4375404" cy="640080"/>
          </a:xfrm>
          <a:prstGeom prst="rect">
            <a:avLst/>
          </a:prstGeom>
          <a:noFill/>
          <a:ln/>
        </p:spPr>
        <p:txBody>
          <a:bodyPr wrap="square" lIns="0" tIns="0" rIns="0" bIns="0" rtlCol="0" anchor="ctr"/>
          <a:lstStyle/>
          <a:p>
            <a:pPr indent="0" marL="0">
              <a:buNone/>
            </a:pPr>
            <a:r>
              <a:rPr lang="en-US" sz="1250" dirty="0">
                <a:solidFill>
                  <a:srgbClr val="7A3B36"/>
                </a:solidFill>
                <a:latin typeface="Calibri" pitchFamily="34" charset="0"/>
                <a:ea typeface="Calibri" pitchFamily="34" charset="-122"/>
                <a:cs typeface="Calibri" pitchFamily="34" charset="-120"/>
              </a:rPr>
              <a:t>Pro and shared-capacity workspaces have no XMLA write path</a:t>
            </a:r>
            <a:endParaRPr lang="en-US" sz="1250" dirty="0"/>
          </a:p>
        </p:txBody>
      </p:sp>
      <p:sp>
        <p:nvSpPr>
          <p:cNvPr id="23" name="Shape 20"/>
          <p:cNvSpPr/>
          <p:nvPr/>
        </p:nvSpPr>
        <p:spPr>
          <a:xfrm>
            <a:off x="6277356" y="3063240"/>
            <a:ext cx="5344668" cy="1261872"/>
          </a:xfrm>
          <a:prstGeom prst="roundRect">
            <a:avLst>
              <a:gd name="adj" fmla="val 6522"/>
            </a:avLst>
          </a:prstGeom>
          <a:solidFill>
            <a:srgbClr val="FBF0EF"/>
          </a:solidFill>
          <a:ln w="12700">
            <a:solidFill>
              <a:srgbClr val="EBC9C6"/>
            </a:solidFill>
            <a:prstDash val="solid"/>
          </a:ln>
          <a:effectLst>
            <a:outerShdw sx="100000" sy="100000" kx="0" ky="0" algn="bl" rotWithShape="0" blurRad="127000" dist="25400" dir="5400000">
              <a:srgbClr val="9AA0B5">
                <a:alpha val="28000"/>
              </a:srgbClr>
            </a:outerShdw>
          </a:effectLst>
        </p:spPr>
        <p:txBody>
          <a:bodyPr/>
          <a:p/>
        </p:txBody>
      </p:sp>
      <p:sp>
        <p:nvSpPr>
          <p:cNvPr id="24" name="Shape 21"/>
          <p:cNvSpPr/>
          <p:nvPr/>
        </p:nvSpPr>
        <p:spPr>
          <a:xfrm>
            <a:off x="6551676" y="3337560"/>
            <a:ext cx="310896" cy="310896"/>
          </a:xfrm>
          <a:prstGeom prst="ellipse">
            <a:avLst/>
          </a:prstGeom>
          <a:solidFill>
            <a:srgbClr val="B23A34"/>
          </a:solidFill>
          <a:ln w="12700">
            <a:solidFill>
              <a:srgbClr val="B23A34"/>
            </a:solidFill>
            <a:prstDash val="solid"/>
          </a:ln>
        </p:spPr>
        <p:txBody>
          <a:bodyPr/>
          <a:p/>
        </p:txBody>
      </p:sp>
      <p:sp>
        <p:nvSpPr>
          <p:cNvPr id="25" name="Text 22"/>
          <p:cNvSpPr/>
          <p:nvPr/>
        </p:nvSpPr>
        <p:spPr>
          <a:xfrm>
            <a:off x="6551676" y="333756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6" name="Text 23"/>
          <p:cNvSpPr/>
          <p:nvPr/>
        </p:nvSpPr>
        <p:spPr>
          <a:xfrm>
            <a:off x="6990588" y="3264408"/>
            <a:ext cx="4375404" cy="329184"/>
          </a:xfrm>
          <a:prstGeom prst="rect">
            <a:avLst/>
          </a:prstGeom>
          <a:noFill/>
          <a:ln/>
        </p:spPr>
        <p:txBody>
          <a:bodyPr wrap="square" lIns="0" tIns="0" rIns="0" bIns="0" rtlCol="0" anchor="ctr"/>
          <a:lstStyle/>
          <a:p>
            <a:pPr indent="0" marL="0">
              <a:buNone/>
            </a:pPr>
            <a:r>
              <a:rPr lang="en-US" sz="1700" b="1" dirty="0">
                <a:solidFill>
                  <a:srgbClr val="B23A34"/>
                </a:solidFill>
                <a:latin typeface="Cambria" pitchFamily="34" charset="0"/>
                <a:ea typeface="Cambria" pitchFamily="34" charset="-122"/>
                <a:cs typeface="Cambria" pitchFamily="34" charset="-120"/>
              </a:rPr>
              <a:t>No autosave</a:t>
            </a:r>
            <a:endParaRPr lang="en-US" sz="1700" dirty="0"/>
          </a:p>
        </p:txBody>
      </p:sp>
      <p:sp>
        <p:nvSpPr>
          <p:cNvPr id="27" name="Text 24"/>
          <p:cNvSpPr/>
          <p:nvPr/>
        </p:nvSpPr>
        <p:spPr>
          <a:xfrm>
            <a:off x="6990588" y="3593592"/>
            <a:ext cx="4375404" cy="640080"/>
          </a:xfrm>
          <a:prstGeom prst="rect">
            <a:avLst/>
          </a:prstGeom>
          <a:noFill/>
          <a:ln/>
        </p:spPr>
        <p:txBody>
          <a:bodyPr wrap="square" lIns="0" tIns="0" rIns="0" bIns="0" rtlCol="0" anchor="ctr"/>
          <a:lstStyle/>
          <a:p>
            <a:pPr indent="0" marL="0">
              <a:buNone/>
            </a:pPr>
            <a:r>
              <a:rPr lang="en-US" sz="1250" dirty="0">
                <a:solidFill>
                  <a:srgbClr val="7A3B36"/>
                </a:solidFill>
                <a:latin typeface="Calibri" pitchFamily="34" charset="0"/>
                <a:ea typeface="Calibri" pitchFamily="34" charset="-122"/>
                <a:cs typeface="Calibri" pitchFamily="34" charset="-120"/>
              </a:rPr>
              <a:t>Desktop edits live in memory until Ctrl+S or an explicit TMDL export</a:t>
            </a:r>
            <a:endParaRPr lang="en-US" sz="1250" dirty="0"/>
          </a:p>
        </p:txBody>
      </p:sp>
      <p:sp>
        <p:nvSpPr>
          <p:cNvPr id="28" name="Shape 25"/>
          <p:cNvSpPr/>
          <p:nvPr/>
        </p:nvSpPr>
        <p:spPr>
          <a:xfrm>
            <a:off x="566928" y="4526280"/>
            <a:ext cx="5344668" cy="1261872"/>
          </a:xfrm>
          <a:prstGeom prst="roundRect">
            <a:avLst>
              <a:gd name="adj" fmla="val 6522"/>
            </a:avLst>
          </a:prstGeom>
          <a:solidFill>
            <a:srgbClr val="FBF0EF"/>
          </a:solidFill>
          <a:ln w="12700">
            <a:solidFill>
              <a:srgbClr val="EBC9C6"/>
            </a:solidFill>
            <a:prstDash val="solid"/>
          </a:ln>
          <a:effectLst>
            <a:outerShdw sx="100000" sy="100000" kx="0" ky="0" algn="bl" rotWithShape="0" blurRad="127000" dist="25400" dir="5400000">
              <a:srgbClr val="9AA0B5">
                <a:alpha val="28000"/>
              </a:srgbClr>
            </a:outerShdw>
          </a:effectLst>
        </p:spPr>
        <p:txBody>
          <a:bodyPr/>
          <a:p/>
        </p:txBody>
      </p:sp>
      <p:sp>
        <p:nvSpPr>
          <p:cNvPr id="29" name="Shape 26"/>
          <p:cNvSpPr/>
          <p:nvPr/>
        </p:nvSpPr>
        <p:spPr>
          <a:xfrm>
            <a:off x="841248" y="4800600"/>
            <a:ext cx="310896" cy="310896"/>
          </a:xfrm>
          <a:prstGeom prst="ellipse">
            <a:avLst/>
          </a:prstGeom>
          <a:solidFill>
            <a:srgbClr val="B23A34"/>
          </a:solidFill>
          <a:ln w="12700">
            <a:solidFill>
              <a:srgbClr val="B23A34"/>
            </a:solidFill>
            <a:prstDash val="solid"/>
          </a:ln>
        </p:spPr>
        <p:txBody>
          <a:bodyPr/>
          <a:p/>
        </p:txBody>
      </p:sp>
      <p:sp>
        <p:nvSpPr>
          <p:cNvPr id="30" name="Text 27"/>
          <p:cNvSpPr/>
          <p:nvPr/>
        </p:nvSpPr>
        <p:spPr>
          <a:xfrm>
            <a:off x="841248" y="480060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31" name="Text 28"/>
          <p:cNvSpPr/>
          <p:nvPr/>
        </p:nvSpPr>
        <p:spPr>
          <a:xfrm>
            <a:off x="1280160" y="4727448"/>
            <a:ext cx="4375404" cy="329184"/>
          </a:xfrm>
          <a:prstGeom prst="rect">
            <a:avLst/>
          </a:prstGeom>
          <a:noFill/>
          <a:ln/>
        </p:spPr>
        <p:txBody>
          <a:bodyPr wrap="square" lIns="0" tIns="0" rIns="0" bIns="0" rtlCol="0" anchor="ctr"/>
          <a:lstStyle/>
          <a:p>
            <a:pPr indent="0" marL="0">
              <a:buNone/>
            </a:pPr>
            <a:r>
              <a:rPr lang="en-US" sz="1700" b="1" dirty="0">
                <a:solidFill>
                  <a:srgbClr val="B23A34"/>
                </a:solidFill>
                <a:latin typeface="Cambria" pitchFamily="34" charset="0"/>
                <a:ea typeface="Cambria" pitchFamily="34" charset="-122"/>
                <a:cs typeface="Cambria" pitchFamily="34" charset="-120"/>
              </a:rPr>
              <a:t>No undo</a:t>
            </a:r>
            <a:endParaRPr lang="en-US" sz="1700" dirty="0"/>
          </a:p>
        </p:txBody>
      </p:sp>
      <p:sp>
        <p:nvSpPr>
          <p:cNvPr id="32" name="Text 29"/>
          <p:cNvSpPr/>
          <p:nvPr/>
        </p:nvSpPr>
        <p:spPr>
          <a:xfrm>
            <a:off x="1280160" y="5056632"/>
            <a:ext cx="4375404" cy="640080"/>
          </a:xfrm>
          <a:prstGeom prst="rect">
            <a:avLst/>
          </a:prstGeom>
          <a:noFill/>
          <a:ln/>
        </p:spPr>
        <p:txBody>
          <a:bodyPr wrap="square" lIns="0" tIns="0" rIns="0" bIns="0" rtlCol="0" anchor="ctr"/>
          <a:lstStyle/>
          <a:p>
            <a:pPr indent="0" marL="0">
              <a:buNone/>
            </a:pPr>
            <a:r>
              <a:rPr lang="en-US" sz="1250" dirty="0">
                <a:solidFill>
                  <a:srgbClr val="7A3B36"/>
                </a:solidFill>
                <a:latin typeface="Calibri" pitchFamily="34" charset="0"/>
                <a:ea typeface="Calibri" pitchFamily="34" charset="-122"/>
                <a:cs typeface="Calibri" pitchFamily="34" charset="-120"/>
              </a:rPr>
              <a:t>Nothing rolls back after a commit. Git is your rollback, not the server</a:t>
            </a:r>
            <a:endParaRPr lang="en-US" sz="1250" dirty="0"/>
          </a:p>
        </p:txBody>
      </p:sp>
      <p:sp>
        <p:nvSpPr>
          <p:cNvPr id="33" name="Shape 30"/>
          <p:cNvSpPr/>
          <p:nvPr/>
        </p:nvSpPr>
        <p:spPr>
          <a:xfrm>
            <a:off x="6277356" y="4526280"/>
            <a:ext cx="5344668" cy="1261872"/>
          </a:xfrm>
          <a:prstGeom prst="roundRect">
            <a:avLst>
              <a:gd name="adj" fmla="val 6522"/>
            </a:avLst>
          </a:prstGeom>
          <a:solidFill>
            <a:srgbClr val="FBF0EF"/>
          </a:solidFill>
          <a:ln w="12700">
            <a:solidFill>
              <a:srgbClr val="EBC9C6"/>
            </a:solidFill>
            <a:prstDash val="solid"/>
          </a:ln>
          <a:effectLst>
            <a:outerShdw sx="100000" sy="100000" kx="0" ky="0" algn="bl" rotWithShape="0" blurRad="127000" dist="25400" dir="5400000">
              <a:srgbClr val="9AA0B5">
                <a:alpha val="28000"/>
              </a:srgbClr>
            </a:outerShdw>
          </a:effectLst>
        </p:spPr>
        <p:txBody>
          <a:bodyPr/>
          <a:p/>
        </p:txBody>
      </p:sp>
      <p:sp>
        <p:nvSpPr>
          <p:cNvPr id="34" name="Shape 31"/>
          <p:cNvSpPr/>
          <p:nvPr/>
        </p:nvSpPr>
        <p:spPr>
          <a:xfrm>
            <a:off x="6551676" y="4800600"/>
            <a:ext cx="310896" cy="310896"/>
          </a:xfrm>
          <a:prstGeom prst="ellipse">
            <a:avLst/>
          </a:prstGeom>
          <a:solidFill>
            <a:srgbClr val="B23A34"/>
          </a:solidFill>
          <a:ln w="12700">
            <a:solidFill>
              <a:srgbClr val="B23A34"/>
            </a:solidFill>
            <a:prstDash val="solid"/>
          </a:ln>
        </p:spPr>
        <p:txBody>
          <a:bodyPr/>
          <a:p/>
        </p:txBody>
      </p:sp>
      <p:sp>
        <p:nvSpPr>
          <p:cNvPr id="35" name="Text 32"/>
          <p:cNvSpPr/>
          <p:nvPr/>
        </p:nvSpPr>
        <p:spPr>
          <a:xfrm>
            <a:off x="6551676" y="480060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36" name="Text 33"/>
          <p:cNvSpPr/>
          <p:nvPr/>
        </p:nvSpPr>
        <p:spPr>
          <a:xfrm>
            <a:off x="6990588" y="4727448"/>
            <a:ext cx="4375404" cy="329184"/>
          </a:xfrm>
          <a:prstGeom prst="rect">
            <a:avLst/>
          </a:prstGeom>
          <a:noFill/>
          <a:ln/>
        </p:spPr>
        <p:txBody>
          <a:bodyPr wrap="square" lIns="0" tIns="0" rIns="0" bIns="0" rtlCol="0" anchor="ctr"/>
          <a:lstStyle/>
          <a:p>
            <a:pPr indent="0" marL="0">
              <a:buNone/>
            </a:pPr>
            <a:r>
              <a:rPr lang="en-US" sz="1700" b="1" dirty="0">
                <a:solidFill>
                  <a:srgbClr val="B23A34"/>
                </a:solidFill>
                <a:latin typeface="Cambria" pitchFamily="34" charset="0"/>
                <a:ea typeface="Cambria" pitchFamily="34" charset="-122"/>
                <a:cs typeface="Cambria" pitchFamily="34" charset="-120"/>
              </a:rPr>
              <a:t>Mostly preview</a:t>
            </a:r>
            <a:endParaRPr lang="en-US" sz="1700" dirty="0"/>
          </a:p>
        </p:txBody>
      </p:sp>
      <p:sp>
        <p:nvSpPr>
          <p:cNvPr id="37" name="Text 34"/>
          <p:cNvSpPr/>
          <p:nvPr/>
        </p:nvSpPr>
        <p:spPr>
          <a:xfrm>
            <a:off x="6990588" y="5056632"/>
            <a:ext cx="4375404" cy="640080"/>
          </a:xfrm>
          <a:prstGeom prst="rect">
            <a:avLst/>
          </a:prstGeom>
          <a:noFill/>
          <a:ln/>
        </p:spPr>
        <p:txBody>
          <a:bodyPr wrap="square" lIns="0" tIns="0" rIns="0" bIns="0" rtlCol="0" anchor="ctr"/>
          <a:lstStyle/>
          <a:p>
            <a:pPr indent="0" marL="0">
              <a:buNone/>
            </a:pPr>
            <a:r>
              <a:rPr lang="en-US" sz="1250" dirty="0">
                <a:solidFill>
                  <a:srgbClr val="7A3B36"/>
                </a:solidFill>
                <a:latin typeface="Calibri" pitchFamily="34" charset="0"/>
                <a:ea typeface="Calibri" pitchFamily="34" charset="-122"/>
                <a:cs typeface="Calibri" pitchFamily="34" charset="-120"/>
              </a:rPr>
              <a:t>The extension hit 1.0 on 25 Sep, but Microsoft still labels the server preview, like the remote servers and skills</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14182E"/>
        </a:solidFill>
        <a:effectLst/>
      </p:bgPr>
    </p:bg>
    <p:spTree>
      <p:nvGrpSpPr>
        <p:cNvPr id="1" name=""/>
        <p:cNvGrpSpPr/>
        <p:nvPr/>
      </p:nvGrpSpPr>
      <p:grpSpPr>
        <a:xfrm>
          <a:off x="0" y="0"/>
          <a:ext cx="0" cy="0"/>
          <a:chOff x="0" y="0"/>
          <a:chExt cx="0" cy="0"/>
        </a:xfrm>
      </p:grpSpPr>
      <p:sp>
        <p:nvSpPr>
          <p:cNvPr id="3" name="Shape 0"/>
          <p:cNvSpPr/>
          <p:nvPr/>
        </p:nvSpPr>
        <p:spPr>
          <a:xfrm>
            <a:off x="9134856" y="6381598"/>
            <a:ext cx="310896" cy="20117"/>
          </a:xfrm>
          <a:prstGeom prst="rect">
            <a:avLst/>
          </a:prstGeom>
          <a:solidFill>
            <a:srgbClr val="F2C230"/>
          </a:solidFill>
          <a:ln w="12700">
            <a:solidFill>
              <a:srgbClr val="F2C230"/>
            </a:solidFill>
            <a:prstDash val="solid"/>
          </a:ln>
        </p:spPr>
        <p:txBody>
          <a:bodyPr/>
          <a:p/>
        </p:txBody>
      </p:sp>
      <p:sp>
        <p:nvSpPr>
          <p:cNvPr id="4" name="Text 1"/>
          <p:cNvSpPr/>
          <p:nvPr/>
        </p:nvSpPr>
        <p:spPr>
          <a:xfrm>
            <a:off x="9518904" y="6272784"/>
            <a:ext cx="2103120" cy="237744"/>
          </a:xfrm>
          <a:prstGeom prst="rect">
            <a:avLst/>
          </a:prstGeom>
          <a:noFill/>
          <a:ln/>
        </p:spPr>
        <p:txBody>
          <a:bodyPr wrap="square" lIns="0" tIns="0" rIns="0" bIns="0" rtlCol="0" anchor="ctr"/>
          <a:lstStyle/>
          <a:p>
            <a:pPr algn="r" indent="0" marL="0">
              <a:buNone/>
            </a:pPr>
            <a:r>
              <a:rPr lang="en-US" sz="900" b="1" spc="120" kern="0" dirty="0">
                <a:solidFill>
                  <a:srgbClr val="8A93B2"/>
                </a:solidFill>
                <a:latin typeface="Calibri" pitchFamily="34" charset="0"/>
                <a:ea typeface="Calibri" pitchFamily="34" charset="-122"/>
                <a:cs typeface="Calibri" pitchFamily="34" charset="-120"/>
              </a:rPr>
              <a:t>13 / 22  ·  DEMO</a:t>
            </a:r>
            <a:endParaRPr lang="en-US" sz="900" dirty="0"/>
          </a:p>
        </p:txBody>
      </p:sp>
      <p:sp>
        <p:nvSpPr>
          <p:cNvPr id="5" name="Shape 2"/>
          <p:cNvSpPr/>
          <p:nvPr/>
        </p:nvSpPr>
        <p:spPr>
          <a:xfrm>
            <a:off x="0" y="0"/>
            <a:ext cx="237744" cy="6858000"/>
          </a:xfrm>
          <a:prstGeom prst="rect">
            <a:avLst/>
          </a:prstGeom>
          <a:solidFill>
            <a:srgbClr val="F2C230"/>
          </a:solidFill>
          <a:ln w="12700">
            <a:solidFill>
              <a:srgbClr val="F2C230"/>
            </a:solidFill>
            <a:prstDash val="solid"/>
          </a:ln>
        </p:spPr>
        <p:txBody>
          <a:bodyPr/>
          <a:p/>
        </p:txBody>
      </p:sp>
      <p:sp>
        <p:nvSpPr>
          <p:cNvPr id="6" name="Text 3"/>
          <p:cNvSpPr/>
          <p:nvPr/>
        </p:nvSpPr>
        <p:spPr>
          <a:xfrm>
            <a:off x="566928" y="1371600"/>
            <a:ext cx="8229600" cy="292608"/>
          </a:xfrm>
          <a:prstGeom prst="rect">
            <a:avLst/>
          </a:prstGeom>
          <a:noFill/>
          <a:ln/>
        </p:spPr>
        <p:txBody>
          <a:bodyPr wrap="square" lIns="0" tIns="0" rIns="0" bIns="0" rtlCol="0" anchor="ctr"/>
          <a:lstStyle/>
          <a:p>
            <a:pPr indent="0" marL="0">
              <a:buNone/>
            </a:pPr>
            <a:r>
              <a:rPr lang="en-US" sz="1200" b="1" spc="240" kern="0" dirty="0">
                <a:solidFill>
                  <a:srgbClr val="F2C230"/>
                </a:solidFill>
                <a:latin typeface="Calibri" pitchFamily="34" charset="0"/>
                <a:ea typeface="Calibri" pitchFamily="34" charset="-122"/>
                <a:cs typeface="Calibri" pitchFamily="34" charset="-120"/>
              </a:rPr>
              <a:t>DEMO  ·  10 MINUTES</a:t>
            </a:r>
            <a:endParaRPr lang="en-US" sz="1200" dirty="0"/>
          </a:p>
        </p:txBody>
      </p:sp>
      <p:sp>
        <p:nvSpPr>
          <p:cNvPr id="7" name="Text 4"/>
          <p:cNvSpPr/>
          <p:nvPr/>
        </p:nvSpPr>
        <p:spPr>
          <a:xfrm>
            <a:off x="566928" y="1700784"/>
            <a:ext cx="8595360" cy="7315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One PBIP, end to end</a:t>
            </a:r>
            <a:endParaRPr lang="en-US" sz="4400" dirty="0"/>
          </a:p>
        </p:txBody>
      </p:sp>
      <p:sp>
        <p:nvSpPr>
          <p:cNvPr id="8" name="Text 5"/>
          <p:cNvSpPr/>
          <p:nvPr/>
        </p:nvSpPr>
        <p:spPr>
          <a:xfrm>
            <a:off x="566928" y="2487168"/>
            <a:ext cx="8778240" cy="731520"/>
          </a:xfrm>
          <a:prstGeom prst="rect">
            <a:avLst/>
          </a:prstGeom>
          <a:noFill/>
          <a:ln/>
        </p:spPr>
        <p:txBody>
          <a:bodyPr wrap="square" lIns="0" tIns="0" rIns="0" bIns="0" rtlCol="0" anchor="ctr"/>
          <a:lstStyle/>
          <a:p>
            <a:pPr indent="0" marL="0">
              <a:buNone/>
            </a:pPr>
            <a:r>
              <a:rPr lang="en-US" sz="1700" dirty="0">
                <a:solidFill>
                  <a:srgbClr val="C6CBDD"/>
                </a:solidFill>
                <a:latin typeface="Calibri" pitchFamily="34" charset="0"/>
                <a:ea typeface="Calibri" pitchFamily="34" charset="-122"/>
                <a:cs typeface="Calibri" pitchFamily="34" charset="-120"/>
              </a:rPr>
              <a:t>Raw warehouse names in. A business-readable, AI-ready model out. Without opening a single properties pane.</a:t>
            </a:r>
            <a:endParaRPr lang="en-US" sz="1700" dirty="0"/>
          </a:p>
        </p:txBody>
      </p:sp>
      <p:sp>
        <p:nvSpPr>
          <p:cNvPr id="9" name="Shape 6"/>
          <p:cNvSpPr/>
          <p:nvPr/>
        </p:nvSpPr>
        <p:spPr>
          <a:xfrm>
            <a:off x="566928" y="3520440"/>
            <a:ext cx="3557016" cy="786384"/>
          </a:xfrm>
          <a:prstGeom prst="roundRect">
            <a:avLst>
              <a:gd name="adj" fmla="val 8140"/>
            </a:avLst>
          </a:prstGeom>
          <a:solidFill>
            <a:srgbClr val="232A52"/>
          </a:solidFill>
          <a:ln w="12700">
            <a:solidFill>
              <a:srgbClr val="343C6B"/>
            </a:solidFill>
            <a:prstDash val="solid"/>
          </a:ln>
        </p:spPr>
        <p:txBody>
          <a:bodyPr/>
          <a:p/>
        </p:txBody>
      </p:sp>
      <p:sp>
        <p:nvSpPr>
          <p:cNvPr id="10" name="Shape 7"/>
          <p:cNvSpPr/>
          <p:nvPr/>
        </p:nvSpPr>
        <p:spPr>
          <a:xfrm>
            <a:off x="768096" y="3703320"/>
            <a:ext cx="402336" cy="402336"/>
          </a:xfrm>
          <a:prstGeom prst="ellipse">
            <a:avLst/>
          </a:prstGeom>
          <a:solidFill>
            <a:srgbClr val="F2C230"/>
          </a:solidFill>
          <a:ln w="12700">
            <a:solidFill>
              <a:srgbClr val="F2C230"/>
            </a:solidFill>
            <a:prstDash val="solid"/>
          </a:ln>
        </p:spPr>
        <p:txBody>
          <a:bodyPr/>
          <a:p/>
        </p:txBody>
      </p:sp>
      <p:sp>
        <p:nvSpPr>
          <p:cNvPr id="11" name="Text 8"/>
          <p:cNvSpPr/>
          <p:nvPr/>
        </p:nvSpPr>
        <p:spPr>
          <a:xfrm>
            <a:off x="768096" y="3703320"/>
            <a:ext cx="402336" cy="402336"/>
          </a:xfrm>
          <a:prstGeom prst="rect">
            <a:avLst/>
          </a:prstGeom>
          <a:noFill/>
          <a:ln/>
        </p:spPr>
        <p:txBody>
          <a:bodyPr wrap="square" lIns="0" tIns="0" rIns="0" bIns="0" rtlCol="0" anchor="ctr"/>
          <a:lstStyle/>
          <a:p>
            <a:pPr algn="ctr" indent="0" marL="0">
              <a:buNone/>
            </a:pPr>
            <a:r>
              <a:rPr lang="en-US" sz="1300" b="1" dirty="0">
                <a:solidFill>
                  <a:srgbClr val="14182E"/>
                </a:solidFill>
                <a:latin typeface="Calibri" pitchFamily="34" charset="0"/>
                <a:ea typeface="Calibri" pitchFamily="34" charset="-122"/>
                <a:cs typeface="Calibri" pitchFamily="34" charset="-120"/>
              </a:rPr>
              <a:t>1</a:t>
            </a:r>
            <a:endParaRPr lang="en-US" sz="1300" dirty="0"/>
          </a:p>
        </p:txBody>
      </p:sp>
      <p:sp>
        <p:nvSpPr>
          <p:cNvPr id="12" name="Text 9"/>
          <p:cNvSpPr/>
          <p:nvPr/>
        </p:nvSpPr>
        <p:spPr>
          <a:xfrm>
            <a:off x="1280160" y="3520440"/>
            <a:ext cx="2642616" cy="78638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Connect &amp; survey</a:t>
            </a:r>
            <a:endParaRPr lang="en-US" sz="1400" dirty="0"/>
          </a:p>
        </p:txBody>
      </p:sp>
      <p:sp>
        <p:nvSpPr>
          <p:cNvPr id="13" name="Shape 10"/>
          <p:cNvSpPr/>
          <p:nvPr/>
        </p:nvSpPr>
        <p:spPr>
          <a:xfrm>
            <a:off x="4315968" y="3520440"/>
            <a:ext cx="3557016" cy="786384"/>
          </a:xfrm>
          <a:prstGeom prst="roundRect">
            <a:avLst>
              <a:gd name="adj" fmla="val 8140"/>
            </a:avLst>
          </a:prstGeom>
          <a:solidFill>
            <a:srgbClr val="232A52"/>
          </a:solidFill>
          <a:ln w="12700">
            <a:solidFill>
              <a:srgbClr val="343C6B"/>
            </a:solidFill>
            <a:prstDash val="solid"/>
          </a:ln>
        </p:spPr>
        <p:txBody>
          <a:bodyPr/>
          <a:p/>
        </p:txBody>
      </p:sp>
      <p:sp>
        <p:nvSpPr>
          <p:cNvPr id="14" name="Shape 11"/>
          <p:cNvSpPr/>
          <p:nvPr/>
        </p:nvSpPr>
        <p:spPr>
          <a:xfrm>
            <a:off x="4517136" y="3703320"/>
            <a:ext cx="402336" cy="402336"/>
          </a:xfrm>
          <a:prstGeom prst="ellipse">
            <a:avLst/>
          </a:prstGeom>
          <a:solidFill>
            <a:srgbClr val="F2C230"/>
          </a:solidFill>
          <a:ln w="12700">
            <a:solidFill>
              <a:srgbClr val="F2C230"/>
            </a:solidFill>
            <a:prstDash val="solid"/>
          </a:ln>
        </p:spPr>
        <p:txBody>
          <a:bodyPr/>
          <a:p/>
        </p:txBody>
      </p:sp>
      <p:sp>
        <p:nvSpPr>
          <p:cNvPr id="15" name="Text 12"/>
          <p:cNvSpPr/>
          <p:nvPr/>
        </p:nvSpPr>
        <p:spPr>
          <a:xfrm>
            <a:off x="4517136" y="3703320"/>
            <a:ext cx="402336" cy="402336"/>
          </a:xfrm>
          <a:prstGeom prst="rect">
            <a:avLst/>
          </a:prstGeom>
          <a:noFill/>
          <a:ln/>
        </p:spPr>
        <p:txBody>
          <a:bodyPr wrap="square" lIns="0" tIns="0" rIns="0" bIns="0" rtlCol="0" anchor="ctr"/>
          <a:lstStyle/>
          <a:p>
            <a:pPr algn="ctr" indent="0" marL="0">
              <a:buNone/>
            </a:pPr>
            <a:r>
              <a:rPr lang="en-US" sz="1300" b="1" dirty="0">
                <a:solidFill>
                  <a:srgbClr val="14182E"/>
                </a:solidFill>
                <a:latin typeface="Calibri" pitchFamily="34" charset="0"/>
                <a:ea typeface="Calibri" pitchFamily="34" charset="-122"/>
                <a:cs typeface="Calibri" pitchFamily="34" charset="-120"/>
              </a:rPr>
              <a:t>2</a:t>
            </a:r>
            <a:endParaRPr lang="en-US" sz="1300" dirty="0"/>
          </a:p>
        </p:txBody>
      </p:sp>
      <p:sp>
        <p:nvSpPr>
          <p:cNvPr id="16" name="Text 13"/>
          <p:cNvSpPr/>
          <p:nvPr/>
        </p:nvSpPr>
        <p:spPr>
          <a:xfrm>
            <a:off x="5029200" y="3520440"/>
            <a:ext cx="2642616" cy="78638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Rename to business names</a:t>
            </a:r>
            <a:endParaRPr lang="en-US" sz="1400" dirty="0"/>
          </a:p>
        </p:txBody>
      </p:sp>
      <p:sp>
        <p:nvSpPr>
          <p:cNvPr id="17" name="Shape 14"/>
          <p:cNvSpPr/>
          <p:nvPr/>
        </p:nvSpPr>
        <p:spPr>
          <a:xfrm>
            <a:off x="8065008" y="3520440"/>
            <a:ext cx="3557016" cy="786384"/>
          </a:xfrm>
          <a:prstGeom prst="roundRect">
            <a:avLst>
              <a:gd name="adj" fmla="val 8140"/>
            </a:avLst>
          </a:prstGeom>
          <a:solidFill>
            <a:srgbClr val="232A52"/>
          </a:solidFill>
          <a:ln w="12700">
            <a:solidFill>
              <a:srgbClr val="343C6B"/>
            </a:solidFill>
            <a:prstDash val="solid"/>
          </a:ln>
        </p:spPr>
        <p:txBody>
          <a:bodyPr/>
          <a:p/>
        </p:txBody>
      </p:sp>
      <p:sp>
        <p:nvSpPr>
          <p:cNvPr id="18" name="Shape 15"/>
          <p:cNvSpPr/>
          <p:nvPr/>
        </p:nvSpPr>
        <p:spPr>
          <a:xfrm>
            <a:off x="8266176" y="3703320"/>
            <a:ext cx="402336" cy="402336"/>
          </a:xfrm>
          <a:prstGeom prst="ellipse">
            <a:avLst/>
          </a:prstGeom>
          <a:solidFill>
            <a:srgbClr val="F2C230"/>
          </a:solidFill>
          <a:ln w="12700">
            <a:solidFill>
              <a:srgbClr val="F2C230"/>
            </a:solidFill>
            <a:prstDash val="solid"/>
          </a:ln>
        </p:spPr>
        <p:txBody>
          <a:bodyPr/>
          <a:p/>
        </p:txBody>
      </p:sp>
      <p:sp>
        <p:nvSpPr>
          <p:cNvPr id="19" name="Text 16"/>
          <p:cNvSpPr/>
          <p:nvPr/>
        </p:nvSpPr>
        <p:spPr>
          <a:xfrm>
            <a:off x="8266176" y="3703320"/>
            <a:ext cx="402336" cy="402336"/>
          </a:xfrm>
          <a:prstGeom prst="rect">
            <a:avLst/>
          </a:prstGeom>
          <a:noFill/>
          <a:ln/>
        </p:spPr>
        <p:txBody>
          <a:bodyPr wrap="square" lIns="0" tIns="0" rIns="0" bIns="0" rtlCol="0" anchor="ctr"/>
          <a:lstStyle/>
          <a:p>
            <a:pPr algn="ctr" indent="0" marL="0">
              <a:buNone/>
            </a:pPr>
            <a:r>
              <a:rPr lang="en-US" sz="1300" b="1" dirty="0">
                <a:solidFill>
                  <a:srgbClr val="14182E"/>
                </a:solidFill>
                <a:latin typeface="Calibri" pitchFamily="34" charset="0"/>
                <a:ea typeface="Calibri" pitchFamily="34" charset="-122"/>
                <a:cs typeface="Calibri" pitchFamily="34" charset="-120"/>
              </a:rPr>
              <a:t>3</a:t>
            </a:r>
            <a:endParaRPr lang="en-US" sz="1300" dirty="0"/>
          </a:p>
        </p:txBody>
      </p:sp>
      <p:sp>
        <p:nvSpPr>
          <p:cNvPr id="20" name="Text 17"/>
          <p:cNvSpPr/>
          <p:nvPr/>
        </p:nvSpPr>
        <p:spPr>
          <a:xfrm>
            <a:off x="8778240" y="3520440"/>
            <a:ext cx="2642616" cy="78638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Descriptions everywhere</a:t>
            </a:r>
            <a:endParaRPr lang="en-US" sz="1400" dirty="0"/>
          </a:p>
        </p:txBody>
      </p:sp>
      <p:sp>
        <p:nvSpPr>
          <p:cNvPr id="21" name="Shape 18"/>
          <p:cNvSpPr/>
          <p:nvPr/>
        </p:nvSpPr>
        <p:spPr>
          <a:xfrm>
            <a:off x="566928" y="4480560"/>
            <a:ext cx="3557016" cy="786384"/>
          </a:xfrm>
          <a:prstGeom prst="roundRect">
            <a:avLst>
              <a:gd name="adj" fmla="val 8140"/>
            </a:avLst>
          </a:prstGeom>
          <a:solidFill>
            <a:srgbClr val="232A52"/>
          </a:solidFill>
          <a:ln w="12700">
            <a:solidFill>
              <a:srgbClr val="343C6B"/>
            </a:solidFill>
            <a:prstDash val="solid"/>
          </a:ln>
        </p:spPr>
        <p:txBody>
          <a:bodyPr/>
          <a:p/>
        </p:txBody>
      </p:sp>
      <p:sp>
        <p:nvSpPr>
          <p:cNvPr id="22" name="Shape 19"/>
          <p:cNvSpPr/>
          <p:nvPr/>
        </p:nvSpPr>
        <p:spPr>
          <a:xfrm>
            <a:off x="768096" y="4663440"/>
            <a:ext cx="402336" cy="402336"/>
          </a:xfrm>
          <a:prstGeom prst="ellipse">
            <a:avLst/>
          </a:prstGeom>
          <a:solidFill>
            <a:srgbClr val="F2C230"/>
          </a:solidFill>
          <a:ln w="12700">
            <a:solidFill>
              <a:srgbClr val="F2C230"/>
            </a:solidFill>
            <a:prstDash val="solid"/>
          </a:ln>
        </p:spPr>
        <p:txBody>
          <a:bodyPr/>
          <a:p/>
        </p:txBody>
      </p:sp>
      <p:sp>
        <p:nvSpPr>
          <p:cNvPr id="23" name="Text 20"/>
          <p:cNvSpPr/>
          <p:nvPr/>
        </p:nvSpPr>
        <p:spPr>
          <a:xfrm>
            <a:off x="768096" y="4663440"/>
            <a:ext cx="402336" cy="402336"/>
          </a:xfrm>
          <a:prstGeom prst="rect">
            <a:avLst/>
          </a:prstGeom>
          <a:noFill/>
          <a:ln/>
        </p:spPr>
        <p:txBody>
          <a:bodyPr wrap="square" lIns="0" tIns="0" rIns="0" bIns="0" rtlCol="0" anchor="ctr"/>
          <a:lstStyle/>
          <a:p>
            <a:pPr algn="ctr" indent="0" marL="0">
              <a:buNone/>
            </a:pPr>
            <a:r>
              <a:rPr lang="en-US" sz="1300" b="1" dirty="0">
                <a:solidFill>
                  <a:srgbClr val="14182E"/>
                </a:solidFill>
                <a:latin typeface="Calibri" pitchFamily="34" charset="0"/>
                <a:ea typeface="Calibri" pitchFamily="34" charset="-122"/>
                <a:cs typeface="Calibri" pitchFamily="34" charset="-120"/>
              </a:rPr>
              <a:t>4</a:t>
            </a:r>
            <a:endParaRPr lang="en-US" sz="1300" dirty="0"/>
          </a:p>
        </p:txBody>
      </p:sp>
      <p:sp>
        <p:nvSpPr>
          <p:cNvPr id="24" name="Text 21"/>
          <p:cNvSpPr/>
          <p:nvPr/>
        </p:nvSpPr>
        <p:spPr>
          <a:xfrm>
            <a:off x="1280160" y="4480560"/>
            <a:ext cx="2642616" cy="78638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Naming standards</a:t>
            </a:r>
            <a:endParaRPr lang="en-US" sz="1400" dirty="0"/>
          </a:p>
        </p:txBody>
      </p:sp>
      <p:sp>
        <p:nvSpPr>
          <p:cNvPr id="25" name="Shape 22"/>
          <p:cNvSpPr/>
          <p:nvPr/>
        </p:nvSpPr>
        <p:spPr>
          <a:xfrm>
            <a:off x="4315968" y="4480560"/>
            <a:ext cx="3557016" cy="786384"/>
          </a:xfrm>
          <a:prstGeom prst="roundRect">
            <a:avLst>
              <a:gd name="adj" fmla="val 8140"/>
            </a:avLst>
          </a:prstGeom>
          <a:solidFill>
            <a:srgbClr val="232A52"/>
          </a:solidFill>
          <a:ln w="12700">
            <a:solidFill>
              <a:srgbClr val="343C6B"/>
            </a:solidFill>
            <a:prstDash val="solid"/>
          </a:ln>
        </p:spPr>
        <p:txBody>
          <a:bodyPr/>
          <a:p/>
        </p:txBody>
      </p:sp>
      <p:sp>
        <p:nvSpPr>
          <p:cNvPr id="26" name="Shape 23"/>
          <p:cNvSpPr/>
          <p:nvPr/>
        </p:nvSpPr>
        <p:spPr>
          <a:xfrm>
            <a:off x="4517136" y="4663440"/>
            <a:ext cx="402336" cy="402336"/>
          </a:xfrm>
          <a:prstGeom prst="ellipse">
            <a:avLst/>
          </a:prstGeom>
          <a:solidFill>
            <a:srgbClr val="F2C230"/>
          </a:solidFill>
          <a:ln w="12700">
            <a:solidFill>
              <a:srgbClr val="F2C230"/>
            </a:solidFill>
            <a:prstDash val="solid"/>
          </a:ln>
        </p:spPr>
        <p:txBody>
          <a:bodyPr/>
          <a:p/>
        </p:txBody>
      </p:sp>
      <p:sp>
        <p:nvSpPr>
          <p:cNvPr id="27" name="Text 24"/>
          <p:cNvSpPr/>
          <p:nvPr/>
        </p:nvSpPr>
        <p:spPr>
          <a:xfrm>
            <a:off x="4517136" y="4663440"/>
            <a:ext cx="402336" cy="402336"/>
          </a:xfrm>
          <a:prstGeom prst="rect">
            <a:avLst/>
          </a:prstGeom>
          <a:noFill/>
          <a:ln/>
        </p:spPr>
        <p:txBody>
          <a:bodyPr wrap="square" lIns="0" tIns="0" rIns="0" bIns="0" rtlCol="0" anchor="ctr"/>
          <a:lstStyle/>
          <a:p>
            <a:pPr algn="ctr" indent="0" marL="0">
              <a:buNone/>
            </a:pPr>
            <a:r>
              <a:rPr lang="en-US" sz="1300" b="1" dirty="0">
                <a:solidFill>
                  <a:srgbClr val="14182E"/>
                </a:solidFill>
                <a:latin typeface="Calibri" pitchFamily="34" charset="0"/>
                <a:ea typeface="Calibri" pitchFamily="34" charset="-122"/>
                <a:cs typeface="Calibri" pitchFamily="34" charset="-120"/>
              </a:rPr>
              <a:t>5</a:t>
            </a:r>
            <a:endParaRPr lang="en-US" sz="1300" dirty="0"/>
          </a:p>
        </p:txBody>
      </p:sp>
      <p:sp>
        <p:nvSpPr>
          <p:cNvPr id="28" name="Text 25"/>
          <p:cNvSpPr/>
          <p:nvPr/>
        </p:nvSpPr>
        <p:spPr>
          <a:xfrm>
            <a:off x="5029200" y="4480560"/>
            <a:ext cx="2642616" cy="78638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Keys, measures, relationships</a:t>
            </a:r>
            <a:endParaRPr lang="en-US" sz="1400" dirty="0"/>
          </a:p>
        </p:txBody>
      </p:sp>
      <p:sp>
        <p:nvSpPr>
          <p:cNvPr id="29" name="Shape 26"/>
          <p:cNvSpPr/>
          <p:nvPr/>
        </p:nvSpPr>
        <p:spPr>
          <a:xfrm>
            <a:off x="8065008" y="4480560"/>
            <a:ext cx="3557016" cy="786384"/>
          </a:xfrm>
          <a:prstGeom prst="roundRect">
            <a:avLst>
              <a:gd name="adj" fmla="val 8140"/>
            </a:avLst>
          </a:prstGeom>
          <a:solidFill>
            <a:srgbClr val="232A52"/>
          </a:solidFill>
          <a:ln w="12700">
            <a:solidFill>
              <a:srgbClr val="343C6B"/>
            </a:solidFill>
            <a:prstDash val="solid"/>
          </a:ln>
        </p:spPr>
        <p:txBody>
          <a:bodyPr/>
          <a:p/>
        </p:txBody>
      </p:sp>
      <p:sp>
        <p:nvSpPr>
          <p:cNvPr id="30" name="Shape 27"/>
          <p:cNvSpPr/>
          <p:nvPr/>
        </p:nvSpPr>
        <p:spPr>
          <a:xfrm>
            <a:off x="8266176" y="4663440"/>
            <a:ext cx="402336" cy="402336"/>
          </a:xfrm>
          <a:prstGeom prst="ellipse">
            <a:avLst/>
          </a:prstGeom>
          <a:solidFill>
            <a:srgbClr val="F2C230"/>
          </a:solidFill>
          <a:ln w="12700">
            <a:solidFill>
              <a:srgbClr val="F2C230"/>
            </a:solidFill>
            <a:prstDash val="solid"/>
          </a:ln>
        </p:spPr>
        <p:txBody>
          <a:bodyPr/>
          <a:p/>
        </p:txBody>
      </p:sp>
      <p:sp>
        <p:nvSpPr>
          <p:cNvPr id="31" name="Text 28"/>
          <p:cNvSpPr/>
          <p:nvPr/>
        </p:nvSpPr>
        <p:spPr>
          <a:xfrm>
            <a:off x="8266176" y="4663440"/>
            <a:ext cx="402336" cy="402336"/>
          </a:xfrm>
          <a:prstGeom prst="rect">
            <a:avLst/>
          </a:prstGeom>
          <a:noFill/>
          <a:ln/>
        </p:spPr>
        <p:txBody>
          <a:bodyPr wrap="square" lIns="0" tIns="0" rIns="0" bIns="0" rtlCol="0" anchor="ctr"/>
          <a:lstStyle/>
          <a:p>
            <a:pPr algn="ctr" indent="0" marL="0">
              <a:buNone/>
            </a:pPr>
            <a:r>
              <a:rPr lang="en-US" sz="1300" b="1" dirty="0">
                <a:solidFill>
                  <a:srgbClr val="14182E"/>
                </a:solidFill>
                <a:latin typeface="Calibri" pitchFamily="34" charset="0"/>
                <a:ea typeface="Calibri" pitchFamily="34" charset="-122"/>
                <a:cs typeface="Calibri" pitchFamily="34" charset="-120"/>
              </a:rPr>
              <a:t>6</a:t>
            </a:r>
            <a:endParaRPr lang="en-US" sz="1300" dirty="0"/>
          </a:p>
        </p:txBody>
      </p:sp>
      <p:sp>
        <p:nvSpPr>
          <p:cNvPr id="32" name="Text 29"/>
          <p:cNvSpPr/>
          <p:nvPr/>
        </p:nvSpPr>
        <p:spPr>
          <a:xfrm>
            <a:off x="8778240" y="4480560"/>
            <a:ext cx="2642616" cy="78638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Make it durable</a:t>
            </a:r>
            <a:endParaRPr lang="en-US" sz="1400" dirty="0"/>
          </a:p>
        </p:txBody>
      </p:sp>
      <p:sp>
        <p:nvSpPr>
          <p:cNvPr id="33" name="Text 30"/>
          <p:cNvSpPr/>
          <p:nvPr/>
        </p:nvSpPr>
        <p:spPr>
          <a:xfrm>
            <a:off x="566928" y="5806440"/>
            <a:ext cx="10058400" cy="365760"/>
          </a:xfrm>
          <a:prstGeom prst="rect">
            <a:avLst/>
          </a:prstGeom>
          <a:noFill/>
          <a:ln/>
        </p:spPr>
        <p:txBody>
          <a:bodyPr wrap="square" lIns="0" tIns="0" rIns="0" bIns="0" rtlCol="0" anchor="ctr"/>
          <a:lstStyle/>
          <a:p>
            <a:pPr indent="0" marL="0">
              <a:buNone/>
            </a:pPr>
            <a:r>
              <a:rPr lang="en-US" sz="1300" i="1" dirty="0">
                <a:solidFill>
                  <a:srgbClr val="8A93B2"/>
                </a:solidFill>
                <a:latin typeface="Calibri" pitchFamily="34" charset="0"/>
                <a:ea typeface="Calibri" pitchFamily="34" charset="-122"/>
                <a:cs typeface="Calibri" pitchFamily="34" charset="-120"/>
              </a:rPr>
              <a:t>Model: ContosoRetail.pbip. Power BI Desktop open, Authoring MCP connected, --readonly off for this one.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9134856" y="6381598"/>
            <a:ext cx="310896" cy="20117"/>
          </a:xfrm>
          <a:prstGeom prst="rect">
            <a:avLst/>
          </a:prstGeom>
          <a:solidFill>
            <a:srgbClr val="F2C230"/>
          </a:solidFill>
          <a:ln w="12700">
            <a:solidFill>
              <a:srgbClr val="F2C230"/>
            </a:solidFill>
            <a:prstDash val="solid"/>
          </a:ln>
        </p:spPr>
        <p:txBody>
          <a:bodyPr/>
          <a:p/>
        </p:txBody>
      </p:sp>
      <p:sp>
        <p:nvSpPr>
          <p:cNvPr id="4" name="Text 1"/>
          <p:cNvSpPr/>
          <p:nvPr/>
        </p:nvSpPr>
        <p:spPr>
          <a:xfrm>
            <a:off x="9518904" y="6272784"/>
            <a:ext cx="2103120" cy="237744"/>
          </a:xfrm>
          <a:prstGeom prst="rect">
            <a:avLst/>
          </a:prstGeom>
          <a:noFill/>
          <a:ln/>
        </p:spPr>
        <p:txBody>
          <a:bodyPr wrap="square" lIns="0" tIns="0" rIns="0" bIns="0" rtlCol="0" anchor="ctr"/>
          <a:lstStyle/>
          <a:p>
            <a:pPr algn="r" indent="0" marL="0">
              <a:buNone/>
            </a:pPr>
            <a:r>
              <a:rPr lang="en-US" sz="900" b="1" spc="120" kern="0" dirty="0">
                <a:solidFill>
                  <a:srgbClr val="6B7280"/>
                </a:solidFill>
                <a:latin typeface="Calibri" pitchFamily="34" charset="0"/>
                <a:ea typeface="Calibri" pitchFamily="34" charset="-122"/>
                <a:cs typeface="Calibri" pitchFamily="34" charset="-120"/>
              </a:rPr>
              <a:t>14 / 22  ·  DEMO</a:t>
            </a:r>
            <a:endParaRPr lang="en-US" sz="900" dirty="0"/>
          </a:p>
        </p:txBody>
      </p:sp>
      <p:sp>
        <p:nvSpPr>
          <p:cNvPr id="5" name="Shape 2"/>
          <p:cNvSpPr/>
          <p:nvPr/>
        </p:nvSpPr>
        <p:spPr>
          <a:xfrm>
            <a:off x="566928" y="274320"/>
            <a:ext cx="566928" cy="41148"/>
          </a:xfrm>
          <a:prstGeom prst="rect">
            <a:avLst/>
          </a:prstGeom>
          <a:solidFill>
            <a:srgbClr val="F2C230"/>
          </a:solidFill>
          <a:ln w="12700">
            <a:solidFill>
              <a:srgbClr val="F2C230"/>
            </a:solidFill>
            <a:prstDash val="solid"/>
          </a:ln>
        </p:spPr>
        <p:txBody>
          <a:bodyPr/>
          <a:p/>
        </p:txBody>
      </p:sp>
      <p:sp>
        <p:nvSpPr>
          <p:cNvPr id="6" name="Text 3"/>
          <p:cNvSpPr/>
          <p:nvPr/>
        </p:nvSpPr>
        <p:spPr>
          <a:xfrm>
            <a:off x="566928" y="402336"/>
            <a:ext cx="11055096" cy="256032"/>
          </a:xfrm>
          <a:prstGeom prst="rect">
            <a:avLst/>
          </a:prstGeom>
          <a:noFill/>
          <a:ln/>
        </p:spPr>
        <p:txBody>
          <a:bodyPr wrap="square" lIns="0" tIns="0" rIns="0" bIns="0" rtlCol="0" anchor="ctr"/>
          <a:lstStyle/>
          <a:p>
            <a:pPr indent="0" marL="0">
              <a:buNone/>
            </a:pPr>
            <a:r>
              <a:rPr lang="en-US" sz="1100" b="1" spc="220" kern="0" dirty="0">
                <a:solidFill>
                  <a:srgbClr val="F2C230"/>
                </a:solidFill>
                <a:latin typeface="Calibri" pitchFamily="34" charset="0"/>
                <a:ea typeface="Calibri" pitchFamily="34" charset="-122"/>
                <a:cs typeface="Calibri" pitchFamily="34" charset="-120"/>
              </a:rPr>
              <a:t>DEMO · STEPS 1-2</a:t>
            </a:r>
            <a:endParaRPr lang="en-US" sz="1100" dirty="0"/>
          </a:p>
        </p:txBody>
      </p:sp>
      <p:sp>
        <p:nvSpPr>
          <p:cNvPr id="7" name="Text 4"/>
          <p:cNvSpPr/>
          <p:nvPr/>
        </p:nvSpPr>
        <p:spPr>
          <a:xfrm>
            <a:off x="566928" y="676656"/>
            <a:ext cx="11055096" cy="621792"/>
          </a:xfrm>
          <a:prstGeom prst="rect">
            <a:avLst/>
          </a:prstGeom>
          <a:noFill/>
          <a:ln/>
        </p:spPr>
        <p:txBody>
          <a:bodyPr wrap="square" lIns="0" tIns="0" rIns="0" bIns="0" rtlCol="0" anchor="ctr"/>
          <a:lstStyle/>
          <a:p>
            <a:pPr indent="0" marL="0">
              <a:buNone/>
            </a:pPr>
            <a:r>
              <a:rPr lang="en-US" sz="3400" b="1" dirty="0">
                <a:solidFill>
                  <a:srgbClr val="14182E"/>
                </a:solidFill>
                <a:latin typeface="Cambria" pitchFamily="34" charset="0"/>
                <a:ea typeface="Cambria" pitchFamily="34" charset="-122"/>
                <a:cs typeface="Cambria" pitchFamily="34" charset="-120"/>
              </a:rPr>
              <a:t>Connect, survey, then rename for humans</a:t>
            </a:r>
            <a:endParaRPr lang="en-US" sz="3400" dirty="0"/>
          </a:p>
        </p:txBody>
      </p:sp>
      <p:sp>
        <p:nvSpPr>
          <p:cNvPr id="8" name="Shape 5"/>
          <p:cNvSpPr/>
          <p:nvPr/>
        </p:nvSpPr>
        <p:spPr>
          <a:xfrm>
            <a:off x="566928" y="1600200"/>
            <a:ext cx="5852160" cy="2286000"/>
          </a:xfrm>
          <a:prstGeom prst="roundRect">
            <a:avLst>
              <a:gd name="adj" fmla="val 3600"/>
            </a:avLst>
          </a:prstGeom>
          <a:solidFill>
            <a:srgbClr val="14182E"/>
          </a:solidFill>
          <a:ln w="12700">
            <a:solidFill>
              <a:srgbClr val="232A52"/>
            </a:solidFill>
            <a:prstDash val="solid"/>
          </a:ln>
          <a:effectLst>
            <a:outerShdw sx="100000" sy="100000" kx="0" ky="0" algn="bl" rotWithShape="0" blurRad="127000" dist="25400" dir="5400000">
              <a:srgbClr val="9AA0B5">
                <a:alpha val="28000"/>
              </a:srgbClr>
            </a:outerShdw>
          </a:effectLst>
        </p:spPr>
        <p:txBody>
          <a:bodyPr/>
          <a:p/>
        </p:txBody>
      </p:sp>
      <p:sp>
        <p:nvSpPr>
          <p:cNvPr id="9" name="Text 6"/>
          <p:cNvSpPr/>
          <p:nvPr/>
        </p:nvSpPr>
        <p:spPr>
          <a:xfrm>
            <a:off x="841248" y="1764792"/>
            <a:ext cx="5303520" cy="256032"/>
          </a:xfrm>
          <a:prstGeom prst="rect">
            <a:avLst/>
          </a:prstGeom>
          <a:noFill/>
          <a:ln/>
        </p:spPr>
        <p:txBody>
          <a:bodyPr wrap="square" lIns="0" tIns="0" rIns="0" bIns="0" rtlCol="0" anchor="ctr"/>
          <a:lstStyle/>
          <a:p>
            <a:pPr indent="0" marL="0">
              <a:buNone/>
            </a:pPr>
            <a:r>
              <a:rPr lang="en-US" sz="1100" b="1" spc="200" kern="0" dirty="0">
                <a:solidFill>
                  <a:srgbClr val="F2C230"/>
                </a:solidFill>
                <a:latin typeface="Calibri" pitchFamily="34" charset="0"/>
                <a:ea typeface="Calibri" pitchFamily="34" charset="-122"/>
                <a:cs typeface="Calibri" pitchFamily="34" charset="-120"/>
              </a:rPr>
              <a:t>Say this</a:t>
            </a:r>
            <a:endParaRPr lang="en-US" sz="1100" dirty="0"/>
          </a:p>
        </p:txBody>
      </p:sp>
      <p:sp>
        <p:nvSpPr>
          <p:cNvPr id="10" name="Text 7"/>
          <p:cNvSpPr/>
          <p:nvPr/>
        </p:nvSpPr>
        <p:spPr>
          <a:xfrm>
            <a:off x="841248" y="2103120"/>
            <a:ext cx="5303520" cy="1691640"/>
          </a:xfrm>
          <a:prstGeom prst="rect">
            <a:avLst/>
          </a:prstGeom>
          <a:noFill/>
          <a:ln/>
        </p:spPr>
        <p:txBody>
          <a:bodyPr wrap="square" lIns="0" tIns="0" rIns="0" bIns="0" rtlCol="0" anchor="t"/>
          <a:lstStyle/>
          <a:p>
            <a:pPr indent="0" marL="0">
              <a:spcAft>
                <a:spcPts val="1200"/>
              </a:spcAft>
              <a:buNone/>
            </a:pPr>
            <a:r>
              <a:rPr lang="en-US" sz="1400" dirty="0">
                <a:solidFill>
                  <a:srgbClr val="FFFFFF"/>
                </a:solidFill>
                <a:latin typeface="Calibri" pitchFamily="34" charset="0"/>
                <a:ea typeface="Calibri" pitchFamily="34" charset="-122"/>
                <a:cs typeface="Calibri" pitchFamily="34" charset="-120"/>
              </a:rPr>
              <a:t>“Connect to the Power BI Desktop instance that's running.”</a:t>
            </a:r>
            <a:endParaRPr lang="en-US" sz="1400" dirty="0"/>
          </a:p>
          <a:p>
            <a:pPr indent="0" marL="0">
              <a:spcAft>
                <a:spcPts val="1200"/>
              </a:spcAft>
              <a:buNone/>
            </a:pPr>
            <a:r>
              <a:rPr lang="en-US" sz="1400" dirty="0">
                <a:solidFill>
                  <a:srgbClr val="FFFFFF"/>
                </a:solidFill>
                <a:latin typeface="Calibri" pitchFamily="34" charset="0"/>
                <a:ea typeface="Calibri" pitchFamily="34" charset="-122"/>
                <a:cs typeface="Calibri" pitchFamily="34" charset="-120"/>
              </a:rPr>
              <a:t>“List the tables and show me the schema of each one.”</a:t>
            </a:r>
            <a:endParaRPr lang="en-US" sz="1400" dirty="0"/>
          </a:p>
          <a:p>
            <a:pPr indent="0" marL="0">
              <a:spcAft>
                <a:spcPts val="1200"/>
              </a:spcAft>
              <a:buNone/>
            </a:pPr>
            <a:r>
              <a:rPr lang="en-US" sz="1400" dirty="0">
                <a:solidFill>
                  <a:srgbClr val="FFFFFF"/>
                </a:solidFill>
                <a:latin typeface="Calibri" pitchFamily="34" charset="0"/>
                <a:ea typeface="Calibri" pitchFamily="34" charset="-122"/>
                <a:cs typeface="Calibri" pitchFamily="34" charset="-120"/>
              </a:rPr>
              <a:t>“Rename the tables and columns to business-friendly names — no dim_ or fact_ prefixes, spaced Title Case.”</a:t>
            </a:r>
            <a:endParaRPr lang="en-US" sz="1400" dirty="0"/>
          </a:p>
        </p:txBody>
      </p:sp>
      <p:sp>
        <p:nvSpPr>
          <p:cNvPr id="11" name="Shape 8"/>
          <p:cNvSpPr/>
          <p:nvPr/>
        </p:nvSpPr>
        <p:spPr>
          <a:xfrm>
            <a:off x="6739128" y="1600200"/>
            <a:ext cx="4882896" cy="1078992"/>
          </a:xfrm>
          <a:prstGeom prst="roundRect">
            <a:avLst>
              <a:gd name="adj" fmla="val 7627"/>
            </a:avLst>
          </a:prstGeom>
          <a:solidFill>
            <a:srgbClr val="FAFAFD"/>
          </a:solidFill>
          <a:ln w="12700">
            <a:solidFill>
              <a:srgbClr val="DFE2EC"/>
            </a:solidFill>
            <a:prstDash val="solid"/>
          </a:ln>
          <a:effectLst>
            <a:outerShdw sx="100000" sy="100000" kx="0" ky="0" algn="bl" rotWithShape="0" blurRad="127000" dist="25400" dir="5400000">
              <a:srgbClr val="9AA0B5">
                <a:alpha val="28000"/>
              </a:srgbClr>
            </a:outerShdw>
          </a:effectLst>
        </p:spPr>
        <p:txBody>
          <a:bodyPr/>
          <a:p/>
        </p:txBody>
      </p:sp>
      <p:sp>
        <p:nvSpPr>
          <p:cNvPr id="12" name="Text 9"/>
          <p:cNvSpPr/>
          <p:nvPr/>
        </p:nvSpPr>
        <p:spPr>
          <a:xfrm>
            <a:off x="6967728" y="1691640"/>
            <a:ext cx="4425696" cy="256032"/>
          </a:xfrm>
          <a:prstGeom prst="rect">
            <a:avLst/>
          </a:prstGeom>
          <a:noFill/>
          <a:ln/>
        </p:spPr>
        <p:txBody>
          <a:bodyPr wrap="square" lIns="0" tIns="0" rIns="0" bIns="0" rtlCol="0" anchor="ctr"/>
          <a:lstStyle/>
          <a:p>
            <a:pPr indent="0" marL="0">
              <a:buNone/>
            </a:pPr>
            <a:r>
              <a:rPr lang="en-US" sz="1400" b="1" dirty="0">
                <a:solidFill>
                  <a:srgbClr val="14182E"/>
                </a:solidFill>
                <a:latin typeface="Cambria" pitchFamily="34" charset="0"/>
                <a:ea typeface="Cambria" pitchFamily="34" charset="-122"/>
                <a:cs typeface="Cambria" pitchFamily="34" charset="-120"/>
              </a:rPr>
              <a:t>Tools in play</a:t>
            </a:r>
            <a:endParaRPr lang="en-US" sz="1400" dirty="0"/>
          </a:p>
        </p:txBody>
      </p:sp>
      <p:sp>
        <p:nvSpPr>
          <p:cNvPr id="13" name="Text 10"/>
          <p:cNvSpPr/>
          <p:nvPr/>
        </p:nvSpPr>
        <p:spPr>
          <a:xfrm>
            <a:off x="6967728" y="1947672"/>
            <a:ext cx="4425696" cy="676656"/>
          </a:xfrm>
          <a:prstGeom prst="rect">
            <a:avLst/>
          </a:prstGeom>
          <a:noFill/>
          <a:ln/>
        </p:spPr>
        <p:txBody>
          <a:bodyPr wrap="square" lIns="0" tIns="0" rIns="0" bIns="0" rtlCol="0" anchor="ctr"/>
          <a:lstStyle/>
          <a:p>
            <a:pPr indent="0" marL="0">
              <a:lnSpc>
                <a:spcPct val="110000"/>
              </a:lnSpc>
              <a:buNone/>
            </a:pPr>
            <a:r>
              <a:rPr lang="en-US" sz="1050" dirty="0">
                <a:solidFill>
                  <a:srgbClr val="6B7280"/>
                </a:solidFill>
                <a:latin typeface="Calibri" pitchFamily="34" charset="0"/>
                <a:ea typeface="Calibri" pitchFamily="34" charset="-122"/>
                <a:cs typeface="Calibri" pitchFamily="34" charset="-120"/>
              </a:rPr>
              <a:t>connection_operations → ListLocalInstances, Connect</a:t>
            </a:r>
            <a:endParaRPr lang="en-US" sz="1050" dirty="0"/>
          </a:p>
          <a:p>
            <a:pPr indent="0" marL="0">
              <a:lnSpc>
                <a:spcPct val="110000"/>
              </a:lnSpc>
              <a:buNone/>
            </a:pPr>
            <a:r>
              <a:rPr lang="en-US" sz="1050" dirty="0">
                <a:solidFill>
                  <a:srgbClr val="6B7280"/>
                </a:solidFill>
                <a:latin typeface="Calibri" pitchFamily="34" charset="0"/>
                <a:ea typeface="Calibri" pitchFamily="34" charset="-122"/>
                <a:cs typeface="Calibri" pitchFamily="34" charset="-120"/>
              </a:rPr>
              <a:t>table_operations → List, GetSchema</a:t>
            </a:r>
            <a:endParaRPr lang="en-US" sz="1050" dirty="0"/>
          </a:p>
          <a:p>
            <a:pPr indent="0" marL="0">
              <a:lnSpc>
                <a:spcPct val="110000"/>
              </a:lnSpc>
              <a:buNone/>
            </a:pPr>
            <a:r>
              <a:rPr lang="en-US" sz="1050" dirty="0">
                <a:solidFill>
                  <a:srgbClr val="6B7280"/>
                </a:solidFill>
                <a:latin typeface="Calibri" pitchFamily="34" charset="0"/>
                <a:ea typeface="Calibri" pitchFamily="34" charset="-122"/>
                <a:cs typeface="Calibri" pitchFamily="34" charset="-120"/>
              </a:rPr>
              <a:t>table_operations → Rename (a list, one transaction)</a:t>
            </a:r>
            <a:endParaRPr lang="en-US" sz="1050" dirty="0"/>
          </a:p>
        </p:txBody>
      </p:sp>
      <p:sp>
        <p:nvSpPr>
          <p:cNvPr id="14" name="Shape 11"/>
          <p:cNvSpPr/>
          <p:nvPr/>
        </p:nvSpPr>
        <p:spPr>
          <a:xfrm>
            <a:off x="6739128" y="2807208"/>
            <a:ext cx="4882896" cy="1078992"/>
          </a:xfrm>
          <a:prstGeom prst="roundRect">
            <a:avLst>
              <a:gd name="adj" fmla="val 7627"/>
            </a:avLst>
          </a:prstGeom>
          <a:solidFill>
            <a:srgbClr val="FAFAFD"/>
          </a:solidFill>
          <a:ln w="12700">
            <a:solidFill>
              <a:srgbClr val="DFE2EC"/>
            </a:solidFill>
            <a:prstDash val="solid"/>
          </a:ln>
          <a:effectLst>
            <a:outerShdw sx="100000" sy="100000" kx="0" ky="0" algn="bl" rotWithShape="0" blurRad="127000" dist="25400" dir="5400000">
              <a:srgbClr val="9AA0B5">
                <a:alpha val="28000"/>
              </a:srgbClr>
            </a:outerShdw>
          </a:effectLst>
        </p:spPr>
        <p:txBody>
          <a:bodyPr/>
          <a:p/>
        </p:txBody>
      </p:sp>
      <p:sp>
        <p:nvSpPr>
          <p:cNvPr id="15" name="Text 12"/>
          <p:cNvSpPr/>
          <p:nvPr/>
        </p:nvSpPr>
        <p:spPr>
          <a:xfrm>
            <a:off x="6967728" y="2898648"/>
            <a:ext cx="4425696" cy="256032"/>
          </a:xfrm>
          <a:prstGeom prst="rect">
            <a:avLst/>
          </a:prstGeom>
          <a:noFill/>
          <a:ln/>
        </p:spPr>
        <p:txBody>
          <a:bodyPr wrap="square" lIns="0" tIns="0" rIns="0" bIns="0" rtlCol="0" anchor="ctr"/>
          <a:lstStyle/>
          <a:p>
            <a:pPr indent="0" marL="0">
              <a:buNone/>
            </a:pPr>
            <a:r>
              <a:rPr lang="en-US" sz="1400" b="1" dirty="0">
                <a:solidFill>
                  <a:srgbClr val="14182E"/>
                </a:solidFill>
                <a:latin typeface="Cambria" pitchFamily="34" charset="0"/>
                <a:ea typeface="Cambria" pitchFamily="34" charset="-122"/>
                <a:cs typeface="Cambria" pitchFamily="34" charset="-120"/>
              </a:rPr>
              <a:t>Before → after</a:t>
            </a:r>
            <a:endParaRPr lang="en-US" sz="1400" dirty="0"/>
          </a:p>
        </p:txBody>
      </p:sp>
      <p:sp>
        <p:nvSpPr>
          <p:cNvPr id="16" name="Text 13"/>
          <p:cNvSpPr/>
          <p:nvPr/>
        </p:nvSpPr>
        <p:spPr>
          <a:xfrm>
            <a:off x="6967728" y="3154680"/>
            <a:ext cx="4425696" cy="676656"/>
          </a:xfrm>
          <a:prstGeom prst="rect">
            <a:avLst/>
          </a:prstGeom>
          <a:noFill/>
          <a:ln/>
        </p:spPr>
        <p:txBody>
          <a:bodyPr wrap="square" lIns="0" tIns="0" rIns="0" bIns="0" rtlCol="0" anchor="ctr"/>
          <a:lstStyle/>
          <a:p>
            <a:pPr indent="0" marL="0">
              <a:lnSpc>
                <a:spcPct val="110000"/>
              </a:lnSpc>
              <a:buNone/>
            </a:pPr>
            <a:r>
              <a:rPr lang="en-US" sz="1050" dirty="0">
                <a:solidFill>
                  <a:srgbClr val="6B7280"/>
                </a:solidFill>
                <a:latin typeface="Calibri" pitchFamily="34" charset="0"/>
                <a:ea typeface="Calibri" pitchFamily="34" charset="-122"/>
                <a:cs typeface="Calibri" pitchFamily="34" charset="-120"/>
              </a:rPr>
              <a:t>dim_geography_region_master → Geography</a:t>
            </a:r>
            <a:endParaRPr lang="en-US" sz="1050" dirty="0"/>
          </a:p>
          <a:p>
            <a:pPr indent="0" marL="0">
              <a:lnSpc>
                <a:spcPct val="110000"/>
              </a:lnSpc>
              <a:buNone/>
            </a:pPr>
            <a:r>
              <a:rPr lang="en-US" sz="1050" dirty="0">
                <a:solidFill>
                  <a:srgbClr val="6B7280"/>
                </a:solidFill>
                <a:latin typeface="Calibri" pitchFamily="34" charset="0"/>
                <a:ea typeface="Calibri" pitchFamily="34" charset="-122"/>
                <a:cs typeface="Calibri" pitchFamily="34" charset="-120"/>
              </a:rPr>
              <a:t>CntryNm → Country</a:t>
            </a:r>
            <a:endParaRPr lang="en-US" sz="1050" dirty="0"/>
          </a:p>
          <a:p>
            <a:pPr indent="0" marL="0">
              <a:lnSpc>
                <a:spcPct val="110000"/>
              </a:lnSpc>
              <a:buNone/>
            </a:pPr>
            <a:r>
              <a:rPr lang="en-US" sz="1050" dirty="0">
                <a:solidFill>
                  <a:srgbClr val="6B7280"/>
                </a:solidFill>
                <a:latin typeface="Calibri" pitchFamily="34" charset="0"/>
                <a:ea typeface="Calibri" pitchFamily="34" charset="-122"/>
                <a:cs typeface="Calibri" pitchFamily="34" charset="-120"/>
              </a:rPr>
              <a:t>RgnNm → Region</a:t>
            </a:r>
            <a:endParaRPr lang="en-US" sz="1050" dirty="0"/>
          </a:p>
        </p:txBody>
      </p:sp>
      <p:sp>
        <p:nvSpPr>
          <p:cNvPr id="17" name="Shape 14"/>
          <p:cNvSpPr/>
          <p:nvPr/>
        </p:nvSpPr>
        <p:spPr>
          <a:xfrm>
            <a:off x="566928" y="4069080"/>
            <a:ext cx="11055096" cy="1691640"/>
          </a:xfrm>
          <a:prstGeom prst="roundRect">
            <a:avLst>
              <a:gd name="adj" fmla="val 4865"/>
            </a:avLst>
          </a:prstGeom>
          <a:solidFill>
            <a:srgbClr val="FDF6E3"/>
          </a:solidFill>
          <a:ln w="12700">
            <a:solidFill>
              <a:srgbClr val="EBD9A8"/>
            </a:solidFill>
            <a:prstDash val="solid"/>
          </a:ln>
          <a:effectLst>
            <a:outerShdw sx="100000" sy="100000" kx="0" ky="0" algn="bl" rotWithShape="0" blurRad="127000" dist="25400" dir="5400000">
              <a:srgbClr val="9AA0B5">
                <a:alpha val="28000"/>
              </a:srgbClr>
            </a:outerShdw>
          </a:effectLst>
        </p:spPr>
        <p:txBody>
          <a:bodyPr/>
          <a:p/>
        </p:txBody>
      </p:sp>
      <p:sp>
        <p:nvSpPr>
          <p:cNvPr id="18" name="Text 15"/>
          <p:cNvSpPr/>
          <p:nvPr/>
        </p:nvSpPr>
        <p:spPr>
          <a:xfrm>
            <a:off x="877824" y="4224528"/>
            <a:ext cx="10433304" cy="292608"/>
          </a:xfrm>
          <a:prstGeom prst="rect">
            <a:avLst/>
          </a:prstGeom>
          <a:noFill/>
          <a:ln/>
        </p:spPr>
        <p:txBody>
          <a:bodyPr wrap="square" lIns="0" tIns="0" rIns="0" bIns="0" rtlCol="0" anchor="ctr"/>
          <a:lstStyle/>
          <a:p>
            <a:pPr indent="0" marL="0">
              <a:buNone/>
            </a:pPr>
            <a:r>
              <a:rPr lang="en-US" sz="1700" b="1" dirty="0">
                <a:solidFill>
                  <a:srgbClr val="14182E"/>
                </a:solidFill>
                <a:latin typeface="Cambria" pitchFamily="34" charset="0"/>
                <a:ea typeface="Cambria" pitchFamily="34" charset="-122"/>
                <a:cs typeface="Cambria" pitchFamily="34" charset="-120"/>
              </a:rPr>
              <a:t>Two things to say out loud while it runs</a:t>
            </a:r>
            <a:endParaRPr lang="en-US" sz="1700" dirty="0"/>
          </a:p>
        </p:txBody>
      </p:sp>
      <p:sp>
        <p:nvSpPr>
          <p:cNvPr id="19" name="Text 16"/>
          <p:cNvSpPr/>
          <p:nvPr/>
        </p:nvSpPr>
        <p:spPr>
          <a:xfrm>
            <a:off x="877824" y="4572000"/>
            <a:ext cx="10433304" cy="1097280"/>
          </a:xfrm>
          <a:prstGeom prst="rect">
            <a:avLst/>
          </a:prstGeom>
          <a:noFill/>
          <a:ln/>
        </p:spPr>
        <p:txBody>
          <a:bodyPr wrap="square" lIns="0" tIns="0" rIns="0" bIns="0" rtlCol="0" anchor="t"/>
          <a:lstStyle/>
          <a:p>
            <a:pPr marL="342900" indent="-342900">
              <a:lnSpc>
                <a:spcPct val="115000"/>
              </a:lnSpc>
              <a:spcAft>
                <a:spcPts val="600"/>
              </a:spcAft>
              <a:buSzPct val="100000"/>
              <a:buChar char="•"/>
            </a:pPr>
            <a:r>
              <a:rPr lang="en-US" sz="1350" dirty="0">
                <a:solidFill>
                  <a:srgbClr val="2A2F45"/>
                </a:solidFill>
                <a:latin typeface="Calibri" pitchFamily="34" charset="0"/>
                <a:ea typeface="Calibri" pitchFamily="34" charset="-122"/>
                <a:cs typeface="Calibri" pitchFamily="34" charset="-120"/>
              </a:rPr>
              <a:t>It reads the real schema first. Never let an agent rename from memory — the model may already be half cleaned.</a:t>
            </a:r>
            <a:endParaRPr lang="en-US" sz="1350" dirty="0"/>
          </a:p>
          <a:p>
            <a:pPr marL="342900" indent="-342900">
              <a:lnSpc>
                <a:spcPct val="115000"/>
              </a:lnSpc>
              <a:spcAft>
                <a:spcPts val="600"/>
              </a:spcAft>
              <a:buSzPct val="100000"/>
              <a:buChar char="•"/>
            </a:pPr>
            <a:r>
              <a:rPr lang="en-US" sz="1350" dirty="0">
                <a:solidFill>
                  <a:srgbClr val="2A2F45"/>
                </a:solidFill>
                <a:latin typeface="Calibri" pitchFamily="34" charset="0"/>
                <a:ea typeface="Calibri" pitchFamily="34" charset="-122"/>
                <a:cs typeface="Calibri" pitchFamily="34" charset="-120"/>
              </a:rPr>
              <a:t>Renames trigger engine formula fixup, so measure DAX usually follows automatically. Usually. Verify after.</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9134856" y="6381598"/>
            <a:ext cx="310896" cy="20117"/>
          </a:xfrm>
          <a:prstGeom prst="rect">
            <a:avLst/>
          </a:prstGeom>
          <a:solidFill>
            <a:srgbClr val="F2C230"/>
          </a:solidFill>
          <a:ln w="12700">
            <a:solidFill>
              <a:srgbClr val="F2C230"/>
            </a:solidFill>
            <a:prstDash val="solid"/>
          </a:ln>
        </p:spPr>
        <p:txBody>
          <a:bodyPr/>
          <a:p/>
        </p:txBody>
      </p:sp>
      <p:sp>
        <p:nvSpPr>
          <p:cNvPr id="4" name="Text 1"/>
          <p:cNvSpPr/>
          <p:nvPr/>
        </p:nvSpPr>
        <p:spPr>
          <a:xfrm>
            <a:off x="9518904" y="6272784"/>
            <a:ext cx="2103120" cy="237744"/>
          </a:xfrm>
          <a:prstGeom prst="rect">
            <a:avLst/>
          </a:prstGeom>
          <a:noFill/>
          <a:ln/>
        </p:spPr>
        <p:txBody>
          <a:bodyPr wrap="square" lIns="0" tIns="0" rIns="0" bIns="0" rtlCol="0" anchor="ctr"/>
          <a:lstStyle/>
          <a:p>
            <a:pPr algn="r" indent="0" marL="0">
              <a:buNone/>
            </a:pPr>
            <a:r>
              <a:rPr lang="en-US" sz="900" b="1" spc="120" kern="0" dirty="0">
                <a:solidFill>
                  <a:srgbClr val="6B7280"/>
                </a:solidFill>
                <a:latin typeface="Calibri" pitchFamily="34" charset="0"/>
                <a:ea typeface="Calibri" pitchFamily="34" charset="-122"/>
                <a:cs typeface="Calibri" pitchFamily="34" charset="-120"/>
              </a:rPr>
              <a:t>15 / 22  ·  DEMO</a:t>
            </a:r>
            <a:endParaRPr lang="en-US" sz="900" dirty="0"/>
          </a:p>
        </p:txBody>
      </p:sp>
      <p:sp>
        <p:nvSpPr>
          <p:cNvPr id="5" name="Shape 2"/>
          <p:cNvSpPr/>
          <p:nvPr/>
        </p:nvSpPr>
        <p:spPr>
          <a:xfrm>
            <a:off x="566928" y="274320"/>
            <a:ext cx="566928" cy="41148"/>
          </a:xfrm>
          <a:prstGeom prst="rect">
            <a:avLst/>
          </a:prstGeom>
          <a:solidFill>
            <a:srgbClr val="F2C230"/>
          </a:solidFill>
          <a:ln w="12700">
            <a:solidFill>
              <a:srgbClr val="F2C230"/>
            </a:solidFill>
            <a:prstDash val="solid"/>
          </a:ln>
        </p:spPr>
        <p:txBody>
          <a:bodyPr/>
          <a:p/>
        </p:txBody>
      </p:sp>
      <p:sp>
        <p:nvSpPr>
          <p:cNvPr id="6" name="Text 3"/>
          <p:cNvSpPr/>
          <p:nvPr/>
        </p:nvSpPr>
        <p:spPr>
          <a:xfrm>
            <a:off x="566928" y="402336"/>
            <a:ext cx="11055096" cy="256032"/>
          </a:xfrm>
          <a:prstGeom prst="rect">
            <a:avLst/>
          </a:prstGeom>
          <a:noFill/>
          <a:ln/>
        </p:spPr>
        <p:txBody>
          <a:bodyPr wrap="square" lIns="0" tIns="0" rIns="0" bIns="0" rtlCol="0" anchor="ctr"/>
          <a:lstStyle/>
          <a:p>
            <a:pPr indent="0" marL="0">
              <a:buNone/>
            </a:pPr>
            <a:r>
              <a:rPr lang="en-US" sz="1100" b="1" spc="220" kern="0" dirty="0">
                <a:solidFill>
                  <a:srgbClr val="F2C230"/>
                </a:solidFill>
                <a:latin typeface="Calibri" pitchFamily="34" charset="0"/>
                <a:ea typeface="Calibri" pitchFamily="34" charset="-122"/>
                <a:cs typeface="Calibri" pitchFamily="34" charset="-120"/>
              </a:rPr>
              <a:t>DEMO · STEPS 3-4</a:t>
            </a:r>
            <a:endParaRPr lang="en-US" sz="1100" dirty="0"/>
          </a:p>
        </p:txBody>
      </p:sp>
      <p:sp>
        <p:nvSpPr>
          <p:cNvPr id="7" name="Text 4"/>
          <p:cNvSpPr/>
          <p:nvPr/>
        </p:nvSpPr>
        <p:spPr>
          <a:xfrm>
            <a:off x="566928" y="676656"/>
            <a:ext cx="11055096" cy="621792"/>
          </a:xfrm>
          <a:prstGeom prst="rect">
            <a:avLst/>
          </a:prstGeom>
          <a:noFill/>
          <a:ln/>
        </p:spPr>
        <p:txBody>
          <a:bodyPr wrap="square" lIns="0" tIns="0" rIns="0" bIns="0" rtlCol="0" anchor="ctr"/>
          <a:lstStyle/>
          <a:p>
            <a:pPr indent="0" marL="0">
              <a:buNone/>
            </a:pPr>
            <a:r>
              <a:rPr lang="en-US" sz="3400" b="1" dirty="0">
                <a:solidFill>
                  <a:srgbClr val="14182E"/>
                </a:solidFill>
                <a:latin typeface="Cambria" pitchFamily="34" charset="0"/>
                <a:ea typeface="Cambria" pitchFamily="34" charset="-122"/>
                <a:cs typeface="Cambria" pitchFamily="34" charset="-120"/>
              </a:rPr>
              <a:t>Descriptions, naming and standards</a:t>
            </a:r>
            <a:endParaRPr lang="en-US" sz="3400" dirty="0"/>
          </a:p>
        </p:txBody>
      </p:sp>
      <p:sp>
        <p:nvSpPr>
          <p:cNvPr id="8" name="Shape 5"/>
          <p:cNvSpPr/>
          <p:nvPr/>
        </p:nvSpPr>
        <p:spPr>
          <a:xfrm>
            <a:off x="566928" y="1554480"/>
            <a:ext cx="5344668" cy="2286000"/>
          </a:xfrm>
          <a:prstGeom prst="roundRect">
            <a:avLst>
              <a:gd name="adj" fmla="val 3600"/>
            </a:avLst>
          </a:prstGeom>
          <a:solidFill>
            <a:srgbClr val="EDF7F6"/>
          </a:solidFill>
          <a:ln w="12700">
            <a:solidFill>
              <a:srgbClr val="C7E4E1"/>
            </a:solidFill>
            <a:prstDash val="solid"/>
          </a:ln>
          <a:effectLst>
            <a:outerShdw sx="100000" sy="100000" kx="0" ky="0" algn="bl" rotWithShape="0" blurRad="127000" dist="25400" dir="5400000">
              <a:srgbClr val="9AA0B5">
                <a:alpha val="28000"/>
              </a:srgbClr>
            </a:outerShdw>
          </a:effectLst>
        </p:spPr>
        <p:txBody>
          <a:bodyPr/>
          <a:p/>
        </p:txBody>
      </p:sp>
      <p:sp>
        <p:nvSpPr>
          <p:cNvPr id="9" name="Text 6"/>
          <p:cNvSpPr/>
          <p:nvPr/>
        </p:nvSpPr>
        <p:spPr>
          <a:xfrm>
            <a:off x="859536" y="1700784"/>
            <a:ext cx="3657600" cy="384048"/>
          </a:xfrm>
          <a:prstGeom prst="rect">
            <a:avLst/>
          </a:prstGeom>
          <a:noFill/>
          <a:ln/>
        </p:spPr>
        <p:txBody>
          <a:bodyPr wrap="square" lIns="0" tIns="0" rIns="0" bIns="0" rtlCol="0" anchor="ctr"/>
          <a:lstStyle/>
          <a:p>
            <a:pPr indent="0" marL="0">
              <a:buNone/>
            </a:pPr>
            <a:r>
              <a:rPr lang="en-US" sz="2200" b="1" dirty="0">
                <a:solidFill>
                  <a:srgbClr val="17635E"/>
                </a:solidFill>
                <a:latin typeface="Cambria" pitchFamily="34" charset="0"/>
                <a:ea typeface="Cambria" pitchFamily="34" charset="-122"/>
                <a:cs typeface="Cambria" pitchFamily="34" charset="-120"/>
              </a:rPr>
              <a:t>Descriptions</a:t>
            </a:r>
            <a:endParaRPr lang="en-US" sz="2200" dirty="0"/>
          </a:p>
        </p:txBody>
      </p:sp>
      <p:sp>
        <p:nvSpPr>
          <p:cNvPr id="10" name="Text 7"/>
          <p:cNvSpPr/>
          <p:nvPr/>
        </p:nvSpPr>
        <p:spPr>
          <a:xfrm>
            <a:off x="859536" y="2139696"/>
            <a:ext cx="4759452" cy="658368"/>
          </a:xfrm>
          <a:prstGeom prst="rect">
            <a:avLst/>
          </a:prstGeom>
          <a:noFill/>
          <a:ln/>
        </p:spPr>
        <p:txBody>
          <a:bodyPr wrap="square" lIns="0" tIns="0" rIns="0" bIns="0" rtlCol="0" anchor="ctr"/>
          <a:lstStyle/>
          <a:p>
            <a:pPr indent="0" marL="0">
              <a:buNone/>
            </a:pPr>
            <a:r>
              <a:rPr lang="en-US" sz="1300" i="1" dirty="0">
                <a:solidFill>
                  <a:srgbClr val="1D4F4B"/>
                </a:solidFill>
                <a:latin typeface="Calibri" pitchFamily="34" charset="0"/>
                <a:ea typeface="Calibri" pitchFamily="34" charset="-122"/>
                <a:cs typeface="Calibri" pitchFamily="34" charset="-120"/>
              </a:rPr>
              <a:t>“Add a one-line description to every table, every visible column, and every measure.”</a:t>
            </a:r>
            <a:endParaRPr lang="en-US" sz="1300" dirty="0"/>
          </a:p>
        </p:txBody>
      </p:sp>
      <p:sp>
        <p:nvSpPr>
          <p:cNvPr id="11" name="Text 8"/>
          <p:cNvSpPr/>
          <p:nvPr/>
        </p:nvSpPr>
        <p:spPr>
          <a:xfrm>
            <a:off x="859536" y="2871216"/>
            <a:ext cx="4759452" cy="896112"/>
          </a:xfrm>
          <a:prstGeom prst="rect">
            <a:avLst/>
          </a:prstGeom>
          <a:noFill/>
          <a:ln/>
        </p:spPr>
        <p:txBody>
          <a:bodyPr wrap="square" lIns="0" tIns="0" rIns="0" bIns="0" rtlCol="0" anchor="t"/>
          <a:lstStyle/>
          <a:p>
            <a:pPr marL="342900" indent="-342900">
              <a:lnSpc>
                <a:spcPct val="115000"/>
              </a:lnSpc>
              <a:spcAft>
                <a:spcPts val="400"/>
              </a:spcAft>
              <a:buSzPct val="100000"/>
              <a:buChar char="•"/>
            </a:pPr>
            <a:r>
              <a:rPr lang="en-US" sz="1200" dirty="0">
                <a:solidFill>
                  <a:srgbClr val="1D4F4B"/>
                </a:solidFill>
                <a:latin typeface="Calibri" pitchFamily="34" charset="0"/>
                <a:ea typeface="Calibri" pitchFamily="34" charset="-122"/>
                <a:cs typeface="Calibri" pitchFamily="34" charset="-120"/>
              </a:rPr>
              <a:t>column_operations → Update with a list — one transaction</a:t>
            </a:r>
            <a:endParaRPr lang="en-US" sz="1200" dirty="0"/>
          </a:p>
          <a:p>
            <a:pPr marL="342900" indent="-342900">
              <a:lnSpc>
                <a:spcPct val="115000"/>
              </a:lnSpc>
              <a:spcAft>
                <a:spcPts val="400"/>
              </a:spcAft>
              <a:buSzPct val="100000"/>
              <a:buChar char="•"/>
            </a:pPr>
            <a:r>
              <a:rPr lang="en-US" sz="1200" dirty="0">
                <a:solidFill>
                  <a:srgbClr val="1D4F4B"/>
                </a:solidFill>
                <a:latin typeface="Calibri" pitchFamily="34" charset="0"/>
                <a:ea typeface="Calibri" pitchFamily="34" charset="-122"/>
                <a:cs typeface="Calibri" pitchFamily="34" charset="-120"/>
              </a:rPr>
              <a:t>Biggest single lever on Copilot and Data Agent answer quality</a:t>
            </a:r>
            <a:endParaRPr lang="en-US" sz="1200" dirty="0"/>
          </a:p>
          <a:p>
            <a:pPr marL="342900" indent="-342900">
              <a:lnSpc>
                <a:spcPct val="115000"/>
              </a:lnSpc>
              <a:spcAft>
                <a:spcPts val="400"/>
              </a:spcAft>
              <a:buSzPct val="100000"/>
              <a:buChar char="•"/>
            </a:pPr>
            <a:r>
              <a:rPr lang="en-US" sz="1200" dirty="0">
                <a:solidFill>
                  <a:srgbClr val="1D4F4B"/>
                </a:solidFill>
                <a:latin typeface="Calibri" pitchFamily="34" charset="0"/>
                <a:ea typeface="Calibri" pitchFamily="34" charset="-122"/>
                <a:cs typeface="Calibri" pitchFamily="34" charset="-120"/>
              </a:rPr>
              <a:t>Hidden keys don't need one — only what a human or AI will see</a:t>
            </a:r>
            <a:endParaRPr lang="en-US" sz="1200" dirty="0"/>
          </a:p>
        </p:txBody>
      </p:sp>
      <p:sp>
        <p:nvSpPr>
          <p:cNvPr id="12" name="Shape 9"/>
          <p:cNvSpPr/>
          <p:nvPr/>
        </p:nvSpPr>
        <p:spPr>
          <a:xfrm>
            <a:off x="6277356" y="1554480"/>
            <a:ext cx="5344668" cy="2286000"/>
          </a:xfrm>
          <a:prstGeom prst="roundRect">
            <a:avLst>
              <a:gd name="adj" fmla="val 3600"/>
            </a:avLst>
          </a:prstGeom>
          <a:solidFill>
            <a:srgbClr val="FDF6E3"/>
          </a:solidFill>
          <a:ln w="12700">
            <a:solidFill>
              <a:srgbClr val="EBD9A8"/>
            </a:solidFill>
            <a:prstDash val="solid"/>
          </a:ln>
          <a:effectLst>
            <a:outerShdw sx="100000" sy="100000" kx="0" ky="0" algn="bl" rotWithShape="0" blurRad="127000" dist="25400" dir="5400000">
              <a:srgbClr val="9AA0B5">
                <a:alpha val="28000"/>
              </a:srgbClr>
            </a:outerShdw>
          </a:effectLst>
        </p:spPr>
        <p:txBody>
          <a:bodyPr/>
          <a:p/>
        </p:txBody>
      </p:sp>
      <p:sp>
        <p:nvSpPr>
          <p:cNvPr id="13" name="Text 10"/>
          <p:cNvSpPr/>
          <p:nvPr/>
        </p:nvSpPr>
        <p:spPr>
          <a:xfrm>
            <a:off x="6569964" y="1700784"/>
            <a:ext cx="4023360" cy="384048"/>
          </a:xfrm>
          <a:prstGeom prst="rect">
            <a:avLst/>
          </a:prstGeom>
          <a:noFill/>
          <a:ln/>
        </p:spPr>
        <p:txBody>
          <a:bodyPr wrap="square" lIns="0" tIns="0" rIns="0" bIns="0" rtlCol="0" anchor="ctr"/>
          <a:lstStyle/>
          <a:p>
            <a:pPr indent="0" marL="0">
              <a:buNone/>
            </a:pPr>
            <a:r>
              <a:rPr lang="en-US" sz="2200" b="1" dirty="0">
                <a:solidFill>
                  <a:srgbClr val="8A6E12"/>
                </a:solidFill>
                <a:latin typeface="Cambria" pitchFamily="34" charset="0"/>
                <a:ea typeface="Cambria" pitchFamily="34" charset="-122"/>
                <a:cs typeface="Cambria" pitchFamily="34" charset="-120"/>
              </a:rPr>
              <a:t>Naming standards</a:t>
            </a:r>
            <a:endParaRPr lang="en-US" sz="2200" dirty="0"/>
          </a:p>
        </p:txBody>
      </p:sp>
      <p:sp>
        <p:nvSpPr>
          <p:cNvPr id="14" name="Text 11"/>
          <p:cNvSpPr/>
          <p:nvPr/>
        </p:nvSpPr>
        <p:spPr>
          <a:xfrm>
            <a:off x="6569964" y="2139696"/>
            <a:ext cx="4759452" cy="658368"/>
          </a:xfrm>
          <a:prstGeom prst="rect">
            <a:avLst/>
          </a:prstGeom>
          <a:noFill/>
          <a:ln/>
        </p:spPr>
        <p:txBody>
          <a:bodyPr wrap="square" lIns="0" tIns="0" rIns="0" bIns="0" rtlCol="0" anchor="ctr"/>
          <a:lstStyle/>
          <a:p>
            <a:pPr indent="0" marL="0">
              <a:buNone/>
            </a:pPr>
            <a:r>
              <a:rPr lang="en-US" sz="1300" i="1" dirty="0">
                <a:solidFill>
                  <a:srgbClr val="6B551A"/>
                </a:solidFill>
                <a:latin typeface="Calibri" pitchFamily="34" charset="0"/>
                <a:ea typeface="Calibri" pitchFamily="34" charset="-122"/>
                <a:cs typeface="Calibri" pitchFamily="34" charset="-120"/>
              </a:rPr>
              <a:t>“Rename every table and column to our convention: no dim_/fact_ prefixes, spaced Title Case, keys suffixed Key.”</a:t>
            </a:r>
            <a:endParaRPr lang="en-US" sz="1300" dirty="0"/>
          </a:p>
        </p:txBody>
      </p:sp>
      <p:sp>
        <p:nvSpPr>
          <p:cNvPr id="15" name="Text 12"/>
          <p:cNvSpPr/>
          <p:nvPr/>
        </p:nvSpPr>
        <p:spPr>
          <a:xfrm>
            <a:off x="6569964" y="2871216"/>
            <a:ext cx="4759452" cy="896112"/>
          </a:xfrm>
          <a:prstGeom prst="rect">
            <a:avLst/>
          </a:prstGeom>
          <a:noFill/>
          <a:ln/>
        </p:spPr>
        <p:txBody>
          <a:bodyPr wrap="square" lIns="0" tIns="0" rIns="0" bIns="0" rtlCol="0" anchor="t"/>
          <a:lstStyle/>
          <a:p>
            <a:pPr marL="342900" indent="-342900">
              <a:lnSpc>
                <a:spcPct val="115000"/>
              </a:lnSpc>
              <a:spcAft>
                <a:spcPts val="400"/>
              </a:spcAft>
              <a:buSzPct val="100000"/>
              <a:buChar char="•"/>
            </a:pPr>
            <a:r>
              <a:rPr lang="en-US" sz="1200" dirty="0">
                <a:solidFill>
                  <a:srgbClr val="6B551A"/>
                </a:solidFill>
                <a:latin typeface="Calibri" pitchFamily="34" charset="0"/>
                <a:ea typeface="Calibri" pitchFamily="34" charset="-122"/>
                <a:cs typeface="Calibri" pitchFamily="34" charset="-120"/>
              </a:rPr>
              <a:t>table_operations / column_operations → Rename with a list</a:t>
            </a:r>
            <a:endParaRPr lang="en-US" sz="1200" dirty="0"/>
          </a:p>
          <a:p>
            <a:pPr marL="342900" indent="-342900">
              <a:lnSpc>
                <a:spcPct val="115000"/>
              </a:lnSpc>
              <a:spcAft>
                <a:spcPts val="400"/>
              </a:spcAft>
              <a:buSzPct val="100000"/>
              <a:buChar char="•"/>
            </a:pPr>
            <a:r>
              <a:rPr lang="en-US" sz="1200" dirty="0">
                <a:solidFill>
                  <a:srgbClr val="6B551A"/>
                </a:solidFill>
                <a:latin typeface="Calibri" pitchFamily="34" charset="0"/>
                <a:ea typeface="Calibri" pitchFamily="34" charset="-122"/>
                <a:cs typeface="Calibri" pitchFamily="34" charset="-120"/>
              </a:rPr>
              <a:t>Formula fixup carries the measure DAX through — verify, don't assume</a:t>
            </a:r>
            <a:endParaRPr lang="en-US" sz="1200" dirty="0"/>
          </a:p>
          <a:p>
            <a:pPr marL="342900" indent="-342900">
              <a:lnSpc>
                <a:spcPct val="115000"/>
              </a:lnSpc>
              <a:spcAft>
                <a:spcPts val="400"/>
              </a:spcAft>
              <a:buSzPct val="100000"/>
              <a:buChar char="•"/>
            </a:pPr>
            <a:r>
              <a:rPr lang="en-US" sz="1200" dirty="0">
                <a:solidFill>
                  <a:srgbClr val="6B551A"/>
                </a:solidFill>
                <a:latin typeface="Calibri" pitchFamily="34" charset="0"/>
                <a:ea typeface="Calibri" pitchFamily="34" charset="-122"/>
                <a:cs typeface="Calibri" pitchFamily="34" charset="-120"/>
              </a:rPr>
              <a:t>One prompt applies the standard to 60 objects, consistently</a:t>
            </a:r>
            <a:endParaRPr lang="en-US" sz="1200" dirty="0"/>
          </a:p>
        </p:txBody>
      </p:sp>
      <p:sp>
        <p:nvSpPr>
          <p:cNvPr id="16" name="Shape 13"/>
          <p:cNvSpPr/>
          <p:nvPr/>
        </p:nvSpPr>
        <p:spPr>
          <a:xfrm>
            <a:off x="566928" y="3986784"/>
            <a:ext cx="11055096" cy="749808"/>
          </a:xfrm>
          <a:prstGeom prst="roundRect">
            <a:avLst>
              <a:gd name="adj" fmla="val 10976"/>
            </a:avLst>
          </a:prstGeom>
          <a:solidFill>
            <a:srgbClr val="FBF0EF"/>
          </a:solidFill>
          <a:ln w="12700">
            <a:solidFill>
              <a:srgbClr val="EBC9C6"/>
            </a:solidFill>
            <a:prstDash val="solid"/>
          </a:ln>
        </p:spPr>
        <p:txBody>
          <a:bodyPr/>
          <a:p/>
        </p:txBody>
      </p:sp>
      <p:sp>
        <p:nvSpPr>
          <p:cNvPr id="17" name="Text 14"/>
          <p:cNvSpPr/>
          <p:nvPr/>
        </p:nvSpPr>
        <p:spPr>
          <a:xfrm>
            <a:off x="859536" y="3986784"/>
            <a:ext cx="10469880" cy="749808"/>
          </a:xfrm>
          <a:prstGeom prst="rect">
            <a:avLst/>
          </a:prstGeom>
          <a:noFill/>
          <a:ln/>
        </p:spPr>
        <p:txBody>
          <a:bodyPr wrap="square" lIns="0" tIns="0" rIns="0" bIns="0" rtlCol="0" anchor="ctr"/>
          <a:lstStyle/>
          <a:p>
            <a:pPr indent="0" marL="0">
              <a:buNone/>
            </a:pPr>
            <a:r>
              <a:rPr lang="en-US" sz="1250" b="1" dirty="0">
                <a:solidFill>
                  <a:srgbClr val="7A3B36"/>
                </a:solidFill>
                <a:latin typeface="Calibri" pitchFamily="34" charset="0"/>
                <a:ea typeface="Calibri" pitchFamily="34" charset="-122"/>
                <a:cs typeface="Calibri" pitchFamily="34" charset="-120"/>
              </a:rPr>
              <a:t>Synonyms are the one AI-readiness field this server won't write — no tool in 1.0 even mentions them. By hand, it's the Synonyms box in Model view. Say so before someone asks.</a:t>
            </a:r>
            <a:endParaRPr lang="en-US" sz="1250" dirty="0"/>
          </a:p>
        </p:txBody>
      </p:sp>
      <p:sp>
        <p:nvSpPr>
          <p:cNvPr id="18" name="Shape 15"/>
          <p:cNvSpPr/>
          <p:nvPr/>
        </p:nvSpPr>
        <p:spPr>
          <a:xfrm>
            <a:off x="566928" y="4882896"/>
            <a:ext cx="11055096" cy="1024128"/>
          </a:xfrm>
          <a:prstGeom prst="roundRect">
            <a:avLst>
              <a:gd name="adj" fmla="val 8036"/>
            </a:avLst>
          </a:prstGeom>
          <a:solidFill>
            <a:srgbClr val="FAFAFD"/>
          </a:solidFill>
          <a:ln w="12700">
            <a:solidFill>
              <a:srgbClr val="DFE2EC"/>
            </a:solidFill>
            <a:prstDash val="solid"/>
          </a:ln>
          <a:effectLst>
            <a:outerShdw sx="100000" sy="100000" kx="0" ky="0" algn="bl" rotWithShape="0" blurRad="127000" dist="25400" dir="5400000">
              <a:srgbClr val="9AA0B5">
                <a:alpha val="28000"/>
              </a:srgbClr>
            </a:outerShdw>
          </a:effectLst>
        </p:spPr>
        <p:txBody>
          <a:bodyPr/>
          <a:p/>
        </p:txBody>
      </p:sp>
      <p:sp>
        <p:nvSpPr>
          <p:cNvPr id="19" name="Text 16"/>
          <p:cNvSpPr/>
          <p:nvPr/>
        </p:nvSpPr>
        <p:spPr>
          <a:xfrm>
            <a:off x="877824" y="4992624"/>
            <a:ext cx="10433304" cy="274320"/>
          </a:xfrm>
          <a:prstGeom prst="rect">
            <a:avLst/>
          </a:prstGeom>
          <a:noFill/>
          <a:ln/>
        </p:spPr>
        <p:txBody>
          <a:bodyPr wrap="square" lIns="0" tIns="0" rIns="0" bIns="0" rtlCol="0" anchor="ctr"/>
          <a:lstStyle/>
          <a:p>
            <a:pPr indent="0" marL="0">
              <a:buNone/>
            </a:pPr>
            <a:r>
              <a:rPr lang="en-US" sz="1700" b="1" dirty="0">
                <a:solidFill>
                  <a:srgbClr val="14182E"/>
                </a:solidFill>
                <a:latin typeface="Cambria" pitchFamily="34" charset="0"/>
                <a:ea typeface="Cambria" pitchFamily="34" charset="-122"/>
                <a:cs typeface="Cambria" pitchFamily="34" charset="-120"/>
              </a:rPr>
              <a:t>Why this is the whole point</a:t>
            </a:r>
            <a:endParaRPr lang="en-US" sz="1700" dirty="0"/>
          </a:p>
        </p:txBody>
      </p:sp>
      <p:sp>
        <p:nvSpPr>
          <p:cNvPr id="20" name="Text 17"/>
          <p:cNvSpPr/>
          <p:nvPr/>
        </p:nvSpPr>
        <p:spPr>
          <a:xfrm>
            <a:off x="877824" y="5285232"/>
            <a:ext cx="10433304" cy="530352"/>
          </a:xfrm>
          <a:prstGeom prst="rect">
            <a:avLst/>
          </a:prstGeom>
          <a:noFill/>
          <a:ln/>
        </p:spPr>
        <p:txBody>
          <a:bodyPr wrap="square" lIns="0" tIns="0" rIns="0" bIns="0" rtlCol="0" anchor="ctr"/>
          <a:lstStyle/>
          <a:p>
            <a:pPr indent="0" marL="0">
              <a:lnSpc>
                <a:spcPct val="110000"/>
              </a:lnSpc>
              <a:buNone/>
            </a:pPr>
            <a:r>
              <a:rPr lang="en-US" sz="1250" dirty="0">
                <a:solidFill>
                  <a:srgbClr val="2A2F45"/>
                </a:solidFill>
                <a:latin typeface="Calibri" pitchFamily="34" charset="0"/>
                <a:ea typeface="Calibri" pitchFamily="34" charset="-122"/>
                <a:cs typeface="Calibri" pitchFamily="34" charset="-120"/>
              </a:rPr>
              <a:t>A Data Agent or Copilot answers from names and descriptions — not from your DAX. This is the tedious work everybody skips, and it is exactly the work an agent is good at. You still review every line.</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9134856" y="6381598"/>
            <a:ext cx="310896" cy="20117"/>
          </a:xfrm>
          <a:prstGeom prst="rect">
            <a:avLst/>
          </a:prstGeom>
          <a:solidFill>
            <a:srgbClr val="F2C230"/>
          </a:solidFill>
          <a:ln w="12700">
            <a:solidFill>
              <a:srgbClr val="F2C230"/>
            </a:solidFill>
            <a:prstDash val="solid"/>
          </a:ln>
        </p:spPr>
        <p:txBody>
          <a:bodyPr/>
          <a:lstStyle/>
          <a:p>
            <a:endParaRPr lang="en-US"/>
          </a:p>
        </p:txBody>
      </p:sp>
      <p:sp>
        <p:nvSpPr>
          <p:cNvPr id="4" name="Text 1"/>
          <p:cNvSpPr/>
          <p:nvPr/>
        </p:nvSpPr>
        <p:spPr>
          <a:xfrm>
            <a:off x="9518904" y="6272784"/>
            <a:ext cx="2103120" cy="237744"/>
          </a:xfrm>
          <a:prstGeom prst="rect">
            <a:avLst/>
          </a:prstGeom>
          <a:noFill/>
          <a:ln/>
        </p:spPr>
        <p:txBody>
          <a:bodyPr wrap="square" lIns="0" tIns="0" rIns="0" bIns="0" rtlCol="0" anchor="ctr"/>
          <a:lstStyle/>
          <a:p>
            <a:pPr marL="0" indent="0" algn="r">
              <a:buNone/>
            </a:pPr>
            <a:r>
              <a:rPr lang="en-US" sz="900" b="1" kern="0" spc="120" dirty="0">
                <a:solidFill>
                  <a:srgbClr val="6B7280"/>
                </a:solidFill>
                <a:latin typeface="Calibri" pitchFamily="34" charset="0"/>
                <a:ea typeface="Calibri" pitchFamily="34" charset="-122"/>
                <a:cs typeface="Calibri" pitchFamily="34" charset="-120"/>
              </a:rPr>
              <a:t>16 / 22  ·  DEMO</a:t>
            </a:r>
            <a:endParaRPr lang="en-US" sz="900" dirty="0"/>
          </a:p>
        </p:txBody>
      </p:sp>
      <p:sp>
        <p:nvSpPr>
          <p:cNvPr id="5" name="Shape 2"/>
          <p:cNvSpPr/>
          <p:nvPr/>
        </p:nvSpPr>
        <p:spPr>
          <a:xfrm>
            <a:off x="566928" y="274320"/>
            <a:ext cx="566928" cy="41148"/>
          </a:xfrm>
          <a:prstGeom prst="rect">
            <a:avLst/>
          </a:prstGeom>
          <a:solidFill>
            <a:srgbClr val="F2C230"/>
          </a:solidFill>
          <a:ln w="12700">
            <a:solidFill>
              <a:srgbClr val="F2C230"/>
            </a:solidFill>
            <a:prstDash val="solid"/>
          </a:ln>
        </p:spPr>
        <p:txBody>
          <a:bodyPr/>
          <a:lstStyle/>
          <a:p>
            <a:endParaRPr lang="en-US"/>
          </a:p>
        </p:txBody>
      </p:sp>
      <p:sp>
        <p:nvSpPr>
          <p:cNvPr id="6" name="Text 3"/>
          <p:cNvSpPr/>
          <p:nvPr/>
        </p:nvSpPr>
        <p:spPr>
          <a:xfrm>
            <a:off x="566928" y="402336"/>
            <a:ext cx="11055096" cy="256032"/>
          </a:xfrm>
          <a:prstGeom prst="rect">
            <a:avLst/>
          </a:prstGeom>
          <a:noFill/>
          <a:ln/>
        </p:spPr>
        <p:txBody>
          <a:bodyPr wrap="square" lIns="0" tIns="0" rIns="0" bIns="0" rtlCol="0" anchor="ctr"/>
          <a:lstStyle/>
          <a:p>
            <a:pPr marL="0" indent="0">
              <a:buNone/>
            </a:pPr>
            <a:r>
              <a:rPr lang="en-US" sz="1100" b="1" kern="0" spc="220" dirty="0">
                <a:solidFill>
                  <a:srgbClr val="F2C230"/>
                </a:solidFill>
                <a:latin typeface="Calibri" pitchFamily="34" charset="0"/>
                <a:ea typeface="Calibri" pitchFamily="34" charset="-122"/>
                <a:cs typeface="Calibri" pitchFamily="34" charset="-120"/>
              </a:rPr>
              <a:t>DEMO · STEP 5</a:t>
            </a:r>
            <a:endParaRPr lang="en-US" sz="1100" dirty="0"/>
          </a:p>
        </p:txBody>
      </p:sp>
      <p:sp>
        <p:nvSpPr>
          <p:cNvPr id="7" name="Text 4"/>
          <p:cNvSpPr/>
          <p:nvPr/>
        </p:nvSpPr>
        <p:spPr>
          <a:xfrm>
            <a:off x="566928" y="676656"/>
            <a:ext cx="11055096" cy="621792"/>
          </a:xfrm>
          <a:prstGeom prst="rect">
            <a:avLst/>
          </a:prstGeom>
          <a:noFill/>
          <a:ln/>
        </p:spPr>
        <p:txBody>
          <a:bodyPr wrap="square" lIns="0" tIns="0" rIns="0" bIns="0" rtlCol="0" anchor="ctr"/>
          <a:lstStyle/>
          <a:p>
            <a:pPr marL="0" indent="0">
              <a:buNone/>
            </a:pPr>
            <a:r>
              <a:rPr lang="en-US" sz="3400" b="1" dirty="0">
                <a:solidFill>
                  <a:srgbClr val="14182E"/>
                </a:solidFill>
                <a:latin typeface="Cambria" pitchFamily="34" charset="0"/>
                <a:ea typeface="Cambria" pitchFamily="34" charset="-122"/>
                <a:cs typeface="Cambria" pitchFamily="34" charset="-120"/>
              </a:rPr>
              <a:t>Keys, measures and relationships</a:t>
            </a:r>
            <a:endParaRPr lang="en-US" sz="3400" dirty="0"/>
          </a:p>
        </p:txBody>
      </p:sp>
      <p:sp>
        <p:nvSpPr>
          <p:cNvPr id="8" name="Shape 5"/>
          <p:cNvSpPr/>
          <p:nvPr/>
        </p:nvSpPr>
        <p:spPr>
          <a:xfrm>
            <a:off x="566928" y="1627632"/>
            <a:ext cx="5344668" cy="1280160"/>
          </a:xfrm>
          <a:prstGeom prst="roundRect">
            <a:avLst>
              <a:gd name="adj" fmla="val 6429"/>
            </a:avLst>
          </a:prstGeom>
          <a:solidFill>
            <a:srgbClr val="FAFAFD"/>
          </a:solidFill>
          <a:ln w="12700">
            <a:solidFill>
              <a:srgbClr val="DFE2EC"/>
            </a:solidFill>
            <a:prstDash val="solid"/>
          </a:ln>
          <a:effectLst>
            <a:outerShdw blurRad="127000" dist="25400" dir="5400000" algn="bl" rotWithShape="0">
              <a:srgbClr val="9AA0B5">
                <a:alpha val="28000"/>
              </a:srgbClr>
            </a:outerShdw>
          </a:effectLst>
        </p:spPr>
        <p:txBody>
          <a:bodyPr/>
          <a:lstStyle/>
          <a:p>
            <a:endParaRPr lang="en-US"/>
          </a:p>
        </p:txBody>
      </p:sp>
      <p:sp>
        <p:nvSpPr>
          <p:cNvPr id="9" name="Shape 6"/>
          <p:cNvSpPr/>
          <p:nvPr/>
        </p:nvSpPr>
        <p:spPr>
          <a:xfrm>
            <a:off x="841248" y="1901952"/>
            <a:ext cx="347472" cy="347472"/>
          </a:xfrm>
          <a:prstGeom prst="roundRect">
            <a:avLst>
              <a:gd name="adj" fmla="val 18421"/>
            </a:avLst>
          </a:prstGeom>
          <a:solidFill>
            <a:srgbClr val="F2C230"/>
          </a:solidFill>
          <a:ln w="12700">
            <a:solidFill>
              <a:srgbClr val="F2C230"/>
            </a:solidFill>
            <a:prstDash val="solid"/>
          </a:ln>
        </p:spPr>
        <p:txBody>
          <a:bodyPr/>
          <a:lstStyle/>
          <a:p>
            <a:endParaRPr lang="en-US"/>
          </a:p>
        </p:txBody>
      </p:sp>
      <p:sp>
        <p:nvSpPr>
          <p:cNvPr id="10" name="Text 7"/>
          <p:cNvSpPr/>
          <p:nvPr/>
        </p:nvSpPr>
        <p:spPr>
          <a:xfrm>
            <a:off x="1316736" y="1828800"/>
            <a:ext cx="4338828" cy="329184"/>
          </a:xfrm>
          <a:prstGeom prst="rect">
            <a:avLst/>
          </a:prstGeom>
          <a:noFill/>
          <a:ln/>
        </p:spPr>
        <p:txBody>
          <a:bodyPr wrap="square" lIns="0" tIns="0" rIns="0" bIns="0" rtlCol="0" anchor="ctr"/>
          <a:lstStyle/>
          <a:p>
            <a:pPr marL="0" indent="0">
              <a:buNone/>
            </a:pPr>
            <a:r>
              <a:rPr lang="en-US" sz="1700" b="1" dirty="0">
                <a:solidFill>
                  <a:srgbClr val="14182E"/>
                </a:solidFill>
                <a:latin typeface="Cambria" pitchFamily="34" charset="0"/>
                <a:ea typeface="Cambria" pitchFamily="34" charset="-122"/>
                <a:cs typeface="Cambria" pitchFamily="34" charset="-120"/>
              </a:rPr>
              <a:t>Hide the keys</a:t>
            </a:r>
            <a:endParaRPr lang="en-US" sz="1700" dirty="0"/>
          </a:p>
        </p:txBody>
      </p:sp>
      <p:sp>
        <p:nvSpPr>
          <p:cNvPr id="11" name="Text 8"/>
          <p:cNvSpPr/>
          <p:nvPr/>
        </p:nvSpPr>
        <p:spPr>
          <a:xfrm>
            <a:off x="1316736" y="2176272"/>
            <a:ext cx="4338828" cy="658368"/>
          </a:xfrm>
          <a:prstGeom prst="rect">
            <a:avLst/>
          </a:prstGeom>
          <a:noFill/>
          <a:ln/>
        </p:spPr>
        <p:txBody>
          <a:bodyPr wrap="square" lIns="0" tIns="0" rIns="0" bIns="0" rtlCol="0" anchor="ctr"/>
          <a:lstStyle/>
          <a:p>
            <a:pPr marL="0" indent="0">
              <a:buNone/>
            </a:pPr>
            <a:r>
              <a:rPr lang="en-US" sz="1250" dirty="0">
                <a:solidFill>
                  <a:srgbClr val="6B7280"/>
                </a:solidFill>
                <a:latin typeface="Calibri" pitchFamily="34" charset="0"/>
                <a:ea typeface="Calibri" pitchFamily="34" charset="-122"/>
                <a:cs typeface="Calibri" pitchFamily="34" charset="-120"/>
              </a:rPr>
              <a:t>isHidden plus summarizeBy: None on every key, so Geo Key never silently sums in a visual</a:t>
            </a:r>
            <a:endParaRPr lang="en-US" sz="1250" dirty="0"/>
          </a:p>
        </p:txBody>
      </p:sp>
      <p:sp>
        <p:nvSpPr>
          <p:cNvPr id="12" name="Shape 9"/>
          <p:cNvSpPr/>
          <p:nvPr/>
        </p:nvSpPr>
        <p:spPr>
          <a:xfrm>
            <a:off x="6277356" y="1627632"/>
            <a:ext cx="5344668" cy="1280160"/>
          </a:xfrm>
          <a:prstGeom prst="roundRect">
            <a:avLst>
              <a:gd name="adj" fmla="val 6429"/>
            </a:avLst>
          </a:prstGeom>
          <a:solidFill>
            <a:srgbClr val="FAFAFD"/>
          </a:solidFill>
          <a:ln w="12700">
            <a:solidFill>
              <a:srgbClr val="DFE2EC"/>
            </a:solidFill>
            <a:prstDash val="solid"/>
          </a:ln>
          <a:effectLst>
            <a:outerShdw blurRad="127000" dist="25400" dir="5400000" algn="bl" rotWithShape="0">
              <a:srgbClr val="9AA0B5">
                <a:alpha val="28000"/>
              </a:srgbClr>
            </a:outerShdw>
          </a:effectLst>
        </p:spPr>
        <p:txBody>
          <a:bodyPr/>
          <a:lstStyle/>
          <a:p>
            <a:endParaRPr lang="en-US"/>
          </a:p>
        </p:txBody>
      </p:sp>
      <p:sp>
        <p:nvSpPr>
          <p:cNvPr id="13" name="Shape 10"/>
          <p:cNvSpPr/>
          <p:nvPr/>
        </p:nvSpPr>
        <p:spPr>
          <a:xfrm>
            <a:off x="6551676" y="1901952"/>
            <a:ext cx="347472" cy="347472"/>
          </a:xfrm>
          <a:prstGeom prst="roundRect">
            <a:avLst>
              <a:gd name="adj" fmla="val 18421"/>
            </a:avLst>
          </a:prstGeom>
          <a:solidFill>
            <a:srgbClr val="1F9E96"/>
          </a:solidFill>
          <a:ln w="12700">
            <a:solidFill>
              <a:srgbClr val="1F9E96"/>
            </a:solidFill>
            <a:prstDash val="solid"/>
          </a:ln>
        </p:spPr>
        <p:txBody>
          <a:bodyPr/>
          <a:lstStyle/>
          <a:p>
            <a:endParaRPr lang="en-US"/>
          </a:p>
        </p:txBody>
      </p:sp>
      <p:sp>
        <p:nvSpPr>
          <p:cNvPr id="14" name="Text 11"/>
          <p:cNvSpPr/>
          <p:nvPr/>
        </p:nvSpPr>
        <p:spPr>
          <a:xfrm>
            <a:off x="7027164" y="1828800"/>
            <a:ext cx="4338828" cy="329184"/>
          </a:xfrm>
          <a:prstGeom prst="rect">
            <a:avLst/>
          </a:prstGeom>
          <a:noFill/>
          <a:ln/>
        </p:spPr>
        <p:txBody>
          <a:bodyPr wrap="square" lIns="0" tIns="0" rIns="0" bIns="0" rtlCol="0" anchor="ctr"/>
          <a:lstStyle/>
          <a:p>
            <a:pPr marL="0" indent="0">
              <a:buNone/>
            </a:pPr>
            <a:r>
              <a:rPr lang="en-US" sz="1700" b="1" dirty="0">
                <a:solidFill>
                  <a:srgbClr val="14182E"/>
                </a:solidFill>
                <a:latin typeface="Cambria" pitchFamily="34" charset="0"/>
                <a:ea typeface="Cambria" pitchFamily="34" charset="-122"/>
                <a:cs typeface="Cambria" pitchFamily="34" charset="-120"/>
              </a:rPr>
              <a:t>One measures table</a:t>
            </a:r>
            <a:endParaRPr lang="en-US" sz="1700" dirty="0"/>
          </a:p>
        </p:txBody>
      </p:sp>
      <p:sp>
        <p:nvSpPr>
          <p:cNvPr id="15" name="Text 12"/>
          <p:cNvSpPr/>
          <p:nvPr/>
        </p:nvSpPr>
        <p:spPr>
          <a:xfrm>
            <a:off x="7027164" y="2176272"/>
            <a:ext cx="4338828" cy="658368"/>
          </a:xfrm>
          <a:prstGeom prst="rect">
            <a:avLst/>
          </a:prstGeom>
          <a:noFill/>
          <a:ln/>
        </p:spPr>
        <p:txBody>
          <a:bodyPr wrap="square" lIns="0" tIns="0" rIns="0" bIns="0" rtlCol="0" anchor="ctr"/>
          <a:lstStyle/>
          <a:p>
            <a:pPr marL="0" indent="0">
              <a:buNone/>
            </a:pPr>
            <a:r>
              <a:rPr lang="en-US" sz="1250" dirty="0">
                <a:solidFill>
                  <a:srgbClr val="6B7280"/>
                </a:solidFill>
                <a:latin typeface="Calibri" pitchFamily="34" charset="0"/>
                <a:ea typeface="Calibri" pitchFamily="34" charset="-122"/>
                <a:cs typeface="Calibri" pitchFamily="34" charset="-120"/>
              </a:rPr>
              <a:t>Create a calculated table and move every measure into it. Note: Measures is a reserved word — use Metrics</a:t>
            </a:r>
            <a:endParaRPr lang="en-US" sz="1250" dirty="0"/>
          </a:p>
        </p:txBody>
      </p:sp>
      <p:sp>
        <p:nvSpPr>
          <p:cNvPr id="16" name="Shape 13"/>
          <p:cNvSpPr/>
          <p:nvPr/>
        </p:nvSpPr>
        <p:spPr>
          <a:xfrm>
            <a:off x="566928" y="3108960"/>
            <a:ext cx="5344668" cy="1280160"/>
          </a:xfrm>
          <a:prstGeom prst="roundRect">
            <a:avLst>
              <a:gd name="adj" fmla="val 6429"/>
            </a:avLst>
          </a:prstGeom>
          <a:solidFill>
            <a:srgbClr val="FAFAFD"/>
          </a:solidFill>
          <a:ln w="12700">
            <a:solidFill>
              <a:srgbClr val="DFE2EC"/>
            </a:solidFill>
            <a:prstDash val="solid"/>
          </a:ln>
          <a:effectLst>
            <a:outerShdw blurRad="127000" dist="25400" dir="5400000" algn="bl" rotWithShape="0">
              <a:srgbClr val="9AA0B5">
                <a:alpha val="28000"/>
              </a:srgbClr>
            </a:outerShdw>
          </a:effectLst>
        </p:spPr>
        <p:txBody>
          <a:bodyPr/>
          <a:lstStyle/>
          <a:p>
            <a:endParaRPr lang="en-US"/>
          </a:p>
        </p:txBody>
      </p:sp>
      <p:sp>
        <p:nvSpPr>
          <p:cNvPr id="17" name="Shape 14"/>
          <p:cNvSpPr/>
          <p:nvPr/>
        </p:nvSpPr>
        <p:spPr>
          <a:xfrm>
            <a:off x="841248" y="3383280"/>
            <a:ext cx="347472" cy="347472"/>
          </a:xfrm>
          <a:prstGeom prst="roundRect">
            <a:avLst>
              <a:gd name="adj" fmla="val 18421"/>
            </a:avLst>
          </a:prstGeom>
          <a:solidFill>
            <a:srgbClr val="F2C230"/>
          </a:solidFill>
          <a:ln w="12700">
            <a:solidFill>
              <a:srgbClr val="F2C230"/>
            </a:solidFill>
            <a:prstDash val="solid"/>
          </a:ln>
        </p:spPr>
        <p:txBody>
          <a:bodyPr/>
          <a:lstStyle/>
          <a:p>
            <a:endParaRPr lang="en-US"/>
          </a:p>
        </p:txBody>
      </p:sp>
      <p:sp>
        <p:nvSpPr>
          <p:cNvPr id="18" name="Text 15"/>
          <p:cNvSpPr/>
          <p:nvPr/>
        </p:nvSpPr>
        <p:spPr>
          <a:xfrm>
            <a:off x="1316736" y="3310128"/>
            <a:ext cx="4338828" cy="329184"/>
          </a:xfrm>
          <a:prstGeom prst="rect">
            <a:avLst/>
          </a:prstGeom>
          <a:noFill/>
          <a:ln/>
        </p:spPr>
        <p:txBody>
          <a:bodyPr wrap="square" lIns="0" tIns="0" rIns="0" bIns="0" rtlCol="0" anchor="ctr"/>
          <a:lstStyle/>
          <a:p>
            <a:pPr marL="0" indent="0">
              <a:buNone/>
            </a:pPr>
            <a:r>
              <a:rPr lang="en-US" sz="1700" b="1" dirty="0">
                <a:solidFill>
                  <a:srgbClr val="14182E"/>
                </a:solidFill>
                <a:latin typeface="Cambria" pitchFamily="34" charset="0"/>
                <a:ea typeface="Cambria" pitchFamily="34" charset="-122"/>
                <a:cs typeface="Cambria" pitchFamily="34" charset="-120"/>
              </a:rPr>
              <a:t>Relationships</a:t>
            </a:r>
            <a:endParaRPr lang="en-US" sz="1700" dirty="0"/>
          </a:p>
        </p:txBody>
      </p:sp>
      <p:sp>
        <p:nvSpPr>
          <p:cNvPr id="19" name="Text 16"/>
          <p:cNvSpPr/>
          <p:nvPr/>
        </p:nvSpPr>
        <p:spPr>
          <a:xfrm>
            <a:off x="1316736" y="3657600"/>
            <a:ext cx="4338828" cy="658368"/>
          </a:xfrm>
          <a:prstGeom prst="rect">
            <a:avLst/>
          </a:prstGeom>
          <a:noFill/>
          <a:ln/>
        </p:spPr>
        <p:txBody>
          <a:bodyPr wrap="square" lIns="0" tIns="0" rIns="0" bIns="0" rtlCol="0" anchor="ctr"/>
          <a:lstStyle/>
          <a:p>
            <a:pPr marL="0" indent="0">
              <a:buNone/>
            </a:pPr>
            <a:r>
              <a:rPr lang="en-US" sz="1250" dirty="0">
                <a:solidFill>
                  <a:srgbClr val="6B7280"/>
                </a:solidFill>
                <a:latin typeface="Calibri" pitchFamily="34" charset="0"/>
                <a:ea typeface="Calibri" pitchFamily="34" charset="-122"/>
                <a:cs typeface="Calibri" pitchFamily="34" charset="-120"/>
              </a:rPr>
              <a:t>List, Create, Update, Activate, Deactivate, Find. Cardinality, cross-filter direction, active flag</a:t>
            </a:r>
            <a:endParaRPr lang="en-US" sz="1250" dirty="0"/>
          </a:p>
        </p:txBody>
      </p:sp>
      <p:sp>
        <p:nvSpPr>
          <p:cNvPr id="20" name="Shape 17"/>
          <p:cNvSpPr/>
          <p:nvPr/>
        </p:nvSpPr>
        <p:spPr>
          <a:xfrm>
            <a:off x="6277356" y="3108960"/>
            <a:ext cx="5344668" cy="1280160"/>
          </a:xfrm>
          <a:prstGeom prst="roundRect">
            <a:avLst>
              <a:gd name="adj" fmla="val 6429"/>
            </a:avLst>
          </a:prstGeom>
          <a:solidFill>
            <a:srgbClr val="FAFAFD"/>
          </a:solidFill>
          <a:ln w="12700">
            <a:solidFill>
              <a:srgbClr val="DFE2EC"/>
            </a:solidFill>
            <a:prstDash val="solid"/>
          </a:ln>
          <a:effectLst>
            <a:outerShdw blurRad="127000" dist="25400" dir="5400000" algn="bl" rotWithShape="0">
              <a:srgbClr val="9AA0B5">
                <a:alpha val="28000"/>
              </a:srgbClr>
            </a:outerShdw>
          </a:effectLst>
        </p:spPr>
        <p:txBody>
          <a:bodyPr/>
          <a:lstStyle/>
          <a:p>
            <a:endParaRPr lang="en-US"/>
          </a:p>
        </p:txBody>
      </p:sp>
      <p:sp>
        <p:nvSpPr>
          <p:cNvPr id="21" name="Shape 18"/>
          <p:cNvSpPr/>
          <p:nvPr/>
        </p:nvSpPr>
        <p:spPr>
          <a:xfrm>
            <a:off x="6551676" y="3383280"/>
            <a:ext cx="347472" cy="347472"/>
          </a:xfrm>
          <a:prstGeom prst="roundRect">
            <a:avLst>
              <a:gd name="adj" fmla="val 18421"/>
            </a:avLst>
          </a:prstGeom>
          <a:solidFill>
            <a:srgbClr val="1F9E96"/>
          </a:solidFill>
          <a:ln w="12700">
            <a:solidFill>
              <a:srgbClr val="1F9E96"/>
            </a:solidFill>
            <a:prstDash val="solid"/>
          </a:ln>
        </p:spPr>
        <p:txBody>
          <a:bodyPr/>
          <a:lstStyle/>
          <a:p>
            <a:endParaRPr lang="en-US"/>
          </a:p>
        </p:txBody>
      </p:sp>
      <p:sp>
        <p:nvSpPr>
          <p:cNvPr id="22" name="Text 19"/>
          <p:cNvSpPr/>
          <p:nvPr/>
        </p:nvSpPr>
        <p:spPr>
          <a:xfrm>
            <a:off x="7027164" y="3310128"/>
            <a:ext cx="4338828" cy="329184"/>
          </a:xfrm>
          <a:prstGeom prst="rect">
            <a:avLst/>
          </a:prstGeom>
          <a:noFill/>
          <a:ln/>
        </p:spPr>
        <p:txBody>
          <a:bodyPr wrap="square" lIns="0" tIns="0" rIns="0" bIns="0" rtlCol="0" anchor="ctr"/>
          <a:lstStyle/>
          <a:p>
            <a:pPr marL="0" indent="0">
              <a:buNone/>
            </a:pPr>
            <a:r>
              <a:rPr lang="en-US" sz="1700" b="1" dirty="0">
                <a:solidFill>
                  <a:srgbClr val="14182E"/>
                </a:solidFill>
                <a:latin typeface="Cambria" pitchFamily="34" charset="0"/>
                <a:ea typeface="Cambria" pitchFamily="34" charset="-122"/>
                <a:cs typeface="Cambria" pitchFamily="34" charset="-120"/>
              </a:rPr>
              <a:t>Everything else</a:t>
            </a:r>
            <a:endParaRPr lang="en-US" sz="1700" dirty="0"/>
          </a:p>
        </p:txBody>
      </p:sp>
      <p:sp>
        <p:nvSpPr>
          <p:cNvPr id="23" name="Text 20"/>
          <p:cNvSpPr/>
          <p:nvPr/>
        </p:nvSpPr>
        <p:spPr>
          <a:xfrm>
            <a:off x="7027164" y="3657600"/>
            <a:ext cx="4338828" cy="658368"/>
          </a:xfrm>
          <a:prstGeom prst="rect">
            <a:avLst/>
          </a:prstGeom>
          <a:noFill/>
          <a:ln/>
        </p:spPr>
        <p:txBody>
          <a:bodyPr wrap="square" lIns="0" tIns="0" rIns="0" bIns="0" rtlCol="0" anchor="ctr"/>
          <a:lstStyle/>
          <a:p>
            <a:pPr marL="0" indent="0">
              <a:buNone/>
            </a:pPr>
            <a:r>
              <a:rPr lang="en-US" sz="1250" dirty="0">
                <a:solidFill>
                  <a:srgbClr val="6B7280"/>
                </a:solidFill>
                <a:latin typeface="Calibri" pitchFamily="34" charset="0"/>
                <a:ea typeface="Calibri" pitchFamily="34" charset="-122"/>
                <a:cs typeface="Calibri" pitchFamily="34" charset="-120"/>
              </a:rPr>
              <a:t>Hierarchies, calculation groups, perspectives, security roles, partitions, cultures, translations</a:t>
            </a:r>
            <a:endParaRPr lang="en-US" sz="1250" dirty="0"/>
          </a:p>
        </p:txBody>
      </p:sp>
      <p:sp>
        <p:nvSpPr>
          <p:cNvPr id="24" name="Shape 21"/>
          <p:cNvSpPr/>
          <p:nvPr/>
        </p:nvSpPr>
        <p:spPr>
          <a:xfrm>
            <a:off x="566928" y="4709160"/>
            <a:ext cx="11055096" cy="1097280"/>
          </a:xfrm>
          <a:prstGeom prst="roundRect">
            <a:avLst>
              <a:gd name="adj" fmla="val 7500"/>
            </a:avLst>
          </a:prstGeom>
          <a:solidFill>
            <a:srgbClr val="EDF7F6"/>
          </a:solidFill>
          <a:ln w="12700">
            <a:solidFill>
              <a:srgbClr val="C7E4E1"/>
            </a:solidFill>
            <a:prstDash val="solid"/>
          </a:ln>
          <a:effectLst>
            <a:outerShdw blurRad="127000" dist="25400" dir="5400000" algn="bl" rotWithShape="0">
              <a:srgbClr val="9AA0B5">
                <a:alpha val="28000"/>
              </a:srgbClr>
            </a:outerShdw>
          </a:effectLst>
        </p:spPr>
        <p:txBody>
          <a:bodyPr/>
          <a:lstStyle/>
          <a:p>
            <a:endParaRPr lang="en-US"/>
          </a:p>
        </p:txBody>
      </p:sp>
      <p:sp>
        <p:nvSpPr>
          <p:cNvPr id="25" name="Text 22"/>
          <p:cNvSpPr/>
          <p:nvPr/>
        </p:nvSpPr>
        <p:spPr>
          <a:xfrm>
            <a:off x="859536" y="4709160"/>
            <a:ext cx="10469880" cy="1097280"/>
          </a:xfrm>
          <a:prstGeom prst="rect">
            <a:avLst/>
          </a:prstGeom>
          <a:noFill/>
          <a:ln/>
        </p:spPr>
        <p:txBody>
          <a:bodyPr wrap="square" lIns="0" tIns="0" rIns="0" bIns="0" rtlCol="0" anchor="ctr"/>
          <a:lstStyle/>
          <a:p>
            <a:pPr marL="0" indent="0">
              <a:buNone/>
            </a:pPr>
            <a:r>
              <a:rPr lang="en-US" sz="1350" dirty="0">
                <a:solidFill>
                  <a:srgbClr val="17635E"/>
                </a:solidFill>
                <a:latin typeface="Calibri" pitchFamily="34" charset="0"/>
                <a:ea typeface="Calibri" pitchFamily="34" charset="-122"/>
                <a:cs typeface="Calibri" pitchFamily="34" charset="-120"/>
              </a:rPr>
              <a:t>“List the relationships and confirm the star schema still points where I expect.”   Relationships bind by object, not by name — renaming a key column does not break them. Check anyway.</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9134856" y="6381598"/>
            <a:ext cx="310896" cy="20117"/>
          </a:xfrm>
          <a:prstGeom prst="rect">
            <a:avLst/>
          </a:prstGeom>
          <a:solidFill>
            <a:srgbClr val="F2C230"/>
          </a:solidFill>
          <a:ln w="12700">
            <a:solidFill>
              <a:srgbClr val="F2C230"/>
            </a:solidFill>
            <a:prstDash val="solid"/>
          </a:ln>
        </p:spPr>
        <p:txBody>
          <a:bodyPr/>
          <a:lstStyle/>
          <a:p>
            <a:endParaRPr lang="en-US"/>
          </a:p>
        </p:txBody>
      </p:sp>
      <p:sp>
        <p:nvSpPr>
          <p:cNvPr id="4" name="Text 1"/>
          <p:cNvSpPr/>
          <p:nvPr/>
        </p:nvSpPr>
        <p:spPr>
          <a:xfrm>
            <a:off x="9518904" y="6272784"/>
            <a:ext cx="2103120" cy="237744"/>
          </a:xfrm>
          <a:prstGeom prst="rect">
            <a:avLst/>
          </a:prstGeom>
          <a:noFill/>
          <a:ln/>
        </p:spPr>
        <p:txBody>
          <a:bodyPr wrap="square" lIns="0" tIns="0" rIns="0" bIns="0" rtlCol="0" anchor="ctr"/>
          <a:lstStyle/>
          <a:p>
            <a:pPr marL="0" indent="0" algn="r">
              <a:buNone/>
            </a:pPr>
            <a:r>
              <a:rPr lang="en-US" sz="900" b="1" kern="0" spc="120" dirty="0">
                <a:solidFill>
                  <a:srgbClr val="6B7280"/>
                </a:solidFill>
                <a:latin typeface="Calibri" pitchFamily="34" charset="0"/>
                <a:ea typeface="Calibri" pitchFamily="34" charset="-122"/>
                <a:cs typeface="Calibri" pitchFamily="34" charset="-120"/>
              </a:rPr>
              <a:t>17 / 22  ·  DEMO</a:t>
            </a:r>
            <a:endParaRPr lang="en-US" sz="900" dirty="0"/>
          </a:p>
        </p:txBody>
      </p:sp>
      <p:sp>
        <p:nvSpPr>
          <p:cNvPr id="5" name="Shape 2"/>
          <p:cNvSpPr/>
          <p:nvPr/>
        </p:nvSpPr>
        <p:spPr>
          <a:xfrm>
            <a:off x="566928" y="274320"/>
            <a:ext cx="566928" cy="41148"/>
          </a:xfrm>
          <a:prstGeom prst="rect">
            <a:avLst/>
          </a:prstGeom>
          <a:solidFill>
            <a:srgbClr val="F2C230"/>
          </a:solidFill>
          <a:ln w="12700">
            <a:solidFill>
              <a:srgbClr val="F2C230"/>
            </a:solidFill>
            <a:prstDash val="solid"/>
          </a:ln>
        </p:spPr>
        <p:txBody>
          <a:bodyPr/>
          <a:lstStyle/>
          <a:p>
            <a:endParaRPr lang="en-US"/>
          </a:p>
        </p:txBody>
      </p:sp>
      <p:sp>
        <p:nvSpPr>
          <p:cNvPr id="6" name="Text 3"/>
          <p:cNvSpPr/>
          <p:nvPr/>
        </p:nvSpPr>
        <p:spPr>
          <a:xfrm>
            <a:off x="566928" y="402336"/>
            <a:ext cx="11055096" cy="256032"/>
          </a:xfrm>
          <a:prstGeom prst="rect">
            <a:avLst/>
          </a:prstGeom>
          <a:noFill/>
          <a:ln/>
        </p:spPr>
        <p:txBody>
          <a:bodyPr wrap="square" lIns="0" tIns="0" rIns="0" bIns="0" rtlCol="0" anchor="ctr"/>
          <a:lstStyle/>
          <a:p>
            <a:pPr marL="0" indent="0">
              <a:buNone/>
            </a:pPr>
            <a:r>
              <a:rPr lang="en-US" sz="1100" b="1" kern="0" spc="220" dirty="0">
                <a:solidFill>
                  <a:srgbClr val="F2C230"/>
                </a:solidFill>
                <a:latin typeface="Calibri" pitchFamily="34" charset="0"/>
                <a:ea typeface="Calibri" pitchFamily="34" charset="-122"/>
                <a:cs typeface="Calibri" pitchFamily="34" charset="-120"/>
              </a:rPr>
              <a:t>DEMO · STEP 6</a:t>
            </a:r>
            <a:endParaRPr lang="en-US" sz="1100" dirty="0"/>
          </a:p>
        </p:txBody>
      </p:sp>
      <p:sp>
        <p:nvSpPr>
          <p:cNvPr id="7" name="Text 4"/>
          <p:cNvSpPr/>
          <p:nvPr/>
        </p:nvSpPr>
        <p:spPr>
          <a:xfrm>
            <a:off x="566928" y="676656"/>
            <a:ext cx="11055096" cy="621792"/>
          </a:xfrm>
          <a:prstGeom prst="rect">
            <a:avLst/>
          </a:prstGeom>
          <a:noFill/>
          <a:ln/>
        </p:spPr>
        <p:txBody>
          <a:bodyPr wrap="square" lIns="0" tIns="0" rIns="0" bIns="0" rtlCol="0" anchor="ctr"/>
          <a:lstStyle/>
          <a:p>
            <a:pPr marL="0" indent="0">
              <a:buNone/>
            </a:pPr>
            <a:r>
              <a:rPr lang="en-US" sz="3400" b="1" dirty="0">
                <a:solidFill>
                  <a:srgbClr val="14182E"/>
                </a:solidFill>
                <a:latin typeface="Cambria" pitchFamily="34" charset="0"/>
                <a:ea typeface="Cambria" pitchFamily="34" charset="-122"/>
                <a:cs typeface="Cambria" pitchFamily="34" charset="-120"/>
              </a:rPr>
              <a:t>The gotcha: none of it is saved yet</a:t>
            </a:r>
            <a:endParaRPr lang="en-US" sz="3400" dirty="0"/>
          </a:p>
        </p:txBody>
      </p:sp>
      <p:sp>
        <p:nvSpPr>
          <p:cNvPr id="8" name="Shape 5"/>
          <p:cNvSpPr/>
          <p:nvPr/>
        </p:nvSpPr>
        <p:spPr>
          <a:xfrm>
            <a:off x="566928" y="1600200"/>
            <a:ext cx="11055096" cy="1051560"/>
          </a:xfrm>
          <a:prstGeom prst="roundRect">
            <a:avLst>
              <a:gd name="adj" fmla="val 7826"/>
            </a:avLst>
          </a:prstGeom>
          <a:solidFill>
            <a:srgbClr val="FBF0EF"/>
          </a:solidFill>
          <a:ln w="12700">
            <a:solidFill>
              <a:srgbClr val="EBC9C6"/>
            </a:solidFill>
            <a:prstDash val="solid"/>
          </a:ln>
          <a:effectLst>
            <a:outerShdw blurRad="127000" dist="25400" dir="5400000" algn="bl" rotWithShape="0">
              <a:srgbClr val="9AA0B5">
                <a:alpha val="28000"/>
              </a:srgbClr>
            </a:outerShdw>
          </a:effectLst>
        </p:spPr>
        <p:txBody>
          <a:bodyPr/>
          <a:lstStyle/>
          <a:p>
            <a:endParaRPr lang="en-US"/>
          </a:p>
        </p:txBody>
      </p:sp>
      <p:sp>
        <p:nvSpPr>
          <p:cNvPr id="9" name="Text 6"/>
          <p:cNvSpPr/>
          <p:nvPr/>
        </p:nvSpPr>
        <p:spPr>
          <a:xfrm>
            <a:off x="877824" y="1600200"/>
            <a:ext cx="10433304" cy="1051560"/>
          </a:xfrm>
          <a:prstGeom prst="rect">
            <a:avLst/>
          </a:prstGeom>
          <a:noFill/>
          <a:ln/>
        </p:spPr>
        <p:txBody>
          <a:bodyPr wrap="square" lIns="0" tIns="0" rIns="0" bIns="0" rtlCol="0" anchor="ctr"/>
          <a:lstStyle/>
          <a:p>
            <a:pPr marL="0" indent="0">
              <a:buNone/>
            </a:pPr>
            <a:r>
              <a:rPr lang="en-US" sz="1600" b="1" dirty="0">
                <a:solidFill>
                  <a:srgbClr val="7A3B36"/>
                </a:solidFill>
                <a:latin typeface="Calibri" pitchFamily="34" charset="0"/>
                <a:ea typeface="Calibri" pitchFamily="34" charset="-122"/>
                <a:cs typeface="Calibri" pitchFamily="34" charset="-120"/>
              </a:rPr>
              <a:t>MCP edits live in Power BI Desktop's memory only. Close Desktop without saving and every change is gone — the file on disk still has the old model.</a:t>
            </a:r>
            <a:endParaRPr lang="en-US" sz="1600" dirty="0"/>
          </a:p>
        </p:txBody>
      </p:sp>
      <p:sp>
        <p:nvSpPr>
          <p:cNvPr id="10" name="Shape 7"/>
          <p:cNvSpPr/>
          <p:nvPr/>
        </p:nvSpPr>
        <p:spPr>
          <a:xfrm>
            <a:off x="566928" y="2834640"/>
            <a:ext cx="5344668" cy="2148840"/>
          </a:xfrm>
          <a:prstGeom prst="roundRect">
            <a:avLst>
              <a:gd name="adj" fmla="val 3830"/>
            </a:avLst>
          </a:prstGeom>
          <a:solidFill>
            <a:srgbClr val="EDF7F6"/>
          </a:solidFill>
          <a:ln w="12700">
            <a:solidFill>
              <a:srgbClr val="C7E4E1"/>
            </a:solidFill>
            <a:prstDash val="solid"/>
          </a:ln>
          <a:effectLst>
            <a:outerShdw blurRad="127000" dist="25400" dir="5400000" algn="bl" rotWithShape="0">
              <a:srgbClr val="9AA0B5">
                <a:alpha val="28000"/>
              </a:srgbClr>
            </a:outerShdw>
          </a:effectLst>
        </p:spPr>
        <p:txBody>
          <a:bodyPr/>
          <a:lstStyle/>
          <a:p>
            <a:endParaRPr lang="en-US"/>
          </a:p>
        </p:txBody>
      </p:sp>
      <p:sp>
        <p:nvSpPr>
          <p:cNvPr id="11" name="Text 8"/>
          <p:cNvSpPr/>
          <p:nvPr/>
        </p:nvSpPr>
        <p:spPr>
          <a:xfrm>
            <a:off x="859536" y="2999232"/>
            <a:ext cx="4759452" cy="237744"/>
          </a:xfrm>
          <a:prstGeom prst="rect">
            <a:avLst/>
          </a:prstGeom>
          <a:noFill/>
          <a:ln/>
        </p:spPr>
        <p:txBody>
          <a:bodyPr wrap="square" lIns="0" tIns="0" rIns="0" bIns="0" rtlCol="0" anchor="ctr"/>
          <a:lstStyle/>
          <a:p>
            <a:pPr marL="0" indent="0">
              <a:buNone/>
            </a:pPr>
            <a:r>
              <a:rPr lang="en-US" sz="1050" b="1" kern="0" spc="180" dirty="0">
                <a:solidFill>
                  <a:srgbClr val="17635E"/>
                </a:solidFill>
                <a:latin typeface="Calibri" pitchFamily="34" charset="0"/>
                <a:ea typeface="Calibri" pitchFamily="34" charset="-122"/>
                <a:cs typeface="Calibri" pitchFamily="34" charset="-120"/>
              </a:rPr>
              <a:t>OPTION A</a:t>
            </a:r>
            <a:endParaRPr lang="en-US" sz="1050" dirty="0"/>
          </a:p>
        </p:txBody>
      </p:sp>
      <p:sp>
        <p:nvSpPr>
          <p:cNvPr id="12" name="Text 9"/>
          <p:cNvSpPr/>
          <p:nvPr/>
        </p:nvSpPr>
        <p:spPr>
          <a:xfrm>
            <a:off x="859536" y="3255264"/>
            <a:ext cx="4759452" cy="365760"/>
          </a:xfrm>
          <a:prstGeom prst="rect">
            <a:avLst/>
          </a:prstGeom>
          <a:noFill/>
          <a:ln/>
        </p:spPr>
        <p:txBody>
          <a:bodyPr wrap="square" lIns="0" tIns="0" rIns="0" bIns="0" rtlCol="0" anchor="ctr"/>
          <a:lstStyle/>
          <a:p>
            <a:pPr marL="0" indent="0">
              <a:buNone/>
            </a:pPr>
            <a:r>
              <a:rPr lang="en-US" sz="2000" b="1" dirty="0">
                <a:solidFill>
                  <a:srgbClr val="14182E"/>
                </a:solidFill>
                <a:latin typeface="Cambria" pitchFamily="34" charset="0"/>
                <a:ea typeface="Cambria" pitchFamily="34" charset="-122"/>
                <a:cs typeface="Cambria" pitchFamily="34" charset="-120"/>
              </a:rPr>
              <a:t>Ctrl+S in Desktop</a:t>
            </a:r>
            <a:endParaRPr lang="en-US" sz="2000" dirty="0"/>
          </a:p>
        </p:txBody>
      </p:sp>
      <p:sp>
        <p:nvSpPr>
          <p:cNvPr id="13" name="Text 10"/>
          <p:cNvSpPr/>
          <p:nvPr/>
        </p:nvSpPr>
        <p:spPr>
          <a:xfrm>
            <a:off x="859536" y="3712464"/>
            <a:ext cx="4759452" cy="1143000"/>
          </a:xfrm>
          <a:prstGeom prst="rect">
            <a:avLst/>
          </a:prstGeom>
          <a:noFill/>
          <a:ln/>
        </p:spPr>
        <p:txBody>
          <a:bodyPr wrap="square" lIns="0" tIns="0" rIns="0" bIns="0" rtlCol="0" anchor="t"/>
          <a:lstStyle/>
          <a:p>
            <a:pPr marL="342900" indent="-342900">
              <a:lnSpc>
                <a:spcPct val="115000"/>
              </a:lnSpc>
              <a:spcAft>
                <a:spcPts val="600"/>
              </a:spcAft>
              <a:buSzPct val="100000"/>
              <a:buChar char="•"/>
            </a:pPr>
            <a:r>
              <a:rPr lang="en-US" sz="1250" dirty="0">
                <a:solidFill>
                  <a:srgbClr val="2A2F45"/>
                </a:solidFill>
                <a:latin typeface="Calibri" pitchFamily="34" charset="0"/>
                <a:ea typeface="Calibri" pitchFamily="34" charset="-122"/>
                <a:cs typeface="Calibri" pitchFamily="34" charset="-120"/>
              </a:rPr>
              <a:t>Simplest. Do it in front of the room</a:t>
            </a:r>
            <a:endParaRPr lang="en-US" sz="1250" dirty="0"/>
          </a:p>
          <a:p>
            <a:pPr marL="342900" indent="-342900">
              <a:lnSpc>
                <a:spcPct val="115000"/>
              </a:lnSpc>
              <a:spcAft>
                <a:spcPts val="600"/>
              </a:spcAft>
              <a:buSzPct val="100000"/>
              <a:buChar char="•"/>
            </a:pPr>
            <a:r>
              <a:rPr lang="en-US" sz="1250" dirty="0">
                <a:solidFill>
                  <a:srgbClr val="2A2F45"/>
                </a:solidFill>
                <a:latin typeface="Calibri" pitchFamily="34" charset="0"/>
                <a:ea typeface="Calibri" pitchFamily="34" charset="-122"/>
                <a:cs typeface="Calibri" pitchFamily="34" charset="-120"/>
              </a:rPr>
              <a:t>Then reopen the .pbip to prove it loaded from disk</a:t>
            </a:r>
            <a:endParaRPr lang="en-US" sz="1250" dirty="0"/>
          </a:p>
        </p:txBody>
      </p:sp>
      <p:sp>
        <p:nvSpPr>
          <p:cNvPr id="14" name="Shape 11"/>
          <p:cNvSpPr/>
          <p:nvPr/>
        </p:nvSpPr>
        <p:spPr>
          <a:xfrm>
            <a:off x="6277356" y="2834640"/>
            <a:ext cx="5344668" cy="2148840"/>
          </a:xfrm>
          <a:prstGeom prst="roundRect">
            <a:avLst>
              <a:gd name="adj" fmla="val 3830"/>
            </a:avLst>
          </a:prstGeom>
          <a:solidFill>
            <a:srgbClr val="FAFAFD"/>
          </a:solidFill>
          <a:ln w="12700">
            <a:solidFill>
              <a:srgbClr val="DFE2EC"/>
            </a:solidFill>
            <a:prstDash val="solid"/>
          </a:ln>
          <a:effectLst>
            <a:outerShdw blurRad="127000" dist="25400" dir="5400000" algn="bl" rotWithShape="0">
              <a:srgbClr val="9AA0B5">
                <a:alpha val="28000"/>
              </a:srgbClr>
            </a:outerShdw>
          </a:effectLst>
        </p:spPr>
        <p:txBody>
          <a:bodyPr/>
          <a:lstStyle/>
          <a:p>
            <a:endParaRPr lang="en-US"/>
          </a:p>
        </p:txBody>
      </p:sp>
      <p:sp>
        <p:nvSpPr>
          <p:cNvPr id="15" name="Text 12"/>
          <p:cNvSpPr/>
          <p:nvPr/>
        </p:nvSpPr>
        <p:spPr>
          <a:xfrm>
            <a:off x="6569964" y="2999232"/>
            <a:ext cx="4759452" cy="237744"/>
          </a:xfrm>
          <a:prstGeom prst="rect">
            <a:avLst/>
          </a:prstGeom>
          <a:noFill/>
          <a:ln/>
        </p:spPr>
        <p:txBody>
          <a:bodyPr wrap="square" lIns="0" tIns="0" rIns="0" bIns="0" rtlCol="0" anchor="ctr"/>
          <a:lstStyle/>
          <a:p>
            <a:pPr marL="0" indent="0">
              <a:buNone/>
            </a:pPr>
            <a:r>
              <a:rPr lang="en-US" sz="1050" b="1" kern="0" spc="180" dirty="0">
                <a:solidFill>
                  <a:srgbClr val="6B7280"/>
                </a:solidFill>
                <a:latin typeface="Calibri" pitchFamily="34" charset="0"/>
                <a:ea typeface="Calibri" pitchFamily="34" charset="-122"/>
                <a:cs typeface="Calibri" pitchFamily="34" charset="-120"/>
              </a:rPr>
              <a:t>OPTION B</a:t>
            </a:r>
            <a:endParaRPr lang="en-US" sz="1050" dirty="0"/>
          </a:p>
        </p:txBody>
      </p:sp>
      <p:sp>
        <p:nvSpPr>
          <p:cNvPr id="16" name="Text 13"/>
          <p:cNvSpPr/>
          <p:nvPr/>
        </p:nvSpPr>
        <p:spPr>
          <a:xfrm>
            <a:off x="6569964" y="3255264"/>
            <a:ext cx="4759452" cy="365760"/>
          </a:xfrm>
          <a:prstGeom prst="rect">
            <a:avLst/>
          </a:prstGeom>
          <a:noFill/>
          <a:ln/>
        </p:spPr>
        <p:txBody>
          <a:bodyPr wrap="square" lIns="0" tIns="0" rIns="0" bIns="0" rtlCol="0" anchor="ctr"/>
          <a:lstStyle/>
          <a:p>
            <a:pPr marL="0" indent="0">
              <a:buNone/>
            </a:pPr>
            <a:r>
              <a:rPr lang="en-US" sz="2000" b="1" dirty="0">
                <a:solidFill>
                  <a:srgbClr val="14182E"/>
                </a:solidFill>
                <a:latin typeface="Cambria" pitchFamily="34" charset="0"/>
                <a:ea typeface="Cambria" pitchFamily="34" charset="-122"/>
                <a:cs typeface="Cambria" pitchFamily="34" charset="-120"/>
              </a:rPr>
              <a:t>Export TMDL to disk</a:t>
            </a:r>
            <a:endParaRPr lang="en-US" sz="2000" dirty="0"/>
          </a:p>
        </p:txBody>
      </p:sp>
      <p:sp>
        <p:nvSpPr>
          <p:cNvPr id="17" name="Text 14"/>
          <p:cNvSpPr/>
          <p:nvPr/>
        </p:nvSpPr>
        <p:spPr>
          <a:xfrm>
            <a:off x="6569964" y="3712464"/>
            <a:ext cx="4759452" cy="1143000"/>
          </a:xfrm>
          <a:prstGeom prst="rect">
            <a:avLst/>
          </a:prstGeom>
          <a:noFill/>
          <a:ln/>
        </p:spPr>
        <p:txBody>
          <a:bodyPr wrap="square" lIns="0" tIns="0" rIns="0" bIns="0" rtlCol="0" anchor="t"/>
          <a:lstStyle/>
          <a:p>
            <a:pPr marL="342900" indent="-342900">
              <a:lnSpc>
                <a:spcPct val="115000"/>
              </a:lnSpc>
              <a:spcAft>
                <a:spcPts val="600"/>
              </a:spcAft>
              <a:buSzPct val="100000"/>
              <a:buChar char="•"/>
            </a:pPr>
            <a:r>
              <a:rPr lang="en-US" sz="1250" dirty="0">
                <a:solidFill>
                  <a:srgbClr val="2A2F45"/>
                </a:solidFill>
                <a:latin typeface="Calibri" pitchFamily="34" charset="0"/>
                <a:ea typeface="Calibri" pitchFamily="34" charset="-122"/>
                <a:cs typeface="Calibri" pitchFamily="34" charset="-120"/>
              </a:rPr>
              <a:t>database_operations → ExportToTmdlFolder</a:t>
            </a:r>
            <a:endParaRPr lang="en-US" sz="1250" dirty="0"/>
          </a:p>
          <a:p>
            <a:pPr marL="342900" indent="-342900">
              <a:lnSpc>
                <a:spcPct val="115000"/>
              </a:lnSpc>
              <a:spcAft>
                <a:spcPts val="600"/>
              </a:spcAft>
              <a:buSzPct val="100000"/>
              <a:buChar char="•"/>
            </a:pPr>
            <a:r>
              <a:rPr lang="en-US" sz="1250" dirty="0">
                <a:solidFill>
                  <a:srgbClr val="2A2F45"/>
                </a:solidFill>
                <a:latin typeface="Calibri" pitchFamily="34" charset="0"/>
                <a:ea typeface="Calibri" pitchFamily="34" charset="-122"/>
                <a:cs typeface="Calibri" pitchFamily="34" charset="-120"/>
              </a:rPr>
              <a:t>The exporter writes a flat layout; a PBIP expects the files under definition/ — move them</a:t>
            </a:r>
            <a:endParaRPr lang="en-US" sz="1250" dirty="0"/>
          </a:p>
          <a:p>
            <a:pPr marL="342900" indent="-342900">
              <a:lnSpc>
                <a:spcPct val="115000"/>
              </a:lnSpc>
              <a:spcAft>
                <a:spcPts val="600"/>
              </a:spcAft>
              <a:buSzPct val="100000"/>
              <a:buChar char="•"/>
            </a:pPr>
            <a:r>
              <a:rPr lang="en-US" sz="1250" dirty="0">
                <a:solidFill>
                  <a:srgbClr val="2A2F45"/>
                </a:solidFill>
                <a:latin typeface="Calibri" pitchFamily="34" charset="0"/>
                <a:ea typeface="Calibri" pitchFamily="34" charset="-122"/>
                <a:cs typeface="Calibri" pitchFamily="34" charset="-120"/>
              </a:rPr>
              <a:t>Work survives even if nobody presses save</a:t>
            </a:r>
            <a:endParaRPr lang="en-US" sz="1250" dirty="0"/>
          </a:p>
        </p:txBody>
      </p:sp>
      <p:sp>
        <p:nvSpPr>
          <p:cNvPr id="18" name="Shape 15"/>
          <p:cNvSpPr/>
          <p:nvPr/>
        </p:nvSpPr>
        <p:spPr>
          <a:xfrm>
            <a:off x="566928" y="5193792"/>
            <a:ext cx="11055096" cy="749808"/>
          </a:xfrm>
          <a:prstGeom prst="roundRect">
            <a:avLst>
              <a:gd name="adj" fmla="val 10976"/>
            </a:avLst>
          </a:prstGeom>
          <a:solidFill>
            <a:srgbClr val="FDF6E3"/>
          </a:solidFill>
          <a:ln w="12700">
            <a:solidFill>
              <a:srgbClr val="EBD9A8"/>
            </a:solidFill>
            <a:prstDash val="solid"/>
          </a:ln>
        </p:spPr>
        <p:txBody>
          <a:bodyPr/>
          <a:lstStyle/>
          <a:p>
            <a:endParaRPr lang="en-US"/>
          </a:p>
        </p:txBody>
      </p:sp>
      <p:sp>
        <p:nvSpPr>
          <p:cNvPr id="19" name="Text 16"/>
          <p:cNvSpPr/>
          <p:nvPr/>
        </p:nvSpPr>
        <p:spPr>
          <a:xfrm>
            <a:off x="859536" y="5193792"/>
            <a:ext cx="10469880" cy="749808"/>
          </a:xfrm>
          <a:prstGeom prst="rect">
            <a:avLst/>
          </a:prstGeom>
          <a:noFill/>
          <a:ln/>
        </p:spPr>
        <p:txBody>
          <a:bodyPr wrap="square" lIns="0" tIns="0" rIns="0" bIns="0" rtlCol="0" anchor="ctr"/>
          <a:lstStyle/>
          <a:p>
            <a:pPr marL="0" indent="0">
              <a:buNone/>
            </a:pPr>
            <a:r>
              <a:rPr lang="en-US" sz="1350" b="1" i="1" dirty="0">
                <a:solidFill>
                  <a:srgbClr val="6B551A"/>
                </a:solidFill>
                <a:latin typeface="Calibri" pitchFamily="34" charset="0"/>
                <a:ea typeface="Calibri" pitchFamily="34" charset="-122"/>
                <a:cs typeface="Calibri" pitchFamily="34" charset="-120"/>
              </a:rPr>
              <a:t>Never tell anyone the model is updated unless you watched it save. That includes yourself, three weeks from now.</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9134856" y="6381598"/>
            <a:ext cx="310896" cy="20117"/>
          </a:xfrm>
          <a:prstGeom prst="rect">
            <a:avLst/>
          </a:prstGeom>
          <a:solidFill>
            <a:srgbClr val="1F9E96"/>
          </a:solidFill>
          <a:ln w="12700">
            <a:solidFill>
              <a:srgbClr val="1F9E96"/>
            </a:solidFill>
            <a:prstDash val="solid"/>
          </a:ln>
        </p:spPr>
        <p:txBody>
          <a:bodyPr/>
          <a:lstStyle/>
          <a:p>
            <a:endParaRPr lang="en-US"/>
          </a:p>
        </p:txBody>
      </p:sp>
      <p:sp>
        <p:nvSpPr>
          <p:cNvPr id="4" name="Text 1"/>
          <p:cNvSpPr/>
          <p:nvPr/>
        </p:nvSpPr>
        <p:spPr>
          <a:xfrm>
            <a:off x="9518904" y="6272784"/>
            <a:ext cx="2103120" cy="237744"/>
          </a:xfrm>
          <a:prstGeom prst="rect">
            <a:avLst/>
          </a:prstGeom>
          <a:noFill/>
          <a:ln/>
        </p:spPr>
        <p:txBody>
          <a:bodyPr wrap="square" lIns="0" tIns="0" rIns="0" bIns="0" rtlCol="0" anchor="ctr"/>
          <a:lstStyle/>
          <a:p>
            <a:pPr marL="0" indent="0" algn="r">
              <a:buNone/>
            </a:pPr>
            <a:r>
              <a:rPr lang="en-US" sz="900" b="1" kern="0" spc="120" dirty="0">
                <a:solidFill>
                  <a:srgbClr val="6B7280"/>
                </a:solidFill>
                <a:latin typeface="Calibri" pitchFamily="34" charset="0"/>
                <a:ea typeface="Calibri" pitchFamily="34" charset="-122"/>
                <a:cs typeface="Calibri" pitchFamily="34" charset="-120"/>
              </a:rPr>
              <a:t>18 / 22  ·  PLATFORM</a:t>
            </a:r>
            <a:endParaRPr lang="en-US" sz="900" dirty="0"/>
          </a:p>
        </p:txBody>
      </p:sp>
      <p:sp>
        <p:nvSpPr>
          <p:cNvPr id="5" name="Shape 2"/>
          <p:cNvSpPr/>
          <p:nvPr/>
        </p:nvSpPr>
        <p:spPr>
          <a:xfrm>
            <a:off x="566928" y="274320"/>
            <a:ext cx="566928" cy="41148"/>
          </a:xfrm>
          <a:prstGeom prst="rect">
            <a:avLst/>
          </a:prstGeom>
          <a:solidFill>
            <a:srgbClr val="1F9E96"/>
          </a:solidFill>
          <a:ln w="12700">
            <a:solidFill>
              <a:srgbClr val="1F9E96"/>
            </a:solidFill>
            <a:prstDash val="solid"/>
          </a:ln>
        </p:spPr>
        <p:txBody>
          <a:bodyPr/>
          <a:lstStyle/>
          <a:p>
            <a:endParaRPr lang="en-US"/>
          </a:p>
        </p:txBody>
      </p:sp>
      <p:sp>
        <p:nvSpPr>
          <p:cNvPr id="6" name="Text 3"/>
          <p:cNvSpPr/>
          <p:nvPr/>
        </p:nvSpPr>
        <p:spPr>
          <a:xfrm>
            <a:off x="566928" y="402336"/>
            <a:ext cx="11055096" cy="256032"/>
          </a:xfrm>
          <a:prstGeom prst="rect">
            <a:avLst/>
          </a:prstGeom>
          <a:noFill/>
          <a:ln/>
        </p:spPr>
        <p:txBody>
          <a:bodyPr wrap="square" lIns="0" tIns="0" rIns="0" bIns="0" rtlCol="0" anchor="ctr"/>
          <a:lstStyle/>
          <a:p>
            <a:pPr marL="0" indent="0">
              <a:buNone/>
            </a:pPr>
            <a:r>
              <a:rPr lang="en-US" sz="1100" b="1" kern="0" spc="220" dirty="0">
                <a:solidFill>
                  <a:srgbClr val="1F9E96"/>
                </a:solidFill>
                <a:latin typeface="Calibri" pitchFamily="34" charset="0"/>
                <a:ea typeface="Calibri" pitchFamily="34" charset="-122"/>
                <a:cs typeface="Calibri" pitchFamily="34" charset="-120"/>
              </a:rPr>
              <a:t>FABRIC MCP</a:t>
            </a:r>
            <a:endParaRPr lang="en-US" sz="1100" dirty="0"/>
          </a:p>
        </p:txBody>
      </p:sp>
      <p:sp>
        <p:nvSpPr>
          <p:cNvPr id="7" name="Text 4"/>
          <p:cNvSpPr/>
          <p:nvPr/>
        </p:nvSpPr>
        <p:spPr>
          <a:xfrm>
            <a:off x="566928" y="676656"/>
            <a:ext cx="11055096" cy="621792"/>
          </a:xfrm>
          <a:prstGeom prst="rect">
            <a:avLst/>
          </a:prstGeom>
          <a:noFill/>
          <a:ln/>
        </p:spPr>
        <p:txBody>
          <a:bodyPr wrap="square" lIns="0" tIns="0" rIns="0" bIns="0" rtlCol="0" anchor="ctr"/>
          <a:lstStyle/>
          <a:p>
            <a:pPr marL="0" indent="0">
              <a:buNone/>
            </a:pPr>
            <a:r>
              <a:rPr lang="en-US" sz="3400" b="1" dirty="0">
                <a:solidFill>
                  <a:srgbClr val="14182E"/>
                </a:solidFill>
                <a:latin typeface="Cambria" pitchFamily="34" charset="0"/>
                <a:ea typeface="Cambria" pitchFamily="34" charset="-122"/>
                <a:cs typeface="Cambria" pitchFamily="34" charset="-120"/>
              </a:rPr>
              <a:t>What you'd actually use it for</a:t>
            </a:r>
            <a:endParaRPr lang="en-US" sz="3400" dirty="0"/>
          </a:p>
        </p:txBody>
      </p:sp>
      <p:sp>
        <p:nvSpPr>
          <p:cNvPr id="8" name="Shape 5"/>
          <p:cNvSpPr/>
          <p:nvPr/>
        </p:nvSpPr>
        <p:spPr>
          <a:xfrm>
            <a:off x="566928" y="1463040"/>
            <a:ext cx="5344668" cy="1170432"/>
          </a:xfrm>
          <a:prstGeom prst="roundRect">
            <a:avLst>
              <a:gd name="adj" fmla="val 7031"/>
            </a:avLst>
          </a:prstGeom>
          <a:solidFill>
            <a:srgbClr val="EDF7F6"/>
          </a:solidFill>
          <a:ln w="12700">
            <a:solidFill>
              <a:srgbClr val="C7E4E1"/>
            </a:solidFill>
            <a:prstDash val="solid"/>
          </a:ln>
          <a:effectLst>
            <a:outerShdw blurRad="127000" dist="25400" dir="5400000" algn="bl" rotWithShape="0">
              <a:srgbClr val="9AA0B5">
                <a:alpha val="28000"/>
              </a:srgbClr>
            </a:outerShdw>
          </a:effectLst>
        </p:spPr>
        <p:txBody>
          <a:bodyPr/>
          <a:lstStyle/>
          <a:p>
            <a:endParaRPr lang="en-US"/>
          </a:p>
        </p:txBody>
      </p:sp>
      <p:sp>
        <p:nvSpPr>
          <p:cNvPr id="9" name="Text 6"/>
          <p:cNvSpPr/>
          <p:nvPr/>
        </p:nvSpPr>
        <p:spPr>
          <a:xfrm>
            <a:off x="841248" y="1572768"/>
            <a:ext cx="2011680" cy="347472"/>
          </a:xfrm>
          <a:prstGeom prst="rect">
            <a:avLst/>
          </a:prstGeom>
          <a:noFill/>
          <a:ln/>
        </p:spPr>
        <p:txBody>
          <a:bodyPr wrap="square" lIns="0" tIns="0" rIns="0" bIns="0" rtlCol="0" anchor="ctr"/>
          <a:lstStyle/>
          <a:p>
            <a:pPr marL="0" indent="0">
              <a:buNone/>
            </a:pPr>
            <a:r>
              <a:rPr lang="en-US" sz="1900" b="1" dirty="0">
                <a:solidFill>
                  <a:srgbClr val="17635E"/>
                </a:solidFill>
                <a:latin typeface="Cambria" pitchFamily="34" charset="0"/>
                <a:ea typeface="Cambria" pitchFamily="34" charset="-122"/>
                <a:cs typeface="Cambria" pitchFamily="34" charset="-120"/>
              </a:rPr>
              <a:t>Discover</a:t>
            </a:r>
            <a:endParaRPr lang="en-US" sz="1900" dirty="0"/>
          </a:p>
        </p:txBody>
      </p:sp>
      <p:sp>
        <p:nvSpPr>
          <p:cNvPr id="10" name="Text 7"/>
          <p:cNvSpPr/>
          <p:nvPr/>
        </p:nvSpPr>
        <p:spPr>
          <a:xfrm>
            <a:off x="2852928" y="1627632"/>
            <a:ext cx="2784348" cy="310896"/>
          </a:xfrm>
          <a:prstGeom prst="rect">
            <a:avLst/>
          </a:prstGeom>
          <a:noFill/>
          <a:ln/>
        </p:spPr>
        <p:txBody>
          <a:bodyPr wrap="square" lIns="0" tIns="0" rIns="0" bIns="0" rtlCol="0" anchor="ctr"/>
          <a:lstStyle/>
          <a:p>
            <a:pPr marL="0" indent="0" algn="r">
              <a:buNone/>
            </a:pPr>
            <a:r>
              <a:rPr lang="en-US" sz="1050" dirty="0">
                <a:solidFill>
                  <a:srgbClr val="1D4F4B"/>
                </a:solidFill>
                <a:latin typeface="Calibri" pitchFamily="34" charset="0"/>
                <a:ea typeface="Calibri" pitchFamily="34" charset="-122"/>
                <a:cs typeface="Calibri" pitchFamily="34" charset="-120"/>
              </a:rPr>
              <a:t>What exists, across every workspace</a:t>
            </a:r>
            <a:endParaRPr lang="en-US" sz="1050" dirty="0"/>
          </a:p>
        </p:txBody>
      </p:sp>
      <p:sp>
        <p:nvSpPr>
          <p:cNvPr id="11" name="Text 8"/>
          <p:cNvSpPr/>
          <p:nvPr/>
        </p:nvSpPr>
        <p:spPr>
          <a:xfrm>
            <a:off x="841248" y="1975104"/>
            <a:ext cx="4796028" cy="530352"/>
          </a:xfrm>
          <a:prstGeom prst="rect">
            <a:avLst/>
          </a:prstGeom>
          <a:noFill/>
          <a:ln/>
        </p:spPr>
        <p:txBody>
          <a:bodyPr wrap="square" lIns="0" tIns="0" rIns="0" bIns="0" rtlCol="0" anchor="ctr"/>
          <a:lstStyle/>
          <a:p>
            <a:pPr marL="0" indent="0">
              <a:lnSpc>
                <a:spcPct val="110000"/>
              </a:lnSpc>
              <a:buNone/>
            </a:pPr>
            <a:r>
              <a:rPr lang="en-US" sz="1250" i="1" dirty="0">
                <a:solidFill>
                  <a:srgbClr val="1D4F4B"/>
                </a:solidFill>
                <a:latin typeface="Calibri" pitchFamily="34" charset="0"/>
                <a:ea typeface="Calibri" pitchFamily="34" charset="-122"/>
                <a:cs typeface="Calibri" pitchFamily="34" charset="-120"/>
              </a:rPr>
              <a:t>“Find every lakehouse with 'Customer' in the name”</a:t>
            </a:r>
            <a:endParaRPr lang="en-US" sz="1250" dirty="0"/>
          </a:p>
        </p:txBody>
      </p:sp>
      <p:sp>
        <p:nvSpPr>
          <p:cNvPr id="12" name="Shape 9"/>
          <p:cNvSpPr/>
          <p:nvPr/>
        </p:nvSpPr>
        <p:spPr>
          <a:xfrm>
            <a:off x="6277356" y="1463040"/>
            <a:ext cx="5344668" cy="1170432"/>
          </a:xfrm>
          <a:prstGeom prst="roundRect">
            <a:avLst>
              <a:gd name="adj" fmla="val 7031"/>
            </a:avLst>
          </a:prstGeom>
          <a:solidFill>
            <a:srgbClr val="FDF6E3"/>
          </a:solidFill>
          <a:ln w="12700">
            <a:solidFill>
              <a:srgbClr val="EBD9A8"/>
            </a:solidFill>
            <a:prstDash val="solid"/>
          </a:ln>
          <a:effectLst>
            <a:outerShdw blurRad="127000" dist="25400" dir="5400000" algn="bl" rotWithShape="0">
              <a:srgbClr val="9AA0B5">
                <a:alpha val="28000"/>
              </a:srgbClr>
            </a:outerShdw>
          </a:effectLst>
        </p:spPr>
        <p:txBody>
          <a:bodyPr/>
          <a:lstStyle/>
          <a:p>
            <a:endParaRPr lang="en-US"/>
          </a:p>
        </p:txBody>
      </p:sp>
      <p:sp>
        <p:nvSpPr>
          <p:cNvPr id="13" name="Text 10"/>
          <p:cNvSpPr/>
          <p:nvPr/>
        </p:nvSpPr>
        <p:spPr>
          <a:xfrm>
            <a:off x="6551676" y="1572768"/>
            <a:ext cx="2011680" cy="347472"/>
          </a:xfrm>
          <a:prstGeom prst="rect">
            <a:avLst/>
          </a:prstGeom>
          <a:noFill/>
          <a:ln/>
        </p:spPr>
        <p:txBody>
          <a:bodyPr wrap="square" lIns="0" tIns="0" rIns="0" bIns="0" rtlCol="0" anchor="ctr"/>
          <a:lstStyle/>
          <a:p>
            <a:pPr marL="0" indent="0">
              <a:buNone/>
            </a:pPr>
            <a:r>
              <a:rPr lang="en-US" sz="1900" b="1" dirty="0">
                <a:solidFill>
                  <a:srgbClr val="8A6E12"/>
                </a:solidFill>
                <a:latin typeface="Cambria" pitchFamily="34" charset="0"/>
                <a:ea typeface="Cambria" pitchFamily="34" charset="-122"/>
                <a:cs typeface="Cambria" pitchFamily="34" charset="-120"/>
              </a:rPr>
              <a:t>Provision</a:t>
            </a:r>
            <a:endParaRPr lang="en-US" sz="1900" dirty="0"/>
          </a:p>
        </p:txBody>
      </p:sp>
      <p:sp>
        <p:nvSpPr>
          <p:cNvPr id="14" name="Text 11"/>
          <p:cNvSpPr/>
          <p:nvPr/>
        </p:nvSpPr>
        <p:spPr>
          <a:xfrm>
            <a:off x="8563356" y="1627632"/>
            <a:ext cx="2784348" cy="310896"/>
          </a:xfrm>
          <a:prstGeom prst="rect">
            <a:avLst/>
          </a:prstGeom>
          <a:noFill/>
          <a:ln/>
        </p:spPr>
        <p:txBody>
          <a:bodyPr wrap="square" lIns="0" tIns="0" rIns="0" bIns="0" rtlCol="0" anchor="ctr"/>
          <a:lstStyle/>
          <a:p>
            <a:pPr marL="0" indent="0" algn="r">
              <a:buNone/>
            </a:pPr>
            <a:r>
              <a:rPr lang="en-US" sz="1050" dirty="0">
                <a:solidFill>
                  <a:srgbClr val="6B551A"/>
                </a:solidFill>
                <a:latin typeface="Calibri" pitchFamily="34" charset="0"/>
                <a:ea typeface="Calibri" pitchFamily="34" charset="-122"/>
                <a:cs typeface="Calibri" pitchFamily="34" charset="-120"/>
              </a:rPr>
              <a:t>Stand up an environment, no portal</a:t>
            </a:r>
            <a:endParaRPr lang="en-US" sz="1050" dirty="0"/>
          </a:p>
        </p:txBody>
      </p:sp>
      <p:sp>
        <p:nvSpPr>
          <p:cNvPr id="15" name="Text 12"/>
          <p:cNvSpPr/>
          <p:nvPr/>
        </p:nvSpPr>
        <p:spPr>
          <a:xfrm>
            <a:off x="6551676" y="1975104"/>
            <a:ext cx="4796028" cy="530352"/>
          </a:xfrm>
          <a:prstGeom prst="rect">
            <a:avLst/>
          </a:prstGeom>
          <a:noFill/>
          <a:ln/>
        </p:spPr>
        <p:txBody>
          <a:bodyPr wrap="square" lIns="0" tIns="0" rIns="0" bIns="0" rtlCol="0" anchor="ctr"/>
          <a:lstStyle/>
          <a:p>
            <a:pPr marL="0" indent="0">
              <a:lnSpc>
                <a:spcPct val="110000"/>
              </a:lnSpc>
              <a:buNone/>
            </a:pPr>
            <a:r>
              <a:rPr lang="en-US" sz="1250" i="1" dirty="0">
                <a:solidFill>
                  <a:srgbClr val="6B551A"/>
                </a:solidFill>
                <a:latin typeface="Calibri" pitchFamily="34" charset="0"/>
                <a:ea typeface="Calibri" pitchFamily="34" charset="-122"/>
                <a:cs typeface="Calibri" pitchFamily="34" charset="-120"/>
              </a:rPr>
              <a:t>“Create a workspace called Sales Dev with a lakehouse in it”</a:t>
            </a:r>
            <a:endParaRPr lang="en-US" sz="1250" dirty="0"/>
          </a:p>
        </p:txBody>
      </p:sp>
      <p:sp>
        <p:nvSpPr>
          <p:cNvPr id="16" name="Shape 13"/>
          <p:cNvSpPr/>
          <p:nvPr/>
        </p:nvSpPr>
        <p:spPr>
          <a:xfrm>
            <a:off x="566928" y="2761488"/>
            <a:ext cx="5344668" cy="1170432"/>
          </a:xfrm>
          <a:prstGeom prst="roundRect">
            <a:avLst>
              <a:gd name="adj" fmla="val 7031"/>
            </a:avLst>
          </a:prstGeom>
          <a:solidFill>
            <a:srgbClr val="EDF7F6"/>
          </a:solidFill>
          <a:ln w="12700">
            <a:solidFill>
              <a:srgbClr val="C7E4E1"/>
            </a:solidFill>
            <a:prstDash val="solid"/>
          </a:ln>
          <a:effectLst>
            <a:outerShdw blurRad="127000" dist="25400" dir="5400000" algn="bl" rotWithShape="0">
              <a:srgbClr val="9AA0B5">
                <a:alpha val="28000"/>
              </a:srgbClr>
            </a:outerShdw>
          </a:effectLst>
        </p:spPr>
        <p:txBody>
          <a:bodyPr/>
          <a:lstStyle/>
          <a:p>
            <a:endParaRPr lang="en-US"/>
          </a:p>
        </p:txBody>
      </p:sp>
      <p:sp>
        <p:nvSpPr>
          <p:cNvPr id="17" name="Text 14"/>
          <p:cNvSpPr/>
          <p:nvPr/>
        </p:nvSpPr>
        <p:spPr>
          <a:xfrm>
            <a:off x="841248" y="2871216"/>
            <a:ext cx="2011680" cy="347472"/>
          </a:xfrm>
          <a:prstGeom prst="rect">
            <a:avLst/>
          </a:prstGeom>
          <a:noFill/>
          <a:ln/>
        </p:spPr>
        <p:txBody>
          <a:bodyPr wrap="square" lIns="0" tIns="0" rIns="0" bIns="0" rtlCol="0" anchor="ctr"/>
          <a:lstStyle/>
          <a:p>
            <a:pPr marL="0" indent="0">
              <a:buNone/>
            </a:pPr>
            <a:r>
              <a:rPr lang="en-US" sz="1900" b="1" dirty="0">
                <a:solidFill>
                  <a:srgbClr val="17635E"/>
                </a:solidFill>
                <a:latin typeface="Cambria" pitchFamily="34" charset="0"/>
                <a:ea typeface="Cambria" pitchFamily="34" charset="-122"/>
                <a:cs typeface="Cambria" pitchFamily="34" charset="-120"/>
              </a:rPr>
              <a:t>Govern</a:t>
            </a:r>
            <a:endParaRPr lang="en-US" sz="1900" dirty="0"/>
          </a:p>
        </p:txBody>
      </p:sp>
      <p:sp>
        <p:nvSpPr>
          <p:cNvPr id="18" name="Text 15"/>
          <p:cNvSpPr/>
          <p:nvPr/>
        </p:nvSpPr>
        <p:spPr>
          <a:xfrm>
            <a:off x="2852928" y="2926080"/>
            <a:ext cx="2784348" cy="310896"/>
          </a:xfrm>
          <a:prstGeom prst="rect">
            <a:avLst/>
          </a:prstGeom>
          <a:noFill/>
          <a:ln/>
        </p:spPr>
        <p:txBody>
          <a:bodyPr wrap="square" lIns="0" tIns="0" rIns="0" bIns="0" rtlCol="0" anchor="ctr"/>
          <a:lstStyle/>
          <a:p>
            <a:pPr marL="0" indent="0" algn="r">
              <a:buNone/>
            </a:pPr>
            <a:r>
              <a:rPr lang="en-US" sz="1050" dirty="0">
                <a:solidFill>
                  <a:srgbClr val="1D4F4B"/>
                </a:solidFill>
                <a:latin typeface="Calibri" pitchFamily="34" charset="0"/>
                <a:ea typeface="Calibri" pitchFamily="34" charset="-122"/>
                <a:cs typeface="Calibri" pitchFamily="34" charset="-120"/>
              </a:rPr>
              <a:t>Who has access to what</a:t>
            </a:r>
            <a:endParaRPr lang="en-US" sz="1050" dirty="0"/>
          </a:p>
        </p:txBody>
      </p:sp>
      <p:sp>
        <p:nvSpPr>
          <p:cNvPr id="19" name="Text 16"/>
          <p:cNvSpPr/>
          <p:nvPr/>
        </p:nvSpPr>
        <p:spPr>
          <a:xfrm>
            <a:off x="841248" y="3273552"/>
            <a:ext cx="4796028" cy="530352"/>
          </a:xfrm>
          <a:prstGeom prst="rect">
            <a:avLst/>
          </a:prstGeom>
          <a:noFill/>
          <a:ln/>
        </p:spPr>
        <p:txBody>
          <a:bodyPr wrap="square" lIns="0" tIns="0" rIns="0" bIns="0" rtlCol="0" anchor="ctr"/>
          <a:lstStyle/>
          <a:p>
            <a:pPr marL="0" indent="0">
              <a:lnSpc>
                <a:spcPct val="110000"/>
              </a:lnSpc>
              <a:buNone/>
            </a:pPr>
            <a:r>
              <a:rPr lang="en-US" sz="1250" i="1" dirty="0">
                <a:solidFill>
                  <a:srgbClr val="1D4F4B"/>
                </a:solidFill>
                <a:latin typeface="Calibri" pitchFamily="34" charset="0"/>
                <a:ea typeface="Calibri" pitchFamily="34" charset="-122"/>
                <a:cs typeface="Calibri" pitchFamily="34" charset="-120"/>
              </a:rPr>
              <a:t>“Who has Admin on Finance? Change John to Contributor”</a:t>
            </a:r>
            <a:endParaRPr lang="en-US" sz="1250" dirty="0"/>
          </a:p>
        </p:txBody>
      </p:sp>
      <p:sp>
        <p:nvSpPr>
          <p:cNvPr id="20" name="Shape 17"/>
          <p:cNvSpPr/>
          <p:nvPr/>
        </p:nvSpPr>
        <p:spPr>
          <a:xfrm>
            <a:off x="6277356" y="2761488"/>
            <a:ext cx="5344668" cy="1170432"/>
          </a:xfrm>
          <a:prstGeom prst="roundRect">
            <a:avLst>
              <a:gd name="adj" fmla="val 7031"/>
            </a:avLst>
          </a:prstGeom>
          <a:solidFill>
            <a:srgbClr val="FDF6E3"/>
          </a:solidFill>
          <a:ln w="12700">
            <a:solidFill>
              <a:srgbClr val="EBD9A8"/>
            </a:solidFill>
            <a:prstDash val="solid"/>
          </a:ln>
          <a:effectLst>
            <a:outerShdw blurRad="127000" dist="25400" dir="5400000" algn="bl" rotWithShape="0">
              <a:srgbClr val="9AA0B5">
                <a:alpha val="28000"/>
              </a:srgbClr>
            </a:outerShdw>
          </a:effectLst>
        </p:spPr>
        <p:txBody>
          <a:bodyPr/>
          <a:lstStyle/>
          <a:p>
            <a:endParaRPr lang="en-US"/>
          </a:p>
        </p:txBody>
      </p:sp>
      <p:sp>
        <p:nvSpPr>
          <p:cNvPr id="21" name="Text 18"/>
          <p:cNvSpPr/>
          <p:nvPr/>
        </p:nvSpPr>
        <p:spPr>
          <a:xfrm>
            <a:off x="6551676" y="2871216"/>
            <a:ext cx="2011680" cy="347472"/>
          </a:xfrm>
          <a:prstGeom prst="rect">
            <a:avLst/>
          </a:prstGeom>
          <a:noFill/>
          <a:ln/>
        </p:spPr>
        <p:txBody>
          <a:bodyPr wrap="square" lIns="0" tIns="0" rIns="0" bIns="0" rtlCol="0" anchor="ctr"/>
          <a:lstStyle/>
          <a:p>
            <a:pPr marL="0" indent="0">
              <a:buNone/>
            </a:pPr>
            <a:r>
              <a:rPr lang="en-US" sz="1900" b="1" dirty="0">
                <a:solidFill>
                  <a:srgbClr val="8A6E12"/>
                </a:solidFill>
                <a:latin typeface="Cambria" pitchFamily="34" charset="0"/>
                <a:ea typeface="Cambria" pitchFamily="34" charset="-122"/>
                <a:cs typeface="Cambria" pitchFamily="34" charset="-120"/>
              </a:rPr>
              <a:t>Automate</a:t>
            </a:r>
            <a:endParaRPr lang="en-US" sz="1900" dirty="0"/>
          </a:p>
        </p:txBody>
      </p:sp>
      <p:sp>
        <p:nvSpPr>
          <p:cNvPr id="22" name="Text 19"/>
          <p:cNvSpPr/>
          <p:nvPr/>
        </p:nvSpPr>
        <p:spPr>
          <a:xfrm>
            <a:off x="8563356" y="2926080"/>
            <a:ext cx="2784348" cy="310896"/>
          </a:xfrm>
          <a:prstGeom prst="rect">
            <a:avLst/>
          </a:prstGeom>
          <a:noFill/>
          <a:ln/>
        </p:spPr>
        <p:txBody>
          <a:bodyPr wrap="square" lIns="0" tIns="0" rIns="0" bIns="0" rtlCol="0" anchor="ctr"/>
          <a:lstStyle/>
          <a:p>
            <a:pPr marL="0" indent="0" algn="r">
              <a:buNone/>
            </a:pPr>
            <a:r>
              <a:rPr lang="en-US" sz="1050" dirty="0">
                <a:solidFill>
                  <a:srgbClr val="6B551A"/>
                </a:solidFill>
                <a:latin typeface="Calibri" pitchFamily="34" charset="0"/>
                <a:ea typeface="Calibri" pitchFamily="34" charset="-122"/>
                <a:cs typeface="Calibri" pitchFamily="34" charset="-120"/>
              </a:rPr>
              <a:t>Several calls, one instruction</a:t>
            </a:r>
            <a:endParaRPr lang="en-US" sz="1050" dirty="0"/>
          </a:p>
        </p:txBody>
      </p:sp>
      <p:sp>
        <p:nvSpPr>
          <p:cNvPr id="23" name="Text 20"/>
          <p:cNvSpPr/>
          <p:nvPr/>
        </p:nvSpPr>
        <p:spPr>
          <a:xfrm>
            <a:off x="6551676" y="3273552"/>
            <a:ext cx="4796028" cy="530352"/>
          </a:xfrm>
          <a:prstGeom prst="rect">
            <a:avLst/>
          </a:prstGeom>
          <a:noFill/>
          <a:ln/>
        </p:spPr>
        <p:txBody>
          <a:bodyPr wrap="square" lIns="0" tIns="0" rIns="0" bIns="0" rtlCol="0" anchor="ctr"/>
          <a:lstStyle/>
          <a:p>
            <a:pPr marL="0" indent="0">
              <a:lnSpc>
                <a:spcPct val="110000"/>
              </a:lnSpc>
              <a:buNone/>
            </a:pPr>
            <a:r>
              <a:rPr lang="en-US" sz="1250" i="1" dirty="0">
                <a:solidFill>
                  <a:srgbClr val="6B551A"/>
                </a:solidFill>
                <a:latin typeface="Calibri" pitchFamily="34" charset="0"/>
                <a:ea typeface="Calibri" pitchFamily="34" charset="-122"/>
                <a:cs typeface="Calibri" pitchFamily="34" charset="-120"/>
              </a:rPr>
              <a:t>“Find all workspaces where I'm Admin and list their capacities”</a:t>
            </a:r>
            <a:endParaRPr lang="en-US" sz="1250" dirty="0"/>
          </a:p>
        </p:txBody>
      </p:sp>
      <p:sp>
        <p:nvSpPr>
          <p:cNvPr id="24" name="Shape 21"/>
          <p:cNvSpPr/>
          <p:nvPr/>
        </p:nvSpPr>
        <p:spPr>
          <a:xfrm>
            <a:off x="566928" y="4078224"/>
            <a:ext cx="11055096" cy="1170432"/>
          </a:xfrm>
          <a:prstGeom prst="roundRect">
            <a:avLst>
              <a:gd name="adj" fmla="val 7031"/>
            </a:avLst>
          </a:prstGeom>
          <a:solidFill>
            <a:srgbClr val="FAFAFD"/>
          </a:solidFill>
          <a:ln w="12700">
            <a:solidFill>
              <a:srgbClr val="DFE2EC"/>
            </a:solidFill>
            <a:prstDash val="solid"/>
          </a:ln>
          <a:effectLst>
            <a:outerShdw blurRad="127000" dist="25400" dir="5400000" algn="bl" rotWithShape="0">
              <a:srgbClr val="9AA0B5">
                <a:alpha val="28000"/>
              </a:srgbClr>
            </a:outerShdw>
          </a:effectLst>
        </p:spPr>
        <p:txBody>
          <a:bodyPr/>
          <a:lstStyle/>
          <a:p>
            <a:endParaRPr lang="en-US"/>
          </a:p>
        </p:txBody>
      </p:sp>
      <p:sp>
        <p:nvSpPr>
          <p:cNvPr id="25" name="Text 22"/>
          <p:cNvSpPr/>
          <p:nvPr/>
        </p:nvSpPr>
        <p:spPr>
          <a:xfrm>
            <a:off x="841248" y="4169664"/>
            <a:ext cx="10506456" cy="237744"/>
          </a:xfrm>
          <a:prstGeom prst="rect">
            <a:avLst/>
          </a:prstGeom>
          <a:noFill/>
          <a:ln/>
        </p:spPr>
        <p:txBody>
          <a:bodyPr wrap="square" lIns="0" tIns="0" rIns="0" bIns="0" rtlCol="0" anchor="ctr"/>
          <a:lstStyle/>
          <a:p>
            <a:pPr marL="0" indent="0">
              <a:buNone/>
            </a:pPr>
            <a:r>
              <a:rPr lang="en-US" sz="1500" b="1" dirty="0">
                <a:solidFill>
                  <a:srgbClr val="14182E"/>
                </a:solidFill>
                <a:latin typeface="Cambria" pitchFamily="34" charset="0"/>
                <a:ea typeface="Cambria" pitchFamily="34" charset="-122"/>
                <a:cs typeface="Cambria" pitchFamily="34" charset="-120"/>
              </a:rPr>
              <a:t>It is not one server — the plugins register five</a:t>
            </a:r>
            <a:endParaRPr lang="en-US" sz="1500" dirty="0"/>
          </a:p>
        </p:txBody>
      </p:sp>
      <p:sp>
        <p:nvSpPr>
          <p:cNvPr id="26" name="Text 23"/>
          <p:cNvSpPr/>
          <p:nvPr/>
        </p:nvSpPr>
        <p:spPr>
          <a:xfrm>
            <a:off x="841248" y="4480560"/>
            <a:ext cx="1998878" cy="201168"/>
          </a:xfrm>
          <a:prstGeom prst="rect">
            <a:avLst/>
          </a:prstGeom>
          <a:noFill/>
          <a:ln/>
        </p:spPr>
        <p:txBody>
          <a:bodyPr wrap="square" lIns="0" tIns="0" rIns="0" bIns="0" rtlCol="0" anchor="ctr"/>
          <a:lstStyle/>
          <a:p>
            <a:pPr marL="0" indent="0">
              <a:buNone/>
            </a:pPr>
            <a:r>
              <a:rPr lang="en-US" sz="1100" b="1" dirty="0">
                <a:solidFill>
                  <a:srgbClr val="14182E"/>
                </a:solidFill>
                <a:latin typeface="Calibri" pitchFamily="34" charset="0"/>
                <a:ea typeface="Calibri" pitchFamily="34" charset="-122"/>
                <a:cs typeface="Calibri" pitchFamily="34" charset="-120"/>
              </a:rPr>
              <a:t>Fabric Core</a:t>
            </a:r>
            <a:endParaRPr lang="en-US" sz="1100" dirty="0"/>
          </a:p>
        </p:txBody>
      </p:sp>
      <p:sp>
        <p:nvSpPr>
          <p:cNvPr id="27" name="Text 24"/>
          <p:cNvSpPr/>
          <p:nvPr/>
        </p:nvSpPr>
        <p:spPr>
          <a:xfrm>
            <a:off x="841248" y="4681728"/>
            <a:ext cx="1998878" cy="182880"/>
          </a:xfrm>
          <a:prstGeom prst="rect">
            <a:avLst/>
          </a:prstGeom>
          <a:noFill/>
          <a:ln/>
        </p:spPr>
        <p:txBody>
          <a:bodyPr wrap="square" lIns="0" tIns="0" rIns="0" bIns="0" rtlCol="0" anchor="ctr"/>
          <a:lstStyle/>
          <a:p>
            <a:pPr marL="0" indent="0">
              <a:buNone/>
            </a:pPr>
            <a:r>
              <a:rPr lang="en-US" sz="800" dirty="0">
                <a:solidFill>
                  <a:srgbClr val="1F9E96"/>
                </a:solidFill>
                <a:latin typeface="Courier New" pitchFamily="34" charset="0"/>
                <a:ea typeface="Courier New" pitchFamily="34" charset="-122"/>
                <a:cs typeface="Courier New" pitchFamily="34" charset="-120"/>
              </a:rPr>
              <a:t>remote · hosted</a:t>
            </a:r>
            <a:endParaRPr lang="en-US" sz="800" dirty="0"/>
          </a:p>
        </p:txBody>
      </p:sp>
      <p:sp>
        <p:nvSpPr>
          <p:cNvPr id="28" name="Text 25"/>
          <p:cNvSpPr/>
          <p:nvPr/>
        </p:nvSpPr>
        <p:spPr>
          <a:xfrm>
            <a:off x="841248" y="4864608"/>
            <a:ext cx="1998878" cy="329184"/>
          </a:xfrm>
          <a:prstGeom prst="rect">
            <a:avLst/>
          </a:prstGeom>
          <a:noFill/>
          <a:ln/>
        </p:spPr>
        <p:txBody>
          <a:bodyPr wrap="square" lIns="0" tIns="0" rIns="0" bIns="0" rtlCol="0" anchor="ctr"/>
          <a:lstStyle/>
          <a:p>
            <a:pPr marL="0" indent="0">
              <a:lnSpc>
                <a:spcPct val="105000"/>
              </a:lnSpc>
              <a:buNone/>
            </a:pPr>
            <a:r>
              <a:rPr lang="en-US" sz="950" dirty="0">
                <a:solidFill>
                  <a:srgbClr val="6B7280"/>
                </a:solidFill>
                <a:latin typeface="Calibri" pitchFamily="34" charset="0"/>
                <a:ea typeface="Calibri" pitchFamily="34" charset="-122"/>
                <a:cs typeface="Calibri" pitchFamily="34" charset="-120"/>
              </a:rPr>
              <a:t>workspaces, items, roles</a:t>
            </a:r>
            <a:endParaRPr lang="en-US" sz="950" dirty="0"/>
          </a:p>
        </p:txBody>
      </p:sp>
      <p:sp>
        <p:nvSpPr>
          <p:cNvPr id="29" name="Text 26"/>
          <p:cNvSpPr/>
          <p:nvPr/>
        </p:nvSpPr>
        <p:spPr>
          <a:xfrm>
            <a:off x="2968142" y="4480560"/>
            <a:ext cx="1998878" cy="201168"/>
          </a:xfrm>
          <a:prstGeom prst="rect">
            <a:avLst/>
          </a:prstGeom>
          <a:noFill/>
          <a:ln/>
        </p:spPr>
        <p:txBody>
          <a:bodyPr wrap="square" lIns="0" tIns="0" rIns="0" bIns="0" rtlCol="0" anchor="ctr"/>
          <a:lstStyle/>
          <a:p>
            <a:pPr marL="0" indent="0">
              <a:buNone/>
            </a:pPr>
            <a:r>
              <a:rPr lang="en-US" sz="1100" b="1" dirty="0">
                <a:solidFill>
                  <a:srgbClr val="14182E"/>
                </a:solidFill>
                <a:latin typeface="Calibri" pitchFamily="34" charset="0"/>
                <a:ea typeface="Calibri" pitchFamily="34" charset="-122"/>
                <a:cs typeface="Calibri" pitchFamily="34" charset="-120"/>
              </a:rPr>
              <a:t>Fabric MCP local</a:t>
            </a:r>
            <a:endParaRPr lang="en-US" sz="1100" dirty="0"/>
          </a:p>
        </p:txBody>
      </p:sp>
      <p:sp>
        <p:nvSpPr>
          <p:cNvPr id="30" name="Text 27"/>
          <p:cNvSpPr/>
          <p:nvPr/>
        </p:nvSpPr>
        <p:spPr>
          <a:xfrm>
            <a:off x="2968142" y="4681728"/>
            <a:ext cx="1998878" cy="182880"/>
          </a:xfrm>
          <a:prstGeom prst="rect">
            <a:avLst/>
          </a:prstGeom>
          <a:noFill/>
          <a:ln/>
        </p:spPr>
        <p:txBody>
          <a:bodyPr wrap="square" lIns="0" tIns="0" rIns="0" bIns="0" rtlCol="0" anchor="ctr"/>
          <a:lstStyle/>
          <a:p>
            <a:pPr marL="0" indent="0">
              <a:buNone/>
            </a:pPr>
            <a:r>
              <a:rPr lang="en-US" sz="800" dirty="0">
                <a:solidFill>
                  <a:srgbClr val="1F9E96"/>
                </a:solidFill>
                <a:latin typeface="Courier New" pitchFamily="34" charset="0"/>
                <a:ea typeface="Courier New" pitchFamily="34" charset="-122"/>
                <a:cs typeface="Courier New" pitchFamily="34" charset="-120"/>
              </a:rPr>
              <a:t>OSS · stdio</a:t>
            </a:r>
            <a:endParaRPr lang="en-US" sz="800" dirty="0"/>
          </a:p>
        </p:txBody>
      </p:sp>
      <p:sp>
        <p:nvSpPr>
          <p:cNvPr id="31" name="Text 28"/>
          <p:cNvSpPr/>
          <p:nvPr/>
        </p:nvSpPr>
        <p:spPr>
          <a:xfrm>
            <a:off x="2968142" y="4864608"/>
            <a:ext cx="1998878" cy="329184"/>
          </a:xfrm>
          <a:prstGeom prst="rect">
            <a:avLst/>
          </a:prstGeom>
          <a:noFill/>
          <a:ln/>
        </p:spPr>
        <p:txBody>
          <a:bodyPr wrap="square" lIns="0" tIns="0" rIns="0" bIns="0" rtlCol="0" anchor="ctr"/>
          <a:lstStyle/>
          <a:p>
            <a:pPr marL="0" indent="0">
              <a:lnSpc>
                <a:spcPct val="105000"/>
              </a:lnSpc>
              <a:buNone/>
            </a:pPr>
            <a:r>
              <a:rPr lang="en-US" sz="950" dirty="0">
                <a:solidFill>
                  <a:srgbClr val="6B7280"/>
                </a:solidFill>
                <a:latin typeface="Calibri" pitchFamily="34" charset="0"/>
                <a:ea typeface="Calibri" pitchFamily="34" charset="-122"/>
                <a:cs typeface="Calibri" pitchFamily="34" charset="-120"/>
              </a:rPr>
              <a:t>OneLake files, API specs</a:t>
            </a:r>
            <a:endParaRPr lang="en-US" sz="950" dirty="0"/>
          </a:p>
        </p:txBody>
      </p:sp>
      <p:sp>
        <p:nvSpPr>
          <p:cNvPr id="32" name="Text 29"/>
          <p:cNvSpPr/>
          <p:nvPr/>
        </p:nvSpPr>
        <p:spPr>
          <a:xfrm>
            <a:off x="5095037" y="4480560"/>
            <a:ext cx="1998878" cy="201168"/>
          </a:xfrm>
          <a:prstGeom prst="rect">
            <a:avLst/>
          </a:prstGeom>
          <a:noFill/>
          <a:ln/>
        </p:spPr>
        <p:txBody>
          <a:bodyPr wrap="square" lIns="0" tIns="0" rIns="0" bIns="0" rtlCol="0" anchor="ctr"/>
          <a:lstStyle/>
          <a:p>
            <a:pPr marL="0" indent="0">
              <a:buNone/>
            </a:pPr>
            <a:r>
              <a:rPr lang="en-US" sz="1100" b="1" dirty="0">
                <a:solidFill>
                  <a:srgbClr val="14182E"/>
                </a:solidFill>
                <a:latin typeface="Calibri" pitchFamily="34" charset="0"/>
                <a:ea typeface="Calibri" pitchFamily="34" charset="-122"/>
                <a:cs typeface="Calibri" pitchFamily="34" charset="-120"/>
              </a:rPr>
              <a:t>FabricIQ</a:t>
            </a:r>
            <a:endParaRPr lang="en-US" sz="1100" dirty="0"/>
          </a:p>
        </p:txBody>
      </p:sp>
      <p:sp>
        <p:nvSpPr>
          <p:cNvPr id="33" name="Text 30"/>
          <p:cNvSpPr/>
          <p:nvPr/>
        </p:nvSpPr>
        <p:spPr>
          <a:xfrm>
            <a:off x="5095037" y="4681728"/>
            <a:ext cx="1998878" cy="182880"/>
          </a:xfrm>
          <a:prstGeom prst="rect">
            <a:avLst/>
          </a:prstGeom>
          <a:noFill/>
          <a:ln/>
        </p:spPr>
        <p:txBody>
          <a:bodyPr wrap="square" lIns="0" tIns="0" rIns="0" bIns="0" rtlCol="0" anchor="ctr"/>
          <a:lstStyle/>
          <a:p>
            <a:pPr marL="0" indent="0">
              <a:buNone/>
            </a:pPr>
            <a:r>
              <a:rPr lang="en-US" sz="800" dirty="0">
                <a:solidFill>
                  <a:srgbClr val="1F9E96"/>
                </a:solidFill>
                <a:latin typeface="Courier New" pitchFamily="34" charset="0"/>
                <a:ea typeface="Courier New" pitchFamily="34" charset="-122"/>
                <a:cs typeface="Courier New" pitchFamily="34" charset="-120"/>
              </a:rPr>
              <a:t>remote · hosted</a:t>
            </a:r>
            <a:endParaRPr lang="en-US" sz="800" dirty="0"/>
          </a:p>
        </p:txBody>
      </p:sp>
      <p:sp>
        <p:nvSpPr>
          <p:cNvPr id="34" name="Text 31"/>
          <p:cNvSpPr/>
          <p:nvPr/>
        </p:nvSpPr>
        <p:spPr>
          <a:xfrm>
            <a:off x="5095037" y="4864608"/>
            <a:ext cx="1998878" cy="329184"/>
          </a:xfrm>
          <a:prstGeom prst="rect">
            <a:avLst/>
          </a:prstGeom>
          <a:noFill/>
          <a:ln/>
        </p:spPr>
        <p:txBody>
          <a:bodyPr wrap="square" lIns="0" tIns="0" rIns="0" bIns="0" rtlCol="0" anchor="ctr"/>
          <a:lstStyle/>
          <a:p>
            <a:pPr marL="0" indent="0">
              <a:lnSpc>
                <a:spcPct val="105000"/>
              </a:lnSpc>
              <a:buNone/>
            </a:pPr>
            <a:r>
              <a:rPr lang="en-US" sz="950" dirty="0">
                <a:solidFill>
                  <a:srgbClr val="6B7280"/>
                </a:solidFill>
                <a:latin typeface="Calibri" pitchFamily="34" charset="0"/>
                <a:ea typeface="Calibri" pitchFamily="34" charset="-122"/>
                <a:cs typeface="Calibri" pitchFamily="34" charset="-120"/>
              </a:rPr>
              <a:t>Power BI data exploration</a:t>
            </a:r>
            <a:endParaRPr lang="en-US" sz="950" dirty="0"/>
          </a:p>
        </p:txBody>
      </p:sp>
      <p:sp>
        <p:nvSpPr>
          <p:cNvPr id="35" name="Text 32"/>
          <p:cNvSpPr/>
          <p:nvPr/>
        </p:nvSpPr>
        <p:spPr>
          <a:xfrm>
            <a:off x="7221931" y="4480560"/>
            <a:ext cx="1998878" cy="201168"/>
          </a:xfrm>
          <a:prstGeom prst="rect">
            <a:avLst/>
          </a:prstGeom>
          <a:noFill/>
          <a:ln/>
        </p:spPr>
        <p:txBody>
          <a:bodyPr wrap="square" lIns="0" tIns="0" rIns="0" bIns="0" rtlCol="0" anchor="ctr"/>
          <a:lstStyle/>
          <a:p>
            <a:pPr marL="0" indent="0">
              <a:buNone/>
            </a:pPr>
            <a:r>
              <a:rPr lang="en-US" sz="1100" b="1" dirty="0">
                <a:solidFill>
                  <a:srgbClr val="14182E"/>
                </a:solidFill>
                <a:latin typeface="Calibri" pitchFamily="34" charset="0"/>
                <a:ea typeface="Calibri" pitchFamily="34" charset="-122"/>
                <a:cs typeface="Calibri" pitchFamily="34" charset="-120"/>
              </a:rPr>
              <a:t>PBI authoring</a:t>
            </a:r>
            <a:endParaRPr lang="en-US" sz="1100" dirty="0"/>
          </a:p>
        </p:txBody>
      </p:sp>
      <p:sp>
        <p:nvSpPr>
          <p:cNvPr id="36" name="Text 33"/>
          <p:cNvSpPr/>
          <p:nvPr/>
        </p:nvSpPr>
        <p:spPr>
          <a:xfrm>
            <a:off x="7221931" y="4681728"/>
            <a:ext cx="1998878" cy="182880"/>
          </a:xfrm>
          <a:prstGeom prst="rect">
            <a:avLst/>
          </a:prstGeom>
          <a:noFill/>
          <a:ln/>
        </p:spPr>
        <p:txBody>
          <a:bodyPr wrap="square" lIns="0" tIns="0" rIns="0" bIns="0" rtlCol="0" anchor="ctr"/>
          <a:lstStyle/>
          <a:p>
            <a:pPr marL="0" indent="0">
              <a:buNone/>
            </a:pPr>
            <a:r>
              <a:rPr lang="en-US" sz="800" dirty="0">
                <a:solidFill>
                  <a:srgbClr val="1F9E96"/>
                </a:solidFill>
                <a:latin typeface="Courier New" pitchFamily="34" charset="0"/>
                <a:ea typeface="Courier New" pitchFamily="34" charset="-122"/>
                <a:cs typeface="Courier New" pitchFamily="34" charset="-120"/>
              </a:rPr>
              <a:t>remote · hosted</a:t>
            </a:r>
            <a:endParaRPr lang="en-US" sz="800" dirty="0"/>
          </a:p>
        </p:txBody>
      </p:sp>
      <p:sp>
        <p:nvSpPr>
          <p:cNvPr id="37" name="Text 34"/>
          <p:cNvSpPr/>
          <p:nvPr/>
        </p:nvSpPr>
        <p:spPr>
          <a:xfrm>
            <a:off x="7221931" y="4864608"/>
            <a:ext cx="1998878" cy="329184"/>
          </a:xfrm>
          <a:prstGeom prst="rect">
            <a:avLst/>
          </a:prstGeom>
          <a:noFill/>
          <a:ln/>
        </p:spPr>
        <p:txBody>
          <a:bodyPr wrap="square" lIns="0" tIns="0" rIns="0" bIns="0" rtlCol="0" anchor="ctr"/>
          <a:lstStyle/>
          <a:p>
            <a:pPr marL="0" indent="0">
              <a:lnSpc>
                <a:spcPct val="105000"/>
              </a:lnSpc>
              <a:buNone/>
            </a:pPr>
            <a:r>
              <a:rPr lang="en-US" sz="950" dirty="0">
                <a:solidFill>
                  <a:srgbClr val="6B7280"/>
                </a:solidFill>
                <a:latin typeface="Calibri" pitchFamily="34" charset="0"/>
                <a:ea typeface="Calibri" pitchFamily="34" charset="-122"/>
                <a:cs typeface="Calibri" pitchFamily="34" charset="-120"/>
              </a:rPr>
              <a:t>/v1/mcp/powerbi/authoring</a:t>
            </a:r>
            <a:endParaRPr lang="en-US" sz="950" dirty="0"/>
          </a:p>
        </p:txBody>
      </p:sp>
      <p:sp>
        <p:nvSpPr>
          <p:cNvPr id="38" name="Text 35"/>
          <p:cNvSpPr/>
          <p:nvPr/>
        </p:nvSpPr>
        <p:spPr>
          <a:xfrm>
            <a:off x="9348826" y="4480560"/>
            <a:ext cx="1998878" cy="201168"/>
          </a:xfrm>
          <a:prstGeom prst="rect">
            <a:avLst/>
          </a:prstGeom>
          <a:noFill/>
          <a:ln/>
        </p:spPr>
        <p:txBody>
          <a:bodyPr wrap="square" lIns="0" tIns="0" rIns="0" bIns="0" rtlCol="0" anchor="ctr"/>
          <a:lstStyle/>
          <a:p>
            <a:pPr marL="0" indent="0">
              <a:buNone/>
            </a:pPr>
            <a:r>
              <a:rPr lang="en-US" sz="1100" b="1" dirty="0">
                <a:solidFill>
                  <a:srgbClr val="14182E"/>
                </a:solidFill>
                <a:latin typeface="Calibri" pitchFamily="34" charset="0"/>
                <a:ea typeface="Calibri" pitchFamily="34" charset="-122"/>
                <a:cs typeface="Calibri" pitchFamily="34" charset="-120"/>
              </a:rPr>
              <a:t>SQL endpoint</a:t>
            </a:r>
            <a:endParaRPr lang="en-US" sz="1100" dirty="0"/>
          </a:p>
        </p:txBody>
      </p:sp>
      <p:sp>
        <p:nvSpPr>
          <p:cNvPr id="39" name="Text 36"/>
          <p:cNvSpPr/>
          <p:nvPr/>
        </p:nvSpPr>
        <p:spPr>
          <a:xfrm>
            <a:off x="9348826" y="4681728"/>
            <a:ext cx="1998878" cy="182880"/>
          </a:xfrm>
          <a:prstGeom prst="rect">
            <a:avLst/>
          </a:prstGeom>
          <a:noFill/>
          <a:ln/>
        </p:spPr>
        <p:txBody>
          <a:bodyPr wrap="square" lIns="0" tIns="0" rIns="0" bIns="0" rtlCol="0" anchor="ctr"/>
          <a:lstStyle/>
          <a:p>
            <a:pPr marL="0" indent="0">
              <a:buNone/>
            </a:pPr>
            <a:r>
              <a:rPr lang="en-US" sz="800" dirty="0">
                <a:solidFill>
                  <a:srgbClr val="1F9E96"/>
                </a:solidFill>
                <a:latin typeface="Courier New" pitchFamily="34" charset="0"/>
                <a:ea typeface="Courier New" pitchFamily="34" charset="-122"/>
                <a:cs typeface="Courier New" pitchFamily="34" charset="-120"/>
              </a:rPr>
              <a:t>remote · hosted</a:t>
            </a:r>
            <a:endParaRPr lang="en-US" sz="800" dirty="0"/>
          </a:p>
        </p:txBody>
      </p:sp>
      <p:sp>
        <p:nvSpPr>
          <p:cNvPr id="40" name="Text 37"/>
          <p:cNvSpPr/>
          <p:nvPr/>
        </p:nvSpPr>
        <p:spPr>
          <a:xfrm>
            <a:off x="9348826" y="4864608"/>
            <a:ext cx="1998878" cy="329184"/>
          </a:xfrm>
          <a:prstGeom prst="rect">
            <a:avLst/>
          </a:prstGeom>
          <a:noFill/>
          <a:ln/>
        </p:spPr>
        <p:txBody>
          <a:bodyPr wrap="square" lIns="0" tIns="0" rIns="0" bIns="0" rtlCol="0" anchor="ctr"/>
          <a:lstStyle/>
          <a:p>
            <a:pPr marL="0" indent="0">
              <a:lnSpc>
                <a:spcPct val="105000"/>
              </a:lnSpc>
              <a:buNone/>
            </a:pPr>
            <a:r>
              <a:rPr lang="en-US" sz="950" dirty="0">
                <a:solidFill>
                  <a:srgbClr val="6B7280"/>
                </a:solidFill>
                <a:latin typeface="Calibri" pitchFamily="34" charset="0"/>
                <a:ea typeface="Calibri" pitchFamily="34" charset="-122"/>
                <a:cs typeface="Calibri" pitchFamily="34" charset="-120"/>
              </a:rPr>
              <a:t>execute_query only</a:t>
            </a:r>
            <a:endParaRPr lang="en-US" sz="950" dirty="0"/>
          </a:p>
        </p:txBody>
      </p:sp>
      <p:sp>
        <p:nvSpPr>
          <p:cNvPr id="41" name="Shape 38"/>
          <p:cNvSpPr/>
          <p:nvPr/>
        </p:nvSpPr>
        <p:spPr>
          <a:xfrm>
            <a:off x="566928" y="5394960"/>
            <a:ext cx="11055096" cy="548640"/>
          </a:xfrm>
          <a:prstGeom prst="roundRect">
            <a:avLst>
              <a:gd name="adj" fmla="val 15000"/>
            </a:avLst>
          </a:prstGeom>
          <a:solidFill>
            <a:srgbClr val="FBF0EF"/>
          </a:solidFill>
          <a:ln w="12700">
            <a:solidFill>
              <a:srgbClr val="EBC9C6"/>
            </a:solidFill>
            <a:prstDash val="solid"/>
          </a:ln>
        </p:spPr>
        <p:txBody>
          <a:bodyPr/>
          <a:lstStyle/>
          <a:p>
            <a:endParaRPr lang="en-US"/>
          </a:p>
        </p:txBody>
      </p:sp>
      <p:sp>
        <p:nvSpPr>
          <p:cNvPr id="42" name="Text 39"/>
          <p:cNvSpPr/>
          <p:nvPr/>
        </p:nvSpPr>
        <p:spPr>
          <a:xfrm>
            <a:off x="841248" y="5394960"/>
            <a:ext cx="10506456" cy="548640"/>
          </a:xfrm>
          <a:prstGeom prst="rect">
            <a:avLst/>
          </a:prstGeom>
          <a:noFill/>
          <a:ln/>
        </p:spPr>
        <p:txBody>
          <a:bodyPr wrap="square" lIns="0" tIns="0" rIns="0" bIns="0" rtlCol="0" anchor="ctr"/>
          <a:lstStyle/>
          <a:p>
            <a:pPr marL="0" indent="0">
              <a:buNone/>
            </a:pPr>
            <a:r>
              <a:rPr lang="en-US" sz="1150" b="1" dirty="0">
                <a:solidFill>
                  <a:srgbClr val="7A3B36"/>
                </a:solidFill>
                <a:latin typeface="Calibri" pitchFamily="34" charset="0"/>
                <a:ea typeface="Calibri" pitchFamily="34" charset="-122"/>
                <a:cs typeface="Calibri" pitchFamily="34" charset="-120"/>
              </a:rPr>
              <a:t>Limits:  it creates the item, it won't fill it  ·  advanced features may have no tool yet  ·  workspace delete is permanent  ·  FabricIQ tokens expire in 60–90 min</a:t>
            </a:r>
            <a:endParaRPr lang="en-US" sz="1150" dirty="0"/>
          </a:p>
        </p:txBody>
      </p:sp>
      <p:sp>
        <p:nvSpPr>
          <p:cNvPr id="43" name="Text 40"/>
          <p:cNvSpPr/>
          <p:nvPr/>
        </p:nvSpPr>
        <p:spPr>
          <a:xfrm>
            <a:off x="566928" y="5943600"/>
            <a:ext cx="8311896" cy="384048"/>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Every call runs as you: your Entra identity, your Fabric RBAC, your audit log. The server never bypasses security.</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9134856" y="6381598"/>
            <a:ext cx="310896" cy="20117"/>
          </a:xfrm>
          <a:prstGeom prst="rect">
            <a:avLst/>
          </a:prstGeom>
          <a:solidFill>
            <a:srgbClr val="1F9E96"/>
          </a:solidFill>
          <a:ln w="12700">
            <a:solidFill>
              <a:srgbClr val="1F9E96"/>
            </a:solidFill>
            <a:prstDash val="solid"/>
          </a:ln>
        </p:spPr>
        <p:txBody>
          <a:bodyPr/>
          <a:p/>
        </p:txBody>
      </p:sp>
      <p:sp>
        <p:nvSpPr>
          <p:cNvPr id="4" name="Text 1"/>
          <p:cNvSpPr/>
          <p:nvPr/>
        </p:nvSpPr>
        <p:spPr>
          <a:xfrm>
            <a:off x="9518904" y="6272784"/>
            <a:ext cx="2103120" cy="237744"/>
          </a:xfrm>
          <a:prstGeom prst="rect">
            <a:avLst/>
          </a:prstGeom>
          <a:noFill/>
          <a:ln/>
        </p:spPr>
        <p:txBody>
          <a:bodyPr wrap="square" lIns="0" tIns="0" rIns="0" bIns="0" rtlCol="0" anchor="ctr"/>
          <a:lstStyle/>
          <a:p>
            <a:pPr algn="r" indent="0" marL="0">
              <a:buNone/>
            </a:pPr>
            <a:r>
              <a:rPr lang="en-US" sz="900" b="1" spc="120" kern="0" dirty="0">
                <a:solidFill>
                  <a:srgbClr val="6B7280"/>
                </a:solidFill>
                <a:latin typeface="Calibri" pitchFamily="34" charset="0"/>
                <a:ea typeface="Calibri" pitchFamily="34" charset="-122"/>
                <a:cs typeface="Calibri" pitchFamily="34" charset="-120"/>
              </a:rPr>
              <a:t>19 / 22  ·  PLATFORM</a:t>
            </a:r>
            <a:endParaRPr lang="en-US" sz="900" dirty="0"/>
          </a:p>
        </p:txBody>
      </p:sp>
      <p:sp>
        <p:nvSpPr>
          <p:cNvPr id="5" name="Shape 2"/>
          <p:cNvSpPr/>
          <p:nvPr/>
        </p:nvSpPr>
        <p:spPr>
          <a:xfrm>
            <a:off x="566928" y="274320"/>
            <a:ext cx="566928" cy="41148"/>
          </a:xfrm>
          <a:prstGeom prst="rect">
            <a:avLst/>
          </a:prstGeom>
          <a:solidFill>
            <a:srgbClr val="1F9E96"/>
          </a:solidFill>
          <a:ln w="12700">
            <a:solidFill>
              <a:srgbClr val="1F9E96"/>
            </a:solidFill>
            <a:prstDash val="solid"/>
          </a:ln>
        </p:spPr>
        <p:txBody>
          <a:bodyPr/>
          <a:p/>
        </p:txBody>
      </p:sp>
      <p:sp>
        <p:nvSpPr>
          <p:cNvPr id="6" name="Text 3"/>
          <p:cNvSpPr/>
          <p:nvPr/>
        </p:nvSpPr>
        <p:spPr>
          <a:xfrm>
            <a:off x="566928" y="402336"/>
            <a:ext cx="11055096" cy="256032"/>
          </a:xfrm>
          <a:prstGeom prst="rect">
            <a:avLst/>
          </a:prstGeom>
          <a:noFill/>
          <a:ln/>
        </p:spPr>
        <p:txBody>
          <a:bodyPr wrap="square" lIns="0" tIns="0" rIns="0" bIns="0" rtlCol="0" anchor="ctr"/>
          <a:lstStyle/>
          <a:p>
            <a:pPr indent="0" marL="0">
              <a:buNone/>
            </a:pPr>
            <a:r>
              <a:rPr lang="en-US" sz="1100" b="1" spc="220" kern="0" dirty="0">
                <a:solidFill>
                  <a:srgbClr val="1F9E96"/>
                </a:solidFill>
                <a:latin typeface="Calibri" pitchFamily="34" charset="0"/>
                <a:ea typeface="Calibri" pitchFamily="34" charset="-122"/>
                <a:cs typeface="Calibri" pitchFamily="34" charset="-120"/>
              </a:rPr>
              <a:t>NEW</a:t>
            </a:r>
            <a:endParaRPr lang="en-US" sz="1100" dirty="0"/>
          </a:p>
        </p:txBody>
      </p:sp>
      <p:sp>
        <p:nvSpPr>
          <p:cNvPr id="7" name="Text 4"/>
          <p:cNvSpPr/>
          <p:nvPr/>
        </p:nvSpPr>
        <p:spPr>
          <a:xfrm>
            <a:off x="566928" y="676656"/>
            <a:ext cx="11055096" cy="621792"/>
          </a:xfrm>
          <a:prstGeom prst="rect">
            <a:avLst/>
          </a:prstGeom>
          <a:noFill/>
          <a:ln/>
        </p:spPr>
        <p:txBody>
          <a:bodyPr wrap="square" lIns="0" tIns="0" rIns="0" bIns="0" rtlCol="0" anchor="ctr"/>
          <a:lstStyle/>
          <a:p>
            <a:pPr indent="0" marL="0">
              <a:buNone/>
            </a:pPr>
            <a:r>
              <a:rPr lang="en-US" sz="3400" b="1" dirty="0">
                <a:solidFill>
                  <a:srgbClr val="14182E"/>
                </a:solidFill>
                <a:latin typeface="Cambria" pitchFamily="34" charset="0"/>
                <a:ea typeface="Cambria" pitchFamily="34" charset="-122"/>
                <a:cs typeface="Cambria" pitchFamily="34" charset="-120"/>
              </a:rPr>
              <a:t>Power BI &amp; Fabric Skills</a:t>
            </a:r>
            <a:endParaRPr lang="en-US" sz="3400" dirty="0"/>
          </a:p>
        </p:txBody>
      </p:sp>
      <p:sp>
        <p:nvSpPr>
          <p:cNvPr id="8" name="Text 5"/>
          <p:cNvSpPr/>
          <p:nvPr/>
        </p:nvSpPr>
        <p:spPr>
          <a:xfrm>
            <a:off x="566928" y="1335024"/>
            <a:ext cx="11055096" cy="274320"/>
          </a:xfrm>
          <a:prstGeom prst="rect">
            <a:avLst/>
          </a:prstGeom>
          <a:noFill/>
          <a:ln/>
        </p:spPr>
        <p:txBody>
          <a:bodyPr wrap="square" lIns="0" tIns="0" rIns="0" bIns="0" rtlCol="0" anchor="ctr"/>
          <a:lstStyle/>
          <a:p>
            <a:pPr indent="0" marL="0">
              <a:buNone/>
            </a:pPr>
            <a:r>
              <a:rPr lang="en-US" sz="1350" i="1" dirty="0">
                <a:solidFill>
                  <a:srgbClr val="6B7280"/>
                </a:solidFill>
                <a:latin typeface="Calibri" pitchFamily="34" charset="0"/>
                <a:ea typeface="Calibri" pitchFamily="34" charset="-122"/>
                <a:cs typeface="Calibri" pitchFamily="34" charset="-120"/>
              </a:rPr>
              <a:t>Not a feature you switch on in the portal — a curated bundle you install into your coding agent.</a:t>
            </a:r>
            <a:endParaRPr lang="en-US" sz="1350" dirty="0"/>
          </a:p>
        </p:txBody>
      </p:sp>
      <p:sp>
        <p:nvSpPr>
          <p:cNvPr id="9" name="Shape 6"/>
          <p:cNvSpPr/>
          <p:nvPr/>
        </p:nvSpPr>
        <p:spPr>
          <a:xfrm>
            <a:off x="566928" y="1719072"/>
            <a:ext cx="6766560" cy="841248"/>
          </a:xfrm>
          <a:prstGeom prst="roundRect">
            <a:avLst>
              <a:gd name="adj" fmla="val 6522"/>
            </a:avLst>
          </a:prstGeom>
          <a:solidFill>
            <a:srgbClr val="F4F5F9"/>
          </a:solidFill>
          <a:ln w="12700">
            <a:solidFill>
              <a:srgbClr val="DFE2EC"/>
            </a:solidFill>
            <a:prstDash val="solid"/>
          </a:ln>
        </p:spPr>
        <p:txBody>
          <a:bodyPr/>
          <a:p/>
        </p:txBody>
      </p:sp>
      <p:sp>
        <p:nvSpPr>
          <p:cNvPr id="10" name="Text 7"/>
          <p:cNvSpPr/>
          <p:nvPr/>
        </p:nvSpPr>
        <p:spPr>
          <a:xfrm>
            <a:off x="731520" y="1810512"/>
            <a:ext cx="3840480" cy="237744"/>
          </a:xfrm>
          <a:prstGeom prst="rect">
            <a:avLst/>
          </a:prstGeom>
          <a:noFill/>
          <a:ln/>
        </p:spPr>
        <p:txBody>
          <a:bodyPr wrap="square" lIns="0" tIns="0" rIns="0" bIns="0" rtlCol="0" anchor="ctr"/>
          <a:lstStyle/>
          <a:p>
            <a:pPr indent="0" marL="0">
              <a:buNone/>
            </a:pPr>
            <a:r>
              <a:rPr lang="en-US" sz="1050" b="1" dirty="0">
                <a:solidFill>
                  <a:srgbClr val="14182E"/>
                </a:solidFill>
                <a:latin typeface="Courier New" pitchFamily="34" charset="0"/>
                <a:ea typeface="Courier New" pitchFamily="34" charset="-122"/>
                <a:cs typeface="Courier New" pitchFamily="34" charset="-120"/>
              </a:rPr>
              <a:t>semantic-model-authoring</a:t>
            </a:r>
            <a:endParaRPr lang="en-US" sz="1050" dirty="0"/>
          </a:p>
        </p:txBody>
      </p:sp>
      <p:sp>
        <p:nvSpPr>
          <p:cNvPr id="11" name="Text 8"/>
          <p:cNvSpPr/>
          <p:nvPr/>
        </p:nvSpPr>
        <p:spPr>
          <a:xfrm>
            <a:off x="731520" y="2066544"/>
            <a:ext cx="6437376" cy="438912"/>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Tables, columns, measures, relationships, field parameters and DAX; metadata discovery with INFO functions; deploy and refresh</a:t>
            </a:r>
            <a:endParaRPr lang="en-US" sz="1050" dirty="0"/>
          </a:p>
        </p:txBody>
      </p:sp>
      <p:sp>
        <p:nvSpPr>
          <p:cNvPr id="12" name="Shape 9"/>
          <p:cNvSpPr/>
          <p:nvPr/>
        </p:nvSpPr>
        <p:spPr>
          <a:xfrm>
            <a:off x="566928" y="2670048"/>
            <a:ext cx="6766560" cy="2176272"/>
          </a:xfrm>
          <a:prstGeom prst="roundRect">
            <a:avLst>
              <a:gd name="adj" fmla="val 2521"/>
            </a:avLst>
          </a:prstGeom>
          <a:solidFill>
            <a:srgbClr val="FAFAFD"/>
          </a:solidFill>
          <a:ln w="12700">
            <a:solidFill>
              <a:srgbClr val="DFE2EC"/>
            </a:solidFill>
            <a:prstDash val="solid"/>
          </a:ln>
        </p:spPr>
        <p:txBody>
          <a:bodyPr/>
          <a:p/>
        </p:txBody>
      </p:sp>
      <p:sp>
        <p:nvSpPr>
          <p:cNvPr id="13" name="Text 10"/>
          <p:cNvSpPr/>
          <p:nvPr/>
        </p:nvSpPr>
        <p:spPr>
          <a:xfrm>
            <a:off x="731520" y="2761488"/>
            <a:ext cx="3840480" cy="237744"/>
          </a:xfrm>
          <a:prstGeom prst="rect">
            <a:avLst/>
          </a:prstGeom>
          <a:noFill/>
          <a:ln/>
        </p:spPr>
        <p:txBody>
          <a:bodyPr wrap="square" lIns="0" tIns="0" rIns="0" bIns="0" rtlCol="0" anchor="ctr"/>
          <a:lstStyle/>
          <a:p>
            <a:pPr indent="0" marL="0">
              <a:buNone/>
            </a:pPr>
            <a:r>
              <a:rPr lang="en-US" sz="1050" b="1" dirty="0">
                <a:solidFill>
                  <a:srgbClr val="14182E"/>
                </a:solidFill>
                <a:latin typeface="Courier New" pitchFamily="34" charset="0"/>
                <a:ea typeface="Courier New" pitchFamily="34" charset="-122"/>
                <a:cs typeface="Courier New" pitchFamily="34" charset="-120"/>
              </a:rPr>
              <a:t>powerbi-report-cli</a:t>
            </a:r>
            <a:endParaRPr lang="en-US" sz="1050" dirty="0"/>
          </a:p>
        </p:txBody>
      </p:sp>
      <p:sp>
        <p:nvSpPr>
          <p:cNvPr id="14" name="Text 11"/>
          <p:cNvSpPr/>
          <p:nvPr/>
        </p:nvSpPr>
        <p:spPr>
          <a:xfrm>
            <a:off x="731520" y="2999232"/>
            <a:ext cx="6437376" cy="237744"/>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One report skill since 0.3.17. It picks the mode from what you ask for.</a:t>
            </a:r>
            <a:endParaRPr lang="en-US" sz="1050" dirty="0"/>
          </a:p>
        </p:txBody>
      </p:sp>
      <p:sp>
        <p:nvSpPr>
          <p:cNvPr id="15" name="Shape 12"/>
          <p:cNvSpPr/>
          <p:nvPr/>
        </p:nvSpPr>
        <p:spPr>
          <a:xfrm>
            <a:off x="731520" y="3310128"/>
            <a:ext cx="3145536" cy="694944"/>
          </a:xfrm>
          <a:prstGeom prst="roundRect">
            <a:avLst>
              <a:gd name="adj" fmla="val 6579"/>
            </a:avLst>
          </a:prstGeom>
          <a:solidFill>
            <a:srgbClr val="FFFFFF"/>
          </a:solidFill>
          <a:ln w="12700">
            <a:solidFill>
              <a:srgbClr val="DFE2EC"/>
            </a:solidFill>
            <a:prstDash val="solid"/>
          </a:ln>
        </p:spPr>
        <p:txBody>
          <a:bodyPr/>
          <a:p/>
        </p:txBody>
      </p:sp>
      <p:sp>
        <p:nvSpPr>
          <p:cNvPr id="16" name="Text 13"/>
          <p:cNvSpPr/>
          <p:nvPr/>
        </p:nvSpPr>
        <p:spPr>
          <a:xfrm>
            <a:off x="859536" y="3374136"/>
            <a:ext cx="2889504" cy="201168"/>
          </a:xfrm>
          <a:prstGeom prst="rect">
            <a:avLst/>
          </a:prstGeom>
          <a:noFill/>
          <a:ln/>
        </p:spPr>
        <p:txBody>
          <a:bodyPr wrap="square" lIns="0" tIns="0" rIns="0" bIns="0" rtlCol="0" anchor="ctr"/>
          <a:lstStyle/>
          <a:p>
            <a:pPr indent="0" marL="0">
              <a:buNone/>
            </a:pPr>
            <a:r>
              <a:rPr lang="en-US" sz="950" b="1" dirty="0">
                <a:solidFill>
                  <a:srgbClr val="1F9E96"/>
                </a:solidFill>
                <a:latin typeface="Courier New" pitchFamily="34" charset="0"/>
                <a:ea typeface="Courier New" pitchFamily="34" charset="-122"/>
                <a:cs typeface="Courier New" pitchFamily="34" charset="-120"/>
              </a:rPr>
              <a:t>planning</a:t>
            </a:r>
            <a:endParaRPr lang="en-US" sz="950" dirty="0"/>
          </a:p>
        </p:txBody>
      </p:sp>
      <p:sp>
        <p:nvSpPr>
          <p:cNvPr id="17" name="Text 14"/>
          <p:cNvSpPr/>
          <p:nvPr/>
        </p:nvSpPr>
        <p:spPr>
          <a:xfrm>
            <a:off x="859536" y="3575304"/>
            <a:ext cx="2889504" cy="384048"/>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Requirements, scope, page plan — and an approval gate before anything is built</a:t>
            </a:r>
            <a:endParaRPr lang="en-US" sz="950" dirty="0"/>
          </a:p>
        </p:txBody>
      </p:sp>
      <p:sp>
        <p:nvSpPr>
          <p:cNvPr id="18" name="Shape 15"/>
          <p:cNvSpPr/>
          <p:nvPr/>
        </p:nvSpPr>
        <p:spPr>
          <a:xfrm>
            <a:off x="4023360" y="3310128"/>
            <a:ext cx="3145536" cy="694944"/>
          </a:xfrm>
          <a:prstGeom prst="roundRect">
            <a:avLst>
              <a:gd name="adj" fmla="val 6579"/>
            </a:avLst>
          </a:prstGeom>
          <a:solidFill>
            <a:srgbClr val="FFFFFF"/>
          </a:solidFill>
          <a:ln w="12700">
            <a:solidFill>
              <a:srgbClr val="DFE2EC"/>
            </a:solidFill>
            <a:prstDash val="solid"/>
          </a:ln>
        </p:spPr>
        <p:txBody>
          <a:bodyPr/>
          <a:p/>
        </p:txBody>
      </p:sp>
      <p:sp>
        <p:nvSpPr>
          <p:cNvPr id="19" name="Text 16"/>
          <p:cNvSpPr/>
          <p:nvPr/>
        </p:nvSpPr>
        <p:spPr>
          <a:xfrm>
            <a:off x="4151376" y="3374136"/>
            <a:ext cx="2889504" cy="201168"/>
          </a:xfrm>
          <a:prstGeom prst="rect">
            <a:avLst/>
          </a:prstGeom>
          <a:noFill/>
          <a:ln/>
        </p:spPr>
        <p:txBody>
          <a:bodyPr wrap="square" lIns="0" tIns="0" rIns="0" bIns="0" rtlCol="0" anchor="ctr"/>
          <a:lstStyle/>
          <a:p>
            <a:pPr indent="0" marL="0">
              <a:buNone/>
            </a:pPr>
            <a:r>
              <a:rPr lang="en-US" sz="950" b="1" dirty="0">
                <a:solidFill>
                  <a:srgbClr val="1F9E96"/>
                </a:solidFill>
                <a:latin typeface="Courier New" pitchFamily="34" charset="0"/>
                <a:ea typeface="Courier New" pitchFamily="34" charset="-122"/>
                <a:cs typeface="Courier New" pitchFamily="34" charset="-120"/>
              </a:rPr>
              <a:t>design</a:t>
            </a:r>
            <a:endParaRPr lang="en-US" sz="950" dirty="0"/>
          </a:p>
        </p:txBody>
      </p:sp>
      <p:sp>
        <p:nvSpPr>
          <p:cNvPr id="20" name="Text 17"/>
          <p:cNvSpPr/>
          <p:nvPr/>
        </p:nvSpPr>
        <p:spPr>
          <a:xfrm>
            <a:off x="4151376" y="3575304"/>
            <a:ext cx="2889504" cy="384048"/>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Archetype, chart choice, layout, colour, typography, accessibility</a:t>
            </a:r>
            <a:endParaRPr lang="en-US" sz="950" dirty="0"/>
          </a:p>
        </p:txBody>
      </p:sp>
      <p:sp>
        <p:nvSpPr>
          <p:cNvPr id="21" name="Shape 18"/>
          <p:cNvSpPr/>
          <p:nvPr/>
        </p:nvSpPr>
        <p:spPr>
          <a:xfrm>
            <a:off x="731520" y="4078224"/>
            <a:ext cx="3145536" cy="694944"/>
          </a:xfrm>
          <a:prstGeom prst="roundRect">
            <a:avLst>
              <a:gd name="adj" fmla="val 6579"/>
            </a:avLst>
          </a:prstGeom>
          <a:solidFill>
            <a:srgbClr val="FFFFFF"/>
          </a:solidFill>
          <a:ln w="12700">
            <a:solidFill>
              <a:srgbClr val="DFE2EC"/>
            </a:solidFill>
            <a:prstDash val="solid"/>
          </a:ln>
        </p:spPr>
        <p:txBody>
          <a:bodyPr/>
          <a:p/>
        </p:txBody>
      </p:sp>
      <p:sp>
        <p:nvSpPr>
          <p:cNvPr id="22" name="Text 19"/>
          <p:cNvSpPr/>
          <p:nvPr/>
        </p:nvSpPr>
        <p:spPr>
          <a:xfrm>
            <a:off x="859536" y="4142232"/>
            <a:ext cx="2889504" cy="201168"/>
          </a:xfrm>
          <a:prstGeom prst="rect">
            <a:avLst/>
          </a:prstGeom>
          <a:noFill/>
          <a:ln/>
        </p:spPr>
        <p:txBody>
          <a:bodyPr wrap="square" lIns="0" tIns="0" rIns="0" bIns="0" rtlCol="0" anchor="ctr"/>
          <a:lstStyle/>
          <a:p>
            <a:pPr indent="0" marL="0">
              <a:buNone/>
            </a:pPr>
            <a:r>
              <a:rPr lang="en-US" sz="950" b="1" dirty="0">
                <a:solidFill>
                  <a:srgbClr val="1F9E96"/>
                </a:solidFill>
                <a:latin typeface="Courier New" pitchFamily="34" charset="0"/>
                <a:ea typeface="Courier New" pitchFamily="34" charset="-122"/>
                <a:cs typeface="Courier New" pitchFamily="34" charset="-120"/>
              </a:rPr>
              <a:t>authoring</a:t>
            </a:r>
            <a:endParaRPr lang="en-US" sz="950" dirty="0"/>
          </a:p>
        </p:txBody>
      </p:sp>
      <p:sp>
        <p:nvSpPr>
          <p:cNvPr id="23" name="Text 20"/>
          <p:cNvSpPr/>
          <p:nvPr/>
        </p:nvSpPr>
        <p:spPr>
          <a:xfrm>
            <a:off x="859536" y="4343400"/>
            <a:ext cx="2889504" cy="384048"/>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PBIR pages, visuals, filters, slicers, themes; validate and preview in Desktop</a:t>
            </a:r>
            <a:endParaRPr lang="en-US" sz="950" dirty="0"/>
          </a:p>
        </p:txBody>
      </p:sp>
      <p:sp>
        <p:nvSpPr>
          <p:cNvPr id="24" name="Shape 21"/>
          <p:cNvSpPr/>
          <p:nvPr/>
        </p:nvSpPr>
        <p:spPr>
          <a:xfrm>
            <a:off x="4023360" y="4078224"/>
            <a:ext cx="3145536" cy="694944"/>
          </a:xfrm>
          <a:prstGeom prst="roundRect">
            <a:avLst>
              <a:gd name="adj" fmla="val 6579"/>
            </a:avLst>
          </a:prstGeom>
          <a:solidFill>
            <a:srgbClr val="FFFFFF"/>
          </a:solidFill>
          <a:ln w="12700">
            <a:solidFill>
              <a:srgbClr val="DFE2EC"/>
            </a:solidFill>
            <a:prstDash val="solid"/>
          </a:ln>
        </p:spPr>
        <p:txBody>
          <a:bodyPr/>
          <a:p/>
        </p:txBody>
      </p:sp>
      <p:sp>
        <p:nvSpPr>
          <p:cNvPr id="25" name="Text 22"/>
          <p:cNvSpPr/>
          <p:nvPr/>
        </p:nvSpPr>
        <p:spPr>
          <a:xfrm>
            <a:off x="4151376" y="4142232"/>
            <a:ext cx="2889504" cy="201168"/>
          </a:xfrm>
          <a:prstGeom prst="rect">
            <a:avLst/>
          </a:prstGeom>
          <a:noFill/>
          <a:ln/>
        </p:spPr>
        <p:txBody>
          <a:bodyPr wrap="square" lIns="0" tIns="0" rIns="0" bIns="0" rtlCol="0" anchor="ctr"/>
          <a:lstStyle/>
          <a:p>
            <a:pPr indent="0" marL="0">
              <a:buNone/>
            </a:pPr>
            <a:r>
              <a:rPr lang="en-US" sz="950" b="1" dirty="0">
                <a:solidFill>
                  <a:srgbClr val="1F9E96"/>
                </a:solidFill>
                <a:latin typeface="Courier New" pitchFamily="34" charset="0"/>
                <a:ea typeface="Courier New" pitchFamily="34" charset="-122"/>
                <a:cs typeface="Courier New" pitchFamily="34" charset="-120"/>
              </a:rPr>
              <a:t>management</a:t>
            </a:r>
            <a:endParaRPr lang="en-US" sz="950" dirty="0"/>
          </a:p>
        </p:txBody>
      </p:sp>
      <p:sp>
        <p:nvSpPr>
          <p:cNvPr id="26" name="Text 23"/>
          <p:cNvSpPr/>
          <p:nvPr/>
        </p:nvSpPr>
        <p:spPr>
          <a:xfrm>
            <a:off x="4151376" y="4343400"/>
            <a:ext cx="2889504" cy="384048"/>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Publish, download, rebind and update report items in Fabric</a:t>
            </a:r>
            <a:endParaRPr lang="en-US" sz="950" dirty="0"/>
          </a:p>
        </p:txBody>
      </p:sp>
      <p:sp>
        <p:nvSpPr>
          <p:cNvPr id="27" name="Shape 24"/>
          <p:cNvSpPr/>
          <p:nvPr/>
        </p:nvSpPr>
        <p:spPr>
          <a:xfrm>
            <a:off x="7461504" y="1719072"/>
            <a:ext cx="4160520" cy="3127248"/>
          </a:xfrm>
          <a:prstGeom prst="roundRect">
            <a:avLst>
              <a:gd name="adj" fmla="val 2632"/>
            </a:avLst>
          </a:prstGeom>
          <a:solidFill>
            <a:srgbClr val="EDF7F6"/>
          </a:solidFill>
          <a:ln w="12700">
            <a:solidFill>
              <a:srgbClr val="C7E4E1"/>
            </a:solidFill>
            <a:prstDash val="solid"/>
          </a:ln>
          <a:effectLst>
            <a:outerShdw sx="100000" sy="100000" kx="0" ky="0" algn="bl" rotWithShape="0" blurRad="127000" dist="25400" dir="5400000">
              <a:srgbClr val="9AA0B5">
                <a:alpha val="28000"/>
              </a:srgbClr>
            </a:outerShdw>
          </a:effectLst>
        </p:spPr>
        <p:txBody>
          <a:bodyPr/>
          <a:p/>
        </p:txBody>
      </p:sp>
      <p:sp>
        <p:nvSpPr>
          <p:cNvPr id="28" name="Text 25"/>
          <p:cNvSpPr/>
          <p:nvPr/>
        </p:nvSpPr>
        <p:spPr>
          <a:xfrm>
            <a:off x="7717536" y="1828800"/>
            <a:ext cx="3648456" cy="329184"/>
          </a:xfrm>
          <a:prstGeom prst="rect">
            <a:avLst/>
          </a:prstGeom>
          <a:noFill/>
          <a:ln/>
        </p:spPr>
        <p:txBody>
          <a:bodyPr wrap="square" lIns="0" tIns="0" rIns="0" bIns="0" rtlCol="0" anchor="ctr"/>
          <a:lstStyle/>
          <a:p>
            <a:pPr indent="0" marL="0">
              <a:buNone/>
            </a:pPr>
            <a:r>
              <a:rPr lang="en-US" sz="1900" b="1" dirty="0">
                <a:solidFill>
                  <a:srgbClr val="17635E"/>
                </a:solidFill>
                <a:latin typeface="Cambria" pitchFamily="34" charset="0"/>
                <a:ea typeface="Cambria" pitchFamily="34" charset="-122"/>
                <a:cs typeface="Cambria" pitchFamily="34" charset="-120"/>
              </a:rPr>
              <a:t>The wider catalogue</a:t>
            </a:r>
            <a:endParaRPr lang="en-US" sz="1900" dirty="0"/>
          </a:p>
        </p:txBody>
      </p:sp>
      <p:sp>
        <p:nvSpPr>
          <p:cNvPr id="29" name="Text 26"/>
          <p:cNvSpPr/>
          <p:nvPr/>
        </p:nvSpPr>
        <p:spPr>
          <a:xfrm>
            <a:off x="7717536" y="2231136"/>
            <a:ext cx="3648456" cy="2468880"/>
          </a:xfrm>
          <a:prstGeom prst="rect">
            <a:avLst/>
          </a:prstGeom>
          <a:noFill/>
          <a:ln/>
        </p:spPr>
        <p:txBody>
          <a:bodyPr wrap="square" lIns="0" tIns="0" rIns="0" bIns="0" rtlCol="0" anchor="t"/>
          <a:lstStyle/>
          <a:p>
            <a:pPr marL="342900" indent="-342900">
              <a:lnSpc>
                <a:spcPct val="115000"/>
              </a:lnSpc>
              <a:spcAft>
                <a:spcPts val="800"/>
              </a:spcAft>
              <a:buSzPct val="100000"/>
              <a:buChar char="•"/>
            </a:pPr>
            <a:r>
              <a:rPr lang="en-US" sz="1150" dirty="0">
                <a:solidFill>
                  <a:srgbClr val="1D4F4B"/>
                </a:solidFill>
                <a:latin typeface="Calibri" pitchFamily="34" charset="0"/>
                <a:ea typeface="Calibri" pitchFamily="34" charset="-122"/>
                <a:cs typeface="Calibri" pitchFamily="34" charset="-120"/>
              </a:rPr>
              <a:t>25 skills in the repo today — Spark, SQL, Eventhouse, Dataflows, Git, migration, OneLake governance</a:t>
            </a:r>
            <a:endParaRPr lang="en-US" sz="1150" dirty="0"/>
          </a:p>
          <a:p>
            <a:pPr marL="342900" indent="-342900">
              <a:lnSpc>
                <a:spcPct val="115000"/>
              </a:lnSpc>
              <a:spcAft>
                <a:spcPts val="800"/>
              </a:spcAft>
              <a:buSzPct val="100000"/>
              <a:buChar char="•"/>
            </a:pPr>
            <a:r>
              <a:rPr lang="en-US" sz="1150" dirty="0">
                <a:solidFill>
                  <a:srgbClr val="1D4F4B"/>
                </a:solidFill>
                <a:latin typeface="Calibri" pitchFamily="34" charset="0"/>
                <a:ea typeface="Calibri" pitchFamily="34" charset="-122"/>
                <a:cs typeface="Calibri" pitchFamily="34" charset="-120"/>
              </a:rPr>
              <a:t>fabric-skills bundles 24 of them plus five agents, including the new FabricMigrationEngineer</a:t>
            </a:r>
            <a:endParaRPr lang="en-US" sz="1150" dirty="0"/>
          </a:p>
          <a:p>
            <a:pPr marL="342900" indent="-342900">
              <a:lnSpc>
                <a:spcPct val="115000"/>
              </a:lnSpc>
              <a:spcAft>
                <a:spcPts val="800"/>
              </a:spcAft>
              <a:buSzPct val="100000"/>
              <a:buChar char="•"/>
            </a:pPr>
            <a:r>
              <a:rPr lang="en-US" sz="1150" dirty="0">
                <a:solidFill>
                  <a:srgbClr val="1D4F4B"/>
                </a:solidFill>
                <a:latin typeface="Calibri" pitchFamily="34" charset="0"/>
                <a:ea typeface="Calibri" pitchFamily="34" charset="-122"/>
                <a:cs typeface="Calibri" pitchFamily="34" charset="-120"/>
              </a:rPr>
              <a:t>powerbi-authoring bundles the two on the left and registers the Authoring MCP server for you</a:t>
            </a:r>
            <a:endParaRPr lang="en-US" sz="1150" dirty="0"/>
          </a:p>
        </p:txBody>
      </p:sp>
      <p:sp>
        <p:nvSpPr>
          <p:cNvPr id="30" name="Shape 27"/>
          <p:cNvSpPr/>
          <p:nvPr/>
        </p:nvSpPr>
        <p:spPr>
          <a:xfrm>
            <a:off x="566928" y="5010912"/>
            <a:ext cx="11055096" cy="822960"/>
          </a:xfrm>
          <a:prstGeom prst="roundRect">
            <a:avLst>
              <a:gd name="adj" fmla="val 10000"/>
            </a:avLst>
          </a:prstGeom>
          <a:solidFill>
            <a:srgbClr val="FBF0EF"/>
          </a:solidFill>
          <a:ln w="12700">
            <a:solidFill>
              <a:srgbClr val="EBC9C6"/>
            </a:solidFill>
            <a:prstDash val="solid"/>
          </a:ln>
        </p:spPr>
        <p:txBody>
          <a:bodyPr/>
          <a:p/>
        </p:txBody>
      </p:sp>
      <p:sp>
        <p:nvSpPr>
          <p:cNvPr id="31" name="Text 28"/>
          <p:cNvSpPr/>
          <p:nvPr/>
        </p:nvSpPr>
        <p:spPr>
          <a:xfrm>
            <a:off x="859536" y="5010912"/>
            <a:ext cx="10469880" cy="822960"/>
          </a:xfrm>
          <a:prstGeom prst="rect">
            <a:avLst/>
          </a:prstGeom>
          <a:noFill/>
          <a:ln/>
        </p:spPr>
        <p:txBody>
          <a:bodyPr wrap="square" lIns="0" tIns="0" rIns="0" bIns="0" rtlCol="0" anchor="ctr"/>
          <a:lstStyle/>
          <a:p>
            <a:pPr indent="0" marL="0">
              <a:buNone/>
            </a:pPr>
            <a:r>
              <a:rPr lang="en-US" sz="1200" b="1" dirty="0">
                <a:solidFill>
                  <a:srgbClr val="7A3B36"/>
                </a:solidFill>
                <a:latin typeface="Calibri" pitchFamily="34" charset="0"/>
                <a:ea typeface="Calibri" pitchFamily="34" charset="-122"/>
                <a:cs typeface="Calibri" pitchFamily="34" charset="-120"/>
              </a:rPr>
              <a:t>Careful with older posts: the four powerbi-report-* skills were merged into powerbi-report-cli in 0.3.17, and fabric-authoring, fabric-consumption, fabric-operations and skills-for-fabric are deprecated aliases. Two live plugins: fabric-skills and powerbi-authoring.</a:t>
            </a:r>
            <a:endParaRPr lang="en-US" sz="1200" dirty="0"/>
          </a:p>
        </p:txBody>
      </p:sp>
      <p:sp>
        <p:nvSpPr>
          <p:cNvPr id="32" name="Text 29"/>
          <p:cNvSpPr/>
          <p:nvPr/>
        </p:nvSpPr>
        <p:spPr>
          <a:xfrm>
            <a:off x="566928" y="5943600"/>
            <a:ext cx="8311896" cy="384048"/>
          </a:xfrm>
          <a:prstGeom prst="rect">
            <a:avLst/>
          </a:prstGeom>
          <a:noFill/>
          <a:ln/>
        </p:spPr>
        <p:txBody>
          <a:bodyPr wrap="square" lIns="0" tIns="0" rIns="0" bIns="0"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Open source (MIT) at github.com/microsoft/skills-for-fabric — checked against v0.3.18, 24 Sep 2026.</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9134856" y="6381598"/>
            <a:ext cx="310896" cy="20117"/>
          </a:xfrm>
          <a:prstGeom prst="rect">
            <a:avLst/>
          </a:prstGeom>
          <a:solidFill>
            <a:srgbClr val="1F9E96"/>
          </a:solidFill>
          <a:ln w="12700">
            <a:solidFill>
              <a:srgbClr val="1F9E96"/>
            </a:solidFill>
            <a:prstDash val="solid"/>
          </a:ln>
        </p:spPr>
        <p:txBody>
          <a:bodyPr/>
          <a:p/>
        </p:txBody>
      </p:sp>
      <p:sp>
        <p:nvSpPr>
          <p:cNvPr id="4" name="Text 1"/>
          <p:cNvSpPr/>
          <p:nvPr/>
        </p:nvSpPr>
        <p:spPr>
          <a:xfrm>
            <a:off x="9518904" y="6272784"/>
            <a:ext cx="2103120" cy="237744"/>
          </a:xfrm>
          <a:prstGeom prst="rect">
            <a:avLst/>
          </a:prstGeom>
          <a:noFill/>
          <a:ln/>
        </p:spPr>
        <p:txBody>
          <a:bodyPr wrap="square" lIns="0" tIns="0" rIns="0" bIns="0" rtlCol="0" anchor="ctr"/>
          <a:lstStyle/>
          <a:p>
            <a:pPr algn="r" indent="0" marL="0">
              <a:buNone/>
            </a:pPr>
            <a:r>
              <a:rPr lang="en-US" sz="900" b="1" spc="120" kern="0" dirty="0">
                <a:solidFill>
                  <a:srgbClr val="6B7280"/>
                </a:solidFill>
                <a:latin typeface="Calibri" pitchFamily="34" charset="0"/>
                <a:ea typeface="Calibri" pitchFamily="34" charset="-122"/>
                <a:cs typeface="Calibri" pitchFamily="34" charset="-120"/>
              </a:rPr>
              <a:t>20 / 22  ·  PLATFORM</a:t>
            </a:r>
            <a:endParaRPr lang="en-US" sz="900" dirty="0"/>
          </a:p>
        </p:txBody>
      </p:sp>
      <p:sp>
        <p:nvSpPr>
          <p:cNvPr id="5" name="Shape 2"/>
          <p:cNvSpPr/>
          <p:nvPr/>
        </p:nvSpPr>
        <p:spPr>
          <a:xfrm>
            <a:off x="566928" y="274320"/>
            <a:ext cx="566928" cy="41148"/>
          </a:xfrm>
          <a:prstGeom prst="rect">
            <a:avLst/>
          </a:prstGeom>
          <a:solidFill>
            <a:srgbClr val="1F9E96"/>
          </a:solidFill>
          <a:ln w="12700">
            <a:solidFill>
              <a:srgbClr val="1F9E96"/>
            </a:solidFill>
            <a:prstDash val="solid"/>
          </a:ln>
        </p:spPr>
        <p:txBody>
          <a:bodyPr/>
          <a:p/>
        </p:txBody>
      </p:sp>
      <p:sp>
        <p:nvSpPr>
          <p:cNvPr id="6" name="Text 3"/>
          <p:cNvSpPr/>
          <p:nvPr/>
        </p:nvSpPr>
        <p:spPr>
          <a:xfrm>
            <a:off x="566928" y="402336"/>
            <a:ext cx="11055096" cy="256032"/>
          </a:xfrm>
          <a:prstGeom prst="rect">
            <a:avLst/>
          </a:prstGeom>
          <a:noFill/>
          <a:ln/>
        </p:spPr>
        <p:txBody>
          <a:bodyPr wrap="square" lIns="0" tIns="0" rIns="0" bIns="0" rtlCol="0" anchor="ctr"/>
          <a:lstStyle/>
          <a:p>
            <a:pPr indent="0" marL="0">
              <a:buNone/>
            </a:pPr>
            <a:r>
              <a:rPr lang="en-US" sz="1100" b="1" spc="220" kern="0" dirty="0">
                <a:solidFill>
                  <a:srgbClr val="1F9E96"/>
                </a:solidFill>
                <a:latin typeface="Calibri" pitchFamily="34" charset="0"/>
                <a:ea typeface="Calibri" pitchFamily="34" charset="-122"/>
                <a:cs typeface="Calibri" pitchFamily="34" charset="-120"/>
              </a:rPr>
              <a:t>NEW</a:t>
            </a:r>
            <a:endParaRPr lang="en-US" sz="1100" dirty="0"/>
          </a:p>
        </p:txBody>
      </p:sp>
      <p:sp>
        <p:nvSpPr>
          <p:cNvPr id="7" name="Text 4"/>
          <p:cNvSpPr/>
          <p:nvPr/>
        </p:nvSpPr>
        <p:spPr>
          <a:xfrm>
            <a:off x="566928" y="676656"/>
            <a:ext cx="11055096" cy="621792"/>
          </a:xfrm>
          <a:prstGeom prst="rect">
            <a:avLst/>
          </a:prstGeom>
          <a:noFill/>
          <a:ln/>
        </p:spPr>
        <p:txBody>
          <a:bodyPr wrap="square" lIns="0" tIns="0" rIns="0" bIns="0" rtlCol="0" anchor="ctr"/>
          <a:lstStyle/>
          <a:p>
            <a:pPr indent="0" marL="0">
              <a:buNone/>
            </a:pPr>
            <a:r>
              <a:rPr lang="en-US" sz="3400" b="1" dirty="0">
                <a:solidFill>
                  <a:srgbClr val="14182E"/>
                </a:solidFill>
                <a:latin typeface="Cambria" pitchFamily="34" charset="0"/>
                <a:ea typeface="Cambria" pitchFamily="34" charset="-122"/>
                <a:cs typeface="Cambria" pitchFamily="34" charset="-120"/>
              </a:rPr>
              <a:t>Installing the skills: four routes</a:t>
            </a:r>
            <a:endParaRPr lang="en-US" sz="3400" dirty="0"/>
          </a:p>
        </p:txBody>
      </p:sp>
      <p:sp>
        <p:nvSpPr>
          <p:cNvPr id="8" name="Shape 5"/>
          <p:cNvSpPr/>
          <p:nvPr/>
        </p:nvSpPr>
        <p:spPr>
          <a:xfrm>
            <a:off x="566928" y="1426464"/>
            <a:ext cx="5344668" cy="1627632"/>
          </a:xfrm>
          <a:prstGeom prst="roundRect">
            <a:avLst>
              <a:gd name="adj" fmla="val 5056"/>
            </a:avLst>
          </a:prstGeom>
          <a:solidFill>
            <a:srgbClr val="FDF6E3"/>
          </a:solidFill>
          <a:ln w="12700">
            <a:solidFill>
              <a:srgbClr val="EBD9A8"/>
            </a:solidFill>
            <a:prstDash val="solid"/>
          </a:ln>
          <a:effectLst>
            <a:outerShdw sx="100000" sy="100000" kx="0" ky="0" algn="bl" rotWithShape="0" blurRad="127000" dist="25400" dir="5400000">
              <a:srgbClr val="9AA0B5">
                <a:alpha val="28000"/>
              </a:srgbClr>
            </a:outerShdw>
          </a:effectLst>
        </p:spPr>
        <p:txBody>
          <a:bodyPr/>
          <a:p/>
        </p:txBody>
      </p:sp>
      <p:sp>
        <p:nvSpPr>
          <p:cNvPr id="9" name="Shape 6"/>
          <p:cNvSpPr/>
          <p:nvPr/>
        </p:nvSpPr>
        <p:spPr>
          <a:xfrm>
            <a:off x="786384" y="1591056"/>
            <a:ext cx="365760" cy="365760"/>
          </a:xfrm>
          <a:prstGeom prst="ellipse">
            <a:avLst/>
          </a:prstGeom>
          <a:solidFill>
            <a:srgbClr val="F2C230"/>
          </a:solidFill>
          <a:ln w="12700">
            <a:solidFill>
              <a:srgbClr val="F2C230"/>
            </a:solidFill>
            <a:prstDash val="solid"/>
          </a:ln>
        </p:spPr>
        <p:txBody>
          <a:bodyPr/>
          <a:p/>
        </p:txBody>
      </p:sp>
      <p:sp>
        <p:nvSpPr>
          <p:cNvPr id="10" name="Text 7"/>
          <p:cNvSpPr/>
          <p:nvPr/>
        </p:nvSpPr>
        <p:spPr>
          <a:xfrm>
            <a:off x="786384" y="1591056"/>
            <a:ext cx="365760" cy="365760"/>
          </a:xfrm>
          <a:prstGeom prst="rect">
            <a:avLst/>
          </a:prstGeom>
          <a:noFill/>
          <a:ln/>
        </p:spPr>
        <p:txBody>
          <a:bodyPr wrap="square" lIns="0" tIns="0" rIns="0" bIns="0" rtlCol="0" anchor="ctr"/>
          <a:lstStyle/>
          <a:p>
            <a:pPr algn="ctr" indent="0" marL="0">
              <a:buNone/>
            </a:pPr>
            <a:r>
              <a:rPr lang="en-US" sz="1200" b="1" dirty="0">
                <a:solidFill>
                  <a:srgbClr val="14182E"/>
                </a:solidFill>
                <a:latin typeface="Calibri" pitchFamily="34" charset="0"/>
                <a:ea typeface="Calibri" pitchFamily="34" charset="-122"/>
                <a:cs typeface="Calibri" pitchFamily="34" charset="-120"/>
              </a:rPr>
              <a:t>1</a:t>
            </a:r>
            <a:endParaRPr lang="en-US" sz="1200" dirty="0"/>
          </a:p>
        </p:txBody>
      </p:sp>
      <p:sp>
        <p:nvSpPr>
          <p:cNvPr id="11" name="Text 8"/>
          <p:cNvSpPr/>
          <p:nvPr/>
        </p:nvSpPr>
        <p:spPr>
          <a:xfrm>
            <a:off x="1261872" y="1591056"/>
            <a:ext cx="2601468" cy="329184"/>
          </a:xfrm>
          <a:prstGeom prst="rect">
            <a:avLst/>
          </a:prstGeom>
          <a:noFill/>
          <a:ln/>
        </p:spPr>
        <p:txBody>
          <a:bodyPr wrap="square" lIns="0" tIns="0" rIns="0" bIns="0" rtlCol="0" anchor="ctr"/>
          <a:lstStyle/>
          <a:p>
            <a:pPr indent="0" marL="0">
              <a:buNone/>
            </a:pPr>
            <a:r>
              <a:rPr lang="en-US" sz="1700" b="1" dirty="0">
                <a:solidFill>
                  <a:srgbClr val="14182E"/>
                </a:solidFill>
                <a:latin typeface="Cambria" pitchFamily="34" charset="0"/>
                <a:ea typeface="Cambria" pitchFamily="34" charset="-122"/>
                <a:cs typeface="Cambria" pitchFamily="34" charset="-120"/>
              </a:rPr>
              <a:t>GitHub Copilot CLI</a:t>
            </a:r>
            <a:endParaRPr lang="en-US" sz="1700" dirty="0"/>
          </a:p>
        </p:txBody>
      </p:sp>
      <p:sp>
        <p:nvSpPr>
          <p:cNvPr id="12" name="Text 9"/>
          <p:cNvSpPr/>
          <p:nvPr/>
        </p:nvSpPr>
        <p:spPr>
          <a:xfrm>
            <a:off x="3808476" y="1645920"/>
            <a:ext cx="1883664" cy="237744"/>
          </a:xfrm>
          <a:prstGeom prst="rect">
            <a:avLst/>
          </a:prstGeom>
          <a:noFill/>
          <a:ln/>
        </p:spPr>
        <p:txBody>
          <a:bodyPr wrap="square" lIns="0" tIns="0" rIns="0" bIns="0" rtlCol="0" anchor="ctr"/>
          <a:lstStyle/>
          <a:p>
            <a:pPr algn="r" indent="0" marL="0">
              <a:buNone/>
            </a:pPr>
            <a:r>
              <a:rPr lang="en-US" sz="1000" i="1" dirty="0">
                <a:solidFill>
                  <a:srgbClr val="6B7280"/>
                </a:solidFill>
                <a:latin typeface="Calibri" pitchFamily="34" charset="0"/>
                <a:ea typeface="Calibri" pitchFamily="34" charset="-122"/>
                <a:cs typeface="Calibri" pitchFamily="34" charset="-120"/>
              </a:rPr>
              <a:t>what the docs recommend</a:t>
            </a:r>
            <a:endParaRPr lang="en-US" sz="1000" dirty="0"/>
          </a:p>
        </p:txBody>
      </p:sp>
      <p:sp>
        <p:nvSpPr>
          <p:cNvPr id="13" name="Shape 10"/>
          <p:cNvSpPr/>
          <p:nvPr/>
        </p:nvSpPr>
        <p:spPr>
          <a:xfrm>
            <a:off x="786384" y="2029968"/>
            <a:ext cx="4905756" cy="610362"/>
          </a:xfrm>
          <a:prstGeom prst="roundRect">
            <a:avLst>
              <a:gd name="adj" fmla="val 8989"/>
            </a:avLst>
          </a:prstGeom>
          <a:solidFill>
            <a:srgbClr val="14182E"/>
          </a:solidFill>
          <a:ln w="12700">
            <a:solidFill>
              <a:srgbClr val="232A52"/>
            </a:solidFill>
            <a:prstDash val="solid"/>
          </a:ln>
        </p:spPr>
        <p:txBody>
          <a:bodyPr/>
          <a:p/>
        </p:txBody>
      </p:sp>
      <p:sp>
        <p:nvSpPr>
          <p:cNvPr id="14" name="Text 11"/>
          <p:cNvSpPr/>
          <p:nvPr/>
        </p:nvSpPr>
        <p:spPr>
          <a:xfrm>
            <a:off x="932688" y="2139696"/>
            <a:ext cx="4613148" cy="390906"/>
          </a:xfrm>
          <a:prstGeom prst="rect">
            <a:avLst/>
          </a:prstGeom>
          <a:noFill/>
          <a:ln/>
        </p:spPr>
        <p:txBody>
          <a:bodyPr wrap="square" lIns="0" tIns="0" rIns="0" bIns="0" rtlCol="0" anchor="t"/>
          <a:lstStyle/>
          <a:p>
            <a:pPr indent="0" marL="0">
              <a:lnSpc>
                <a:spcPct val="118000"/>
              </a:lnSpc>
              <a:buNone/>
            </a:pPr>
            <a:r>
              <a:rPr lang="en-US" sz="900" dirty="0">
                <a:solidFill>
                  <a:srgbClr val="FFFFFF"/>
                </a:solidFill>
                <a:latin typeface="Courier New" pitchFamily="34" charset="0"/>
                <a:ea typeface="Courier New" pitchFamily="34" charset="-122"/>
                <a:cs typeface="Courier New" pitchFamily="34" charset="-120"/>
              </a:rPr>
              <a:t>copilot plugin marketplace add microsoft/skills-for-fabric</a:t>
            </a:r>
            <a:endParaRPr lang="en-US" sz="900" dirty="0"/>
          </a:p>
          <a:p>
            <a:pPr indent="0" marL="0">
              <a:lnSpc>
                <a:spcPct val="118000"/>
              </a:lnSpc>
              <a:buNone/>
            </a:pPr>
            <a:r>
              <a:rPr lang="en-US" sz="900" dirty="0">
                <a:solidFill>
                  <a:srgbClr val="FFFFFF"/>
                </a:solidFill>
                <a:latin typeface="Courier New" pitchFamily="34" charset="0"/>
                <a:ea typeface="Courier New" pitchFamily="34" charset="-122"/>
                <a:cs typeface="Courier New" pitchFamily="34" charset="-120"/>
              </a:rPr>
              <a:t>copilot plugin install powerbi-authoring@fabric-collection</a:t>
            </a:r>
            <a:endParaRPr lang="en-US" sz="900" dirty="0"/>
          </a:p>
        </p:txBody>
      </p:sp>
      <p:sp>
        <p:nvSpPr>
          <p:cNvPr id="15" name="Text 12"/>
          <p:cNvSpPr/>
          <p:nvPr/>
        </p:nvSpPr>
        <p:spPr>
          <a:xfrm>
            <a:off x="786384" y="2695194"/>
            <a:ext cx="4905756" cy="256032"/>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Verify with /skills. Registers the Authoring MCP server too.</a:t>
            </a:r>
            <a:endParaRPr lang="en-US" sz="1050" dirty="0"/>
          </a:p>
        </p:txBody>
      </p:sp>
      <p:sp>
        <p:nvSpPr>
          <p:cNvPr id="16" name="Shape 13"/>
          <p:cNvSpPr/>
          <p:nvPr/>
        </p:nvSpPr>
        <p:spPr>
          <a:xfrm>
            <a:off x="6277356" y="1426464"/>
            <a:ext cx="5344668" cy="1627632"/>
          </a:xfrm>
          <a:prstGeom prst="roundRect">
            <a:avLst>
              <a:gd name="adj" fmla="val 5056"/>
            </a:avLst>
          </a:prstGeom>
          <a:solidFill>
            <a:srgbClr val="EDF7F6"/>
          </a:solidFill>
          <a:ln w="12700">
            <a:solidFill>
              <a:srgbClr val="C7E4E1"/>
            </a:solidFill>
            <a:prstDash val="solid"/>
          </a:ln>
          <a:effectLst>
            <a:outerShdw sx="100000" sy="100000" kx="0" ky="0" algn="bl" rotWithShape="0" blurRad="127000" dist="25400" dir="5400000">
              <a:srgbClr val="9AA0B5">
                <a:alpha val="28000"/>
              </a:srgbClr>
            </a:outerShdw>
          </a:effectLst>
        </p:spPr>
        <p:txBody>
          <a:bodyPr/>
          <a:p/>
        </p:txBody>
      </p:sp>
      <p:sp>
        <p:nvSpPr>
          <p:cNvPr id="17" name="Shape 14"/>
          <p:cNvSpPr/>
          <p:nvPr/>
        </p:nvSpPr>
        <p:spPr>
          <a:xfrm>
            <a:off x="6496812" y="1591056"/>
            <a:ext cx="365760" cy="365760"/>
          </a:xfrm>
          <a:prstGeom prst="ellipse">
            <a:avLst/>
          </a:prstGeom>
          <a:solidFill>
            <a:srgbClr val="F2C230"/>
          </a:solidFill>
          <a:ln w="12700">
            <a:solidFill>
              <a:srgbClr val="F2C230"/>
            </a:solidFill>
            <a:prstDash val="solid"/>
          </a:ln>
        </p:spPr>
        <p:txBody>
          <a:bodyPr/>
          <a:p/>
        </p:txBody>
      </p:sp>
      <p:sp>
        <p:nvSpPr>
          <p:cNvPr id="18" name="Text 15"/>
          <p:cNvSpPr/>
          <p:nvPr/>
        </p:nvSpPr>
        <p:spPr>
          <a:xfrm>
            <a:off x="6496812" y="1591056"/>
            <a:ext cx="365760" cy="365760"/>
          </a:xfrm>
          <a:prstGeom prst="rect">
            <a:avLst/>
          </a:prstGeom>
          <a:noFill/>
          <a:ln/>
        </p:spPr>
        <p:txBody>
          <a:bodyPr wrap="square" lIns="0" tIns="0" rIns="0" bIns="0" rtlCol="0" anchor="ctr"/>
          <a:lstStyle/>
          <a:p>
            <a:pPr algn="ctr" indent="0" marL="0">
              <a:buNone/>
            </a:pPr>
            <a:r>
              <a:rPr lang="en-US" sz="1200" b="1" dirty="0">
                <a:solidFill>
                  <a:srgbClr val="14182E"/>
                </a:solidFill>
                <a:latin typeface="Calibri" pitchFamily="34" charset="0"/>
                <a:ea typeface="Calibri" pitchFamily="34" charset="-122"/>
                <a:cs typeface="Calibri" pitchFamily="34" charset="-120"/>
              </a:rPr>
              <a:t>2</a:t>
            </a:r>
            <a:endParaRPr lang="en-US" sz="1200" dirty="0"/>
          </a:p>
        </p:txBody>
      </p:sp>
      <p:sp>
        <p:nvSpPr>
          <p:cNvPr id="19" name="Text 16"/>
          <p:cNvSpPr/>
          <p:nvPr/>
        </p:nvSpPr>
        <p:spPr>
          <a:xfrm>
            <a:off x="6972300" y="1591056"/>
            <a:ext cx="2601468" cy="329184"/>
          </a:xfrm>
          <a:prstGeom prst="rect">
            <a:avLst/>
          </a:prstGeom>
          <a:noFill/>
          <a:ln/>
        </p:spPr>
        <p:txBody>
          <a:bodyPr wrap="square" lIns="0" tIns="0" rIns="0" bIns="0" rtlCol="0" anchor="ctr"/>
          <a:lstStyle/>
          <a:p>
            <a:pPr indent="0" marL="0">
              <a:buNone/>
            </a:pPr>
            <a:r>
              <a:rPr lang="en-US" sz="1700" b="1" dirty="0">
                <a:solidFill>
                  <a:srgbClr val="14182E"/>
                </a:solidFill>
                <a:latin typeface="Cambria" pitchFamily="34" charset="0"/>
                <a:ea typeface="Cambria" pitchFamily="34" charset="-122"/>
                <a:cs typeface="Cambria" pitchFamily="34" charset="-120"/>
              </a:rPr>
              <a:t>VS Code</a:t>
            </a:r>
            <a:endParaRPr lang="en-US" sz="1700" dirty="0"/>
          </a:p>
        </p:txBody>
      </p:sp>
      <p:sp>
        <p:nvSpPr>
          <p:cNvPr id="20" name="Text 17"/>
          <p:cNvSpPr/>
          <p:nvPr/>
        </p:nvSpPr>
        <p:spPr>
          <a:xfrm>
            <a:off x="9518904" y="1645920"/>
            <a:ext cx="1883664" cy="237744"/>
          </a:xfrm>
          <a:prstGeom prst="rect">
            <a:avLst/>
          </a:prstGeom>
          <a:noFill/>
          <a:ln/>
        </p:spPr>
        <p:txBody>
          <a:bodyPr wrap="square" lIns="0" tIns="0" rIns="0" bIns="0" rtlCol="0" anchor="ctr"/>
          <a:lstStyle/>
          <a:p>
            <a:pPr algn="r" indent="0" marL="0">
              <a:buNone/>
            </a:pPr>
            <a:r>
              <a:rPr lang="en-US" sz="1000" i="1" dirty="0">
                <a:solidFill>
                  <a:srgbClr val="6B7280"/>
                </a:solidFill>
                <a:latin typeface="Calibri" pitchFamily="34" charset="0"/>
                <a:ea typeface="Calibri" pitchFamily="34" charset="-122"/>
                <a:cs typeface="Calibri" pitchFamily="34" charset="-120"/>
              </a:rPr>
              <a:t>no terminal</a:t>
            </a:r>
            <a:endParaRPr lang="en-US" sz="1000" dirty="0"/>
          </a:p>
        </p:txBody>
      </p:sp>
      <p:sp>
        <p:nvSpPr>
          <p:cNvPr id="21" name="Text 18"/>
          <p:cNvSpPr/>
          <p:nvPr/>
        </p:nvSpPr>
        <p:spPr>
          <a:xfrm>
            <a:off x="6496812" y="2011680"/>
            <a:ext cx="4905756" cy="969264"/>
          </a:xfrm>
          <a:prstGeom prst="rect">
            <a:avLst/>
          </a:prstGeom>
          <a:noFill/>
          <a:ln/>
        </p:spPr>
        <p:txBody>
          <a:bodyPr wrap="square" lIns="0" tIns="0" rIns="0" bIns="0" rtlCol="0" anchor="t"/>
          <a:lstStyle/>
          <a:p>
            <a:pPr marL="342900" indent="-342900">
              <a:lnSpc>
                <a:spcPct val="115000"/>
              </a:lnSpc>
              <a:spcAft>
                <a:spcPts val="300"/>
              </a:spcAft>
              <a:buSzPct val="100000"/>
              <a:buChar char="•"/>
            </a:pPr>
            <a:r>
              <a:rPr lang="en-US" sz="1050" dirty="0">
                <a:solidFill>
                  <a:srgbClr val="6B7280"/>
                </a:solidFill>
                <a:latin typeface="Calibri" pitchFamily="34" charset="0"/>
                <a:ea typeface="Calibri" pitchFamily="34" charset="-122"/>
                <a:cs typeface="Calibri" pitchFamily="34" charset="-120"/>
              </a:rPr>
              <a:t>Customize AI → search the plugin powerbi-authoring</a:t>
            </a:r>
            <a:endParaRPr lang="en-US" sz="1050" dirty="0"/>
          </a:p>
          <a:p>
            <a:pPr marL="342900" indent="-342900">
              <a:lnSpc>
                <a:spcPct val="115000"/>
              </a:lnSpc>
              <a:spcAft>
                <a:spcPts val="300"/>
              </a:spcAft>
              <a:buSzPct val="100000"/>
              <a:buChar char="•"/>
            </a:pPr>
            <a:r>
              <a:rPr lang="en-US" sz="1050" dirty="0">
                <a:solidFill>
                  <a:srgbClr val="6B7280"/>
                </a:solidFill>
                <a:latin typeface="Calibri" pitchFamily="34" charset="0"/>
                <a:ea typeface="Calibri" pitchFamily="34" charset="-122"/>
                <a:cs typeface="Calibri" pitchFamily="34" charset="-120"/>
              </a:rPr>
              <a:t>Skills load from .github/, .claude/ or .agents/skills (project) and ~/.copilot/, ~/.claude/ or ~/.agents/skills (user)</a:t>
            </a:r>
            <a:endParaRPr lang="en-US" sz="1050" dirty="0"/>
          </a:p>
        </p:txBody>
      </p:sp>
      <p:sp>
        <p:nvSpPr>
          <p:cNvPr id="22" name="Shape 19"/>
          <p:cNvSpPr/>
          <p:nvPr/>
        </p:nvSpPr>
        <p:spPr>
          <a:xfrm>
            <a:off x="566928" y="3163824"/>
            <a:ext cx="5344668" cy="1627632"/>
          </a:xfrm>
          <a:prstGeom prst="roundRect">
            <a:avLst>
              <a:gd name="adj" fmla="val 5056"/>
            </a:avLst>
          </a:prstGeom>
          <a:solidFill>
            <a:srgbClr val="FAFAFD"/>
          </a:solidFill>
          <a:ln w="12700">
            <a:solidFill>
              <a:srgbClr val="DFE2EC"/>
            </a:solidFill>
            <a:prstDash val="solid"/>
          </a:ln>
          <a:effectLst>
            <a:outerShdw sx="100000" sy="100000" kx="0" ky="0" algn="bl" rotWithShape="0" blurRad="127000" dist="25400" dir="5400000">
              <a:srgbClr val="9AA0B5">
                <a:alpha val="28000"/>
              </a:srgbClr>
            </a:outerShdw>
          </a:effectLst>
        </p:spPr>
        <p:txBody>
          <a:bodyPr/>
          <a:p/>
        </p:txBody>
      </p:sp>
      <p:sp>
        <p:nvSpPr>
          <p:cNvPr id="23" name="Shape 20"/>
          <p:cNvSpPr/>
          <p:nvPr/>
        </p:nvSpPr>
        <p:spPr>
          <a:xfrm>
            <a:off x="786384" y="3328416"/>
            <a:ext cx="365760" cy="365760"/>
          </a:xfrm>
          <a:prstGeom prst="ellipse">
            <a:avLst/>
          </a:prstGeom>
          <a:solidFill>
            <a:srgbClr val="F2C230"/>
          </a:solidFill>
          <a:ln w="12700">
            <a:solidFill>
              <a:srgbClr val="F2C230"/>
            </a:solidFill>
            <a:prstDash val="solid"/>
          </a:ln>
        </p:spPr>
        <p:txBody>
          <a:bodyPr/>
          <a:p/>
        </p:txBody>
      </p:sp>
      <p:sp>
        <p:nvSpPr>
          <p:cNvPr id="24" name="Text 21"/>
          <p:cNvSpPr/>
          <p:nvPr/>
        </p:nvSpPr>
        <p:spPr>
          <a:xfrm>
            <a:off x="786384" y="3328416"/>
            <a:ext cx="365760" cy="365760"/>
          </a:xfrm>
          <a:prstGeom prst="rect">
            <a:avLst/>
          </a:prstGeom>
          <a:noFill/>
          <a:ln/>
        </p:spPr>
        <p:txBody>
          <a:bodyPr wrap="square" lIns="0" tIns="0" rIns="0" bIns="0" rtlCol="0" anchor="ctr"/>
          <a:lstStyle/>
          <a:p>
            <a:pPr algn="ctr" indent="0" marL="0">
              <a:buNone/>
            </a:pPr>
            <a:r>
              <a:rPr lang="en-US" sz="1200" b="1" dirty="0">
                <a:solidFill>
                  <a:srgbClr val="14182E"/>
                </a:solidFill>
                <a:latin typeface="Calibri" pitchFamily="34" charset="0"/>
                <a:ea typeface="Calibri" pitchFamily="34" charset="-122"/>
                <a:cs typeface="Calibri" pitchFamily="34" charset="-120"/>
              </a:rPr>
              <a:t>3</a:t>
            </a:r>
            <a:endParaRPr lang="en-US" sz="1200" dirty="0"/>
          </a:p>
        </p:txBody>
      </p:sp>
      <p:sp>
        <p:nvSpPr>
          <p:cNvPr id="25" name="Text 22"/>
          <p:cNvSpPr/>
          <p:nvPr/>
        </p:nvSpPr>
        <p:spPr>
          <a:xfrm>
            <a:off x="1261872" y="3328416"/>
            <a:ext cx="2601468" cy="329184"/>
          </a:xfrm>
          <a:prstGeom prst="rect">
            <a:avLst/>
          </a:prstGeom>
          <a:noFill/>
          <a:ln/>
        </p:spPr>
        <p:txBody>
          <a:bodyPr wrap="square" lIns="0" tIns="0" rIns="0" bIns="0" rtlCol="0" anchor="ctr"/>
          <a:lstStyle/>
          <a:p>
            <a:pPr indent="0" marL="0">
              <a:buNone/>
            </a:pPr>
            <a:r>
              <a:rPr lang="en-US" sz="1700" b="1" dirty="0">
                <a:solidFill>
                  <a:srgbClr val="14182E"/>
                </a:solidFill>
                <a:latin typeface="Cambria" pitchFamily="34" charset="0"/>
                <a:ea typeface="Cambria" pitchFamily="34" charset="-122"/>
                <a:cs typeface="Cambria" pitchFamily="34" charset="-120"/>
              </a:rPr>
              <a:t>APM — one skill</a:t>
            </a:r>
            <a:endParaRPr lang="en-US" sz="1700" dirty="0"/>
          </a:p>
        </p:txBody>
      </p:sp>
      <p:sp>
        <p:nvSpPr>
          <p:cNvPr id="26" name="Text 23"/>
          <p:cNvSpPr/>
          <p:nvPr/>
        </p:nvSpPr>
        <p:spPr>
          <a:xfrm>
            <a:off x="3808476" y="3383280"/>
            <a:ext cx="1883664" cy="237744"/>
          </a:xfrm>
          <a:prstGeom prst="rect">
            <a:avLst/>
          </a:prstGeom>
          <a:noFill/>
          <a:ln/>
        </p:spPr>
        <p:txBody>
          <a:bodyPr wrap="square" lIns="0" tIns="0" rIns="0" bIns="0" rtlCol="0" anchor="ctr"/>
          <a:lstStyle/>
          <a:p>
            <a:pPr algn="r" indent="0" marL="0">
              <a:buNone/>
            </a:pPr>
            <a:r>
              <a:rPr lang="en-US" sz="1000" i="1" dirty="0">
                <a:solidFill>
                  <a:srgbClr val="6B7280"/>
                </a:solidFill>
                <a:latin typeface="Calibri" pitchFamily="34" charset="0"/>
                <a:ea typeface="Calibri" pitchFamily="34" charset="-122"/>
                <a:cs typeface="Calibri" pitchFamily="34" charset="-120"/>
              </a:rPr>
              <a:t>new in 0.3.16</a:t>
            </a:r>
            <a:endParaRPr lang="en-US" sz="1000" dirty="0"/>
          </a:p>
        </p:txBody>
      </p:sp>
      <p:sp>
        <p:nvSpPr>
          <p:cNvPr id="27" name="Shape 24"/>
          <p:cNvSpPr/>
          <p:nvPr/>
        </p:nvSpPr>
        <p:spPr>
          <a:xfrm>
            <a:off x="786384" y="3767328"/>
            <a:ext cx="4905756" cy="610362"/>
          </a:xfrm>
          <a:prstGeom prst="roundRect">
            <a:avLst>
              <a:gd name="adj" fmla="val 8989"/>
            </a:avLst>
          </a:prstGeom>
          <a:solidFill>
            <a:srgbClr val="14182E"/>
          </a:solidFill>
          <a:ln w="12700">
            <a:solidFill>
              <a:srgbClr val="232A52"/>
            </a:solidFill>
            <a:prstDash val="solid"/>
          </a:ln>
        </p:spPr>
        <p:txBody>
          <a:bodyPr/>
          <a:p/>
        </p:txBody>
      </p:sp>
      <p:sp>
        <p:nvSpPr>
          <p:cNvPr id="28" name="Text 25"/>
          <p:cNvSpPr/>
          <p:nvPr/>
        </p:nvSpPr>
        <p:spPr>
          <a:xfrm>
            <a:off x="932688" y="3877056"/>
            <a:ext cx="4613148" cy="390906"/>
          </a:xfrm>
          <a:prstGeom prst="rect">
            <a:avLst/>
          </a:prstGeom>
          <a:noFill/>
          <a:ln/>
        </p:spPr>
        <p:txBody>
          <a:bodyPr wrap="square" lIns="0" tIns="0" rIns="0" bIns="0" rtlCol="0" anchor="t"/>
          <a:lstStyle/>
          <a:p>
            <a:pPr indent="0" marL="0">
              <a:lnSpc>
                <a:spcPct val="118000"/>
              </a:lnSpc>
              <a:buNone/>
            </a:pPr>
            <a:r>
              <a:rPr lang="en-US" sz="900" dirty="0">
                <a:solidFill>
                  <a:srgbClr val="FFFFFF"/>
                </a:solidFill>
                <a:latin typeface="Courier New" pitchFamily="34" charset="0"/>
                <a:ea typeface="Courier New" pitchFamily="34" charset="-122"/>
                <a:cs typeface="Courier New" pitchFamily="34" charset="-120"/>
              </a:rPr>
              <a:t>apm install microsoft/skills-for-fabric \</a:t>
            </a:r>
            <a:endParaRPr lang="en-US" sz="900" dirty="0"/>
          </a:p>
          <a:p>
            <a:pPr indent="0" marL="0">
              <a:lnSpc>
                <a:spcPct val="118000"/>
              </a:lnSpc>
              <a:buNone/>
            </a:pPr>
            <a:r>
              <a:rPr lang="en-US" sz="900" dirty="0">
                <a:solidFill>
                  <a:srgbClr val="FFFFFF"/>
                </a:solidFill>
                <a:latin typeface="Courier New" pitchFamily="34" charset="0"/>
                <a:ea typeface="Courier New" pitchFamily="34" charset="-122"/>
                <a:cs typeface="Courier New" pitchFamily="34" charset="-120"/>
              </a:rPr>
              <a:t>  --skill semantic-model-authoring --target copilot</a:t>
            </a:r>
            <a:endParaRPr lang="en-US" sz="900" dirty="0"/>
          </a:p>
        </p:txBody>
      </p:sp>
      <p:sp>
        <p:nvSpPr>
          <p:cNvPr id="29" name="Text 26"/>
          <p:cNvSpPr/>
          <p:nvPr/>
        </p:nvSpPr>
        <p:spPr>
          <a:xfrm>
            <a:off x="786384" y="4432554"/>
            <a:ext cx="4905756" cy="256032"/>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-g = user scope. Without it, this project only.</a:t>
            </a:r>
            <a:endParaRPr lang="en-US" sz="1050" dirty="0"/>
          </a:p>
        </p:txBody>
      </p:sp>
      <p:sp>
        <p:nvSpPr>
          <p:cNvPr id="30" name="Shape 27"/>
          <p:cNvSpPr/>
          <p:nvPr/>
        </p:nvSpPr>
        <p:spPr>
          <a:xfrm>
            <a:off x="6277356" y="3163824"/>
            <a:ext cx="5344668" cy="1627632"/>
          </a:xfrm>
          <a:prstGeom prst="roundRect">
            <a:avLst>
              <a:gd name="adj" fmla="val 5056"/>
            </a:avLst>
          </a:prstGeom>
          <a:solidFill>
            <a:srgbClr val="FAFAFD"/>
          </a:solidFill>
          <a:ln w="12700">
            <a:solidFill>
              <a:srgbClr val="DFE2EC"/>
            </a:solidFill>
            <a:prstDash val="solid"/>
          </a:ln>
          <a:effectLst>
            <a:outerShdw sx="100000" sy="100000" kx="0" ky="0" algn="bl" rotWithShape="0" blurRad="127000" dist="25400" dir="5400000">
              <a:srgbClr val="9AA0B5">
                <a:alpha val="28000"/>
              </a:srgbClr>
            </a:outerShdw>
          </a:effectLst>
        </p:spPr>
        <p:txBody>
          <a:bodyPr/>
          <a:p/>
        </p:txBody>
      </p:sp>
      <p:sp>
        <p:nvSpPr>
          <p:cNvPr id="31" name="Shape 28"/>
          <p:cNvSpPr/>
          <p:nvPr/>
        </p:nvSpPr>
        <p:spPr>
          <a:xfrm>
            <a:off x="6496812" y="3328416"/>
            <a:ext cx="365760" cy="365760"/>
          </a:xfrm>
          <a:prstGeom prst="ellipse">
            <a:avLst/>
          </a:prstGeom>
          <a:solidFill>
            <a:srgbClr val="F2C230"/>
          </a:solidFill>
          <a:ln w="12700">
            <a:solidFill>
              <a:srgbClr val="F2C230"/>
            </a:solidFill>
            <a:prstDash val="solid"/>
          </a:ln>
        </p:spPr>
        <p:txBody>
          <a:bodyPr/>
          <a:p/>
        </p:txBody>
      </p:sp>
      <p:sp>
        <p:nvSpPr>
          <p:cNvPr id="32" name="Text 29"/>
          <p:cNvSpPr/>
          <p:nvPr/>
        </p:nvSpPr>
        <p:spPr>
          <a:xfrm>
            <a:off x="6496812" y="3328416"/>
            <a:ext cx="365760" cy="365760"/>
          </a:xfrm>
          <a:prstGeom prst="rect">
            <a:avLst/>
          </a:prstGeom>
          <a:noFill/>
          <a:ln/>
        </p:spPr>
        <p:txBody>
          <a:bodyPr wrap="square" lIns="0" tIns="0" rIns="0" bIns="0" rtlCol="0" anchor="ctr"/>
          <a:lstStyle/>
          <a:p>
            <a:pPr algn="ctr" indent="0" marL="0">
              <a:buNone/>
            </a:pPr>
            <a:r>
              <a:rPr lang="en-US" sz="1200" b="1" dirty="0">
                <a:solidFill>
                  <a:srgbClr val="14182E"/>
                </a:solidFill>
                <a:latin typeface="Calibri" pitchFamily="34" charset="0"/>
                <a:ea typeface="Calibri" pitchFamily="34" charset="-122"/>
                <a:cs typeface="Calibri" pitchFamily="34" charset="-120"/>
              </a:rPr>
              <a:t>4</a:t>
            </a:r>
            <a:endParaRPr lang="en-US" sz="1200" dirty="0"/>
          </a:p>
        </p:txBody>
      </p:sp>
      <p:sp>
        <p:nvSpPr>
          <p:cNvPr id="33" name="Text 30"/>
          <p:cNvSpPr/>
          <p:nvPr/>
        </p:nvSpPr>
        <p:spPr>
          <a:xfrm>
            <a:off x="6972300" y="3328416"/>
            <a:ext cx="2601468" cy="329184"/>
          </a:xfrm>
          <a:prstGeom prst="rect">
            <a:avLst/>
          </a:prstGeom>
          <a:noFill/>
          <a:ln/>
        </p:spPr>
        <p:txBody>
          <a:bodyPr wrap="square" lIns="0" tIns="0" rIns="0" bIns="0" rtlCol="0" anchor="ctr"/>
          <a:lstStyle/>
          <a:p>
            <a:pPr indent="0" marL="0">
              <a:buNone/>
            </a:pPr>
            <a:r>
              <a:rPr lang="en-US" sz="1700" b="1" dirty="0">
                <a:solidFill>
                  <a:srgbClr val="14182E"/>
                </a:solidFill>
                <a:latin typeface="Cambria" pitchFamily="34" charset="0"/>
                <a:ea typeface="Cambria" pitchFamily="34" charset="-122"/>
                <a:cs typeface="Cambria" pitchFamily="34" charset="-120"/>
              </a:rPr>
              <a:t>Manual — the ZIP</a:t>
            </a:r>
            <a:endParaRPr lang="en-US" sz="1700" dirty="0"/>
          </a:p>
        </p:txBody>
      </p:sp>
      <p:sp>
        <p:nvSpPr>
          <p:cNvPr id="34" name="Text 31"/>
          <p:cNvSpPr/>
          <p:nvPr/>
        </p:nvSpPr>
        <p:spPr>
          <a:xfrm>
            <a:off x="9518904" y="3383280"/>
            <a:ext cx="1883664" cy="237744"/>
          </a:xfrm>
          <a:prstGeom prst="rect">
            <a:avLst/>
          </a:prstGeom>
          <a:noFill/>
          <a:ln/>
        </p:spPr>
        <p:txBody>
          <a:bodyPr wrap="square" lIns="0" tIns="0" rIns="0" bIns="0" rtlCol="0" anchor="ctr"/>
          <a:lstStyle/>
          <a:p>
            <a:pPr algn="r" indent="0" marL="0">
              <a:buNone/>
            </a:pPr>
            <a:r>
              <a:rPr lang="en-US" sz="1000" i="1" dirty="0">
                <a:solidFill>
                  <a:srgbClr val="6B7280"/>
                </a:solidFill>
                <a:latin typeface="Calibri" pitchFamily="34" charset="0"/>
                <a:ea typeface="Calibri" pitchFamily="34" charset="-122"/>
                <a:cs typeface="Calibri" pitchFamily="34" charset="-120"/>
              </a:rPr>
              <a:t>no marketplace</a:t>
            </a:r>
            <a:endParaRPr lang="en-US" sz="1000" dirty="0"/>
          </a:p>
        </p:txBody>
      </p:sp>
      <p:sp>
        <p:nvSpPr>
          <p:cNvPr id="35" name="Text 32"/>
          <p:cNvSpPr/>
          <p:nvPr/>
        </p:nvSpPr>
        <p:spPr>
          <a:xfrm>
            <a:off x="6496812" y="3749040"/>
            <a:ext cx="4905756" cy="969264"/>
          </a:xfrm>
          <a:prstGeom prst="rect">
            <a:avLst/>
          </a:prstGeom>
          <a:noFill/>
          <a:ln/>
        </p:spPr>
        <p:txBody>
          <a:bodyPr wrap="square" lIns="0" tIns="0" rIns="0" bIns="0" rtlCol="0" anchor="t"/>
          <a:lstStyle/>
          <a:p>
            <a:pPr marL="342900" indent="-342900">
              <a:lnSpc>
                <a:spcPct val="115000"/>
              </a:lnSpc>
              <a:spcAft>
                <a:spcPts val="300"/>
              </a:spcAft>
              <a:buSzPct val="100000"/>
              <a:buChar char="•"/>
            </a:pPr>
            <a:r>
              <a:rPr lang="en-US" sz="1050" dirty="0">
                <a:solidFill>
                  <a:srgbClr val="6B7280"/>
                </a:solidFill>
                <a:latin typeface="Calibri" pitchFamily="34" charset="0"/>
                <a:ea typeface="Calibri" pitchFamily="34" charset="-122"/>
                <a:cs typeface="Calibri" pitchFamily="34" charset="-120"/>
              </a:rPr>
              <a:t>GitHub → Code → Download ZIP, extract</a:t>
            </a:r>
            <a:endParaRPr lang="en-US" sz="1050" dirty="0"/>
          </a:p>
          <a:p>
            <a:pPr marL="342900" indent="-342900">
              <a:lnSpc>
                <a:spcPct val="115000"/>
              </a:lnSpc>
              <a:spcAft>
                <a:spcPts val="300"/>
              </a:spcAft>
              <a:buSzPct val="100000"/>
              <a:buChar char="•"/>
            </a:pPr>
            <a:r>
              <a:rPr lang="en-US" sz="1050" dirty="0">
                <a:solidFill>
                  <a:srgbClr val="6B7280"/>
                </a:solidFill>
                <a:latin typeface="Calibri" pitchFamily="34" charset="0"/>
                <a:ea typeface="Calibri" pitchFamily="34" charset="-122"/>
                <a:cs typeface="Calibri" pitchFamily="34" charset="-120"/>
              </a:rPr>
              <a:t>Copy skills/&lt;name&gt; AND common/ side by side — skills link to ../../common/</a:t>
            </a:r>
            <a:endParaRPr lang="en-US" sz="1050" dirty="0"/>
          </a:p>
          <a:p>
            <a:pPr marL="342900" indent="-342900">
              <a:lnSpc>
                <a:spcPct val="115000"/>
              </a:lnSpc>
              <a:spcAft>
                <a:spcPts val="300"/>
              </a:spcAft>
              <a:buSzPct val="100000"/>
              <a:buChar char="•"/>
            </a:pPr>
            <a:r>
              <a:rPr lang="en-US" sz="1050" dirty="0">
                <a:solidFill>
                  <a:srgbClr val="6B7280"/>
                </a:solidFill>
                <a:latin typeface="Calibri" pitchFamily="34" charset="0"/>
                <a:ea typeface="Calibri" pitchFamily="34" charset="-122"/>
                <a:cs typeface="Calibri" pitchFamily="34" charset="-120"/>
              </a:rPr>
              <a:t>Register the MCP servers yourself: the extension, or mcp.json</a:t>
            </a:r>
            <a:endParaRPr lang="en-US" sz="1050" dirty="0"/>
          </a:p>
        </p:txBody>
      </p:sp>
      <p:sp>
        <p:nvSpPr>
          <p:cNvPr id="36" name="Shape 33"/>
          <p:cNvSpPr/>
          <p:nvPr/>
        </p:nvSpPr>
        <p:spPr>
          <a:xfrm>
            <a:off x="566928" y="4901184"/>
            <a:ext cx="11055096" cy="987552"/>
          </a:xfrm>
          <a:prstGeom prst="roundRect">
            <a:avLst>
              <a:gd name="adj" fmla="val 8333"/>
            </a:avLst>
          </a:prstGeom>
          <a:solidFill>
            <a:srgbClr val="14182E"/>
          </a:solidFill>
          <a:ln w="12700">
            <a:solidFill>
              <a:srgbClr val="232A52"/>
            </a:solidFill>
            <a:prstDash val="solid"/>
          </a:ln>
          <a:effectLst>
            <a:outerShdw sx="100000" sy="100000" kx="0" ky="0" algn="bl" rotWithShape="0" blurRad="127000" dist="25400" dir="5400000">
              <a:srgbClr val="9AA0B5">
                <a:alpha val="28000"/>
              </a:srgbClr>
            </a:outerShdw>
          </a:effectLst>
        </p:spPr>
        <p:txBody>
          <a:bodyPr/>
          <a:p/>
        </p:txBody>
      </p:sp>
      <p:sp>
        <p:nvSpPr>
          <p:cNvPr id="37" name="Text 34"/>
          <p:cNvSpPr/>
          <p:nvPr/>
        </p:nvSpPr>
        <p:spPr>
          <a:xfrm>
            <a:off x="859536" y="4992624"/>
            <a:ext cx="2743200" cy="237744"/>
          </a:xfrm>
          <a:prstGeom prst="rect">
            <a:avLst/>
          </a:prstGeom>
          <a:noFill/>
          <a:ln/>
        </p:spPr>
        <p:txBody>
          <a:bodyPr wrap="square" lIns="0" tIns="0" rIns="0" bIns="0" rtlCol="0" anchor="ctr"/>
          <a:lstStyle/>
          <a:p>
            <a:pPr indent="0" marL="0">
              <a:buNone/>
            </a:pPr>
            <a:r>
              <a:rPr lang="en-US" sz="1050" b="1" spc="200" kern="0" dirty="0">
                <a:solidFill>
                  <a:srgbClr val="F2C230"/>
                </a:solidFill>
                <a:latin typeface="Calibri" pitchFamily="34" charset="0"/>
                <a:ea typeface="Calibri" pitchFamily="34" charset="-122"/>
                <a:cs typeface="Calibri" pitchFamily="34" charset="-120"/>
              </a:rPr>
              <a:t>Before any of them</a:t>
            </a:r>
            <a:endParaRPr lang="en-US" sz="1050" dirty="0"/>
          </a:p>
        </p:txBody>
      </p:sp>
      <p:sp>
        <p:nvSpPr>
          <p:cNvPr id="38" name="Text 35"/>
          <p:cNvSpPr/>
          <p:nvPr/>
        </p:nvSpPr>
        <p:spPr>
          <a:xfrm>
            <a:off x="859536" y="5248656"/>
            <a:ext cx="10469880" cy="566928"/>
          </a:xfrm>
          <a:prstGeom prst="rect">
            <a:avLst/>
          </a:prstGeom>
          <a:noFill/>
          <a:ln/>
        </p:spPr>
        <p:txBody>
          <a:bodyPr wrap="square" lIns="0" tIns="0" rIns="0" bIns="0" rtlCol="0" anchor="ctr"/>
          <a:lstStyle/>
          <a:p>
            <a:pPr indent="0" marL="0">
              <a:lnSpc>
                <a:spcPct val="110000"/>
              </a:lnSpc>
              <a:buNone/>
            </a:pPr>
            <a:r>
              <a:rPr lang="en-US" sz="950" dirty="0">
                <a:solidFill>
                  <a:srgbClr val="FFFFFF"/>
                </a:solidFill>
                <a:latin typeface="Courier New" pitchFamily="34" charset="0"/>
                <a:ea typeface="Courier New" pitchFamily="34" charset="-122"/>
                <a:cs typeface="Courier New" pitchFamily="34" charset="-120"/>
              </a:rPr>
              <a:t>Node.js 18+  ·  az login  ·  FabricIQ moved in 0.3.17: https://fabriciq.svc.cloud.microsoft/v1/mcp/fabriciq with header X-VARIANTS: Fabric.Routing.FabricIQ.V1  ·  scripted registration: mcp-setup/register-fabric-mcp.ps1</a:t>
            </a:r>
            <a:endParaRPr lang="en-US" sz="950" dirty="0"/>
          </a:p>
        </p:txBody>
      </p:sp>
      <p:sp>
        <p:nvSpPr>
          <p:cNvPr id="39" name="Text 36"/>
          <p:cNvSpPr/>
          <p:nvPr/>
        </p:nvSpPr>
        <p:spPr>
          <a:xfrm>
            <a:off x="566928" y="5943600"/>
            <a:ext cx="8311896" cy="384048"/>
          </a:xfrm>
          <a:prstGeom prst="rect">
            <a:avLst/>
          </a:prstGeom>
          <a:noFill/>
          <a:ln/>
        </p:spPr>
        <p:txBody>
          <a:bodyPr wrap="square" lIns="0" tIns="0" rIns="0" bIns="0"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No official release .zip — route 4's ZIP is the repo download. Checked against v0.3.18, 24 Sep 2026.</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9134856" y="6381598"/>
            <a:ext cx="310896" cy="20117"/>
          </a:xfrm>
          <a:prstGeom prst="rect">
            <a:avLst/>
          </a:prstGeom>
          <a:solidFill>
            <a:srgbClr val="F2C230"/>
          </a:solidFill>
          <a:ln w="12700">
            <a:solidFill>
              <a:srgbClr val="F2C230"/>
            </a:solidFill>
            <a:prstDash val="solid"/>
          </a:ln>
        </p:spPr>
        <p:txBody>
          <a:bodyPr/>
          <a:p/>
        </p:txBody>
      </p:sp>
      <p:sp>
        <p:nvSpPr>
          <p:cNvPr id="4" name="Text 1"/>
          <p:cNvSpPr/>
          <p:nvPr/>
        </p:nvSpPr>
        <p:spPr>
          <a:xfrm>
            <a:off x="9518904" y="6272784"/>
            <a:ext cx="2103120" cy="237744"/>
          </a:xfrm>
          <a:prstGeom prst="rect">
            <a:avLst/>
          </a:prstGeom>
          <a:noFill/>
          <a:ln/>
        </p:spPr>
        <p:txBody>
          <a:bodyPr wrap="square" lIns="0" tIns="0" rIns="0" bIns="0" rtlCol="0" anchor="ctr"/>
          <a:lstStyle/>
          <a:p>
            <a:pPr algn="r" indent="0" marL="0">
              <a:buNone/>
            </a:pPr>
            <a:r>
              <a:rPr lang="en-US" sz="900" b="1" spc="120" kern="0" dirty="0">
                <a:solidFill>
                  <a:srgbClr val="6B7280"/>
                </a:solidFill>
                <a:latin typeface="Calibri" pitchFamily="34" charset="0"/>
                <a:ea typeface="Calibri" pitchFamily="34" charset="-122"/>
                <a:cs typeface="Calibri" pitchFamily="34" charset="-120"/>
              </a:rPr>
              <a:t>21 / 22  ·  CLOSE</a:t>
            </a:r>
            <a:endParaRPr lang="en-US" sz="900" dirty="0"/>
          </a:p>
        </p:txBody>
      </p:sp>
      <p:sp>
        <p:nvSpPr>
          <p:cNvPr id="5" name="Shape 2"/>
          <p:cNvSpPr/>
          <p:nvPr/>
        </p:nvSpPr>
        <p:spPr>
          <a:xfrm>
            <a:off x="566928" y="274320"/>
            <a:ext cx="566928" cy="41148"/>
          </a:xfrm>
          <a:prstGeom prst="rect">
            <a:avLst/>
          </a:prstGeom>
          <a:solidFill>
            <a:srgbClr val="F2C230"/>
          </a:solidFill>
          <a:ln w="12700">
            <a:solidFill>
              <a:srgbClr val="F2C230"/>
            </a:solidFill>
            <a:prstDash val="solid"/>
          </a:ln>
        </p:spPr>
        <p:txBody>
          <a:bodyPr/>
          <a:p/>
        </p:txBody>
      </p:sp>
      <p:sp>
        <p:nvSpPr>
          <p:cNvPr id="6" name="Text 3"/>
          <p:cNvSpPr/>
          <p:nvPr/>
        </p:nvSpPr>
        <p:spPr>
          <a:xfrm>
            <a:off x="566928" y="402336"/>
            <a:ext cx="11055096" cy="256032"/>
          </a:xfrm>
          <a:prstGeom prst="rect">
            <a:avLst/>
          </a:prstGeom>
          <a:noFill/>
          <a:ln/>
        </p:spPr>
        <p:txBody>
          <a:bodyPr wrap="square" lIns="0" tIns="0" rIns="0" bIns="0" rtlCol="0" anchor="ctr"/>
          <a:lstStyle/>
          <a:p>
            <a:pPr indent="0" marL="0">
              <a:buNone/>
            </a:pPr>
            <a:r>
              <a:rPr lang="en-US" sz="1100" b="1" spc="220" kern="0" dirty="0">
                <a:solidFill>
                  <a:srgbClr val="F2C230"/>
                </a:solidFill>
                <a:latin typeface="Calibri" pitchFamily="34" charset="0"/>
                <a:ea typeface="Calibri" pitchFamily="34" charset="-122"/>
                <a:cs typeface="Calibri" pitchFamily="34" charset="-120"/>
              </a:rPr>
              <a:t>HOW IT FITS</a:t>
            </a:r>
            <a:endParaRPr lang="en-US" sz="1100" dirty="0"/>
          </a:p>
        </p:txBody>
      </p:sp>
      <p:sp>
        <p:nvSpPr>
          <p:cNvPr id="7" name="Text 4"/>
          <p:cNvSpPr/>
          <p:nvPr/>
        </p:nvSpPr>
        <p:spPr>
          <a:xfrm>
            <a:off x="566928" y="676656"/>
            <a:ext cx="11055096" cy="621792"/>
          </a:xfrm>
          <a:prstGeom prst="rect">
            <a:avLst/>
          </a:prstGeom>
          <a:noFill/>
          <a:ln/>
        </p:spPr>
        <p:txBody>
          <a:bodyPr wrap="square" lIns="0" tIns="0" rIns="0" bIns="0" rtlCol="0" anchor="ctr"/>
          <a:lstStyle/>
          <a:p>
            <a:pPr indent="0" marL="0">
              <a:buNone/>
            </a:pPr>
            <a:r>
              <a:rPr lang="en-US" sz="3400" b="1" dirty="0">
                <a:solidFill>
                  <a:srgbClr val="14182E"/>
                </a:solidFill>
                <a:latin typeface="Cambria" pitchFamily="34" charset="0"/>
                <a:ea typeface="Cambria" pitchFamily="34" charset="-122"/>
                <a:cs typeface="Cambria" pitchFamily="34" charset="-120"/>
              </a:rPr>
              <a:t>Skills say what. Tools do it.</a:t>
            </a:r>
            <a:endParaRPr lang="en-US" sz="3400" dirty="0"/>
          </a:p>
        </p:txBody>
      </p:sp>
      <p:sp>
        <p:nvSpPr>
          <p:cNvPr id="8" name="Shape 5"/>
          <p:cNvSpPr/>
          <p:nvPr/>
        </p:nvSpPr>
        <p:spPr>
          <a:xfrm>
            <a:off x="566928" y="1627632"/>
            <a:ext cx="11055096" cy="749808"/>
          </a:xfrm>
          <a:prstGeom prst="roundRect">
            <a:avLst>
              <a:gd name="adj" fmla="val 8537"/>
            </a:avLst>
          </a:prstGeom>
          <a:solidFill>
            <a:srgbClr val="FAFAFD"/>
          </a:solidFill>
          <a:ln w="12700">
            <a:solidFill>
              <a:srgbClr val="DFE2EC"/>
            </a:solidFill>
            <a:prstDash val="solid"/>
          </a:ln>
        </p:spPr>
        <p:txBody>
          <a:bodyPr/>
          <a:p/>
        </p:txBody>
      </p:sp>
      <p:sp>
        <p:nvSpPr>
          <p:cNvPr id="9" name="Text 6"/>
          <p:cNvSpPr/>
          <p:nvPr/>
        </p:nvSpPr>
        <p:spPr>
          <a:xfrm>
            <a:off x="841248" y="1627632"/>
            <a:ext cx="2286000" cy="749808"/>
          </a:xfrm>
          <a:prstGeom prst="rect">
            <a:avLst/>
          </a:prstGeom>
          <a:noFill/>
          <a:ln/>
        </p:spPr>
        <p:txBody>
          <a:bodyPr wrap="square" lIns="0" tIns="0" rIns="0" bIns="0" rtlCol="0" anchor="ctr"/>
          <a:lstStyle/>
          <a:p>
            <a:pPr indent="0" marL="0">
              <a:buNone/>
            </a:pPr>
            <a:r>
              <a:rPr lang="en-US" sz="1500" b="1" dirty="0">
                <a:solidFill>
                  <a:srgbClr val="14182E"/>
                </a:solidFill>
                <a:latin typeface="Cambria" pitchFamily="34" charset="0"/>
                <a:ea typeface="Cambria" pitchFamily="34" charset="-122"/>
                <a:cs typeface="Cambria" pitchFamily="34" charset="-120"/>
              </a:rPr>
              <a:t>Planning &amp; design</a:t>
            </a:r>
            <a:endParaRPr lang="en-US" sz="1500" dirty="0"/>
          </a:p>
        </p:txBody>
      </p:sp>
      <p:sp>
        <p:nvSpPr>
          <p:cNvPr id="10" name="Text 7"/>
          <p:cNvSpPr/>
          <p:nvPr/>
        </p:nvSpPr>
        <p:spPr>
          <a:xfrm>
            <a:off x="3264408" y="1627632"/>
            <a:ext cx="3931920" cy="749808"/>
          </a:xfrm>
          <a:prstGeom prst="rect">
            <a:avLst/>
          </a:prstGeom>
          <a:noFill/>
          <a:ln/>
        </p:spPr>
        <p:txBody>
          <a:bodyPr wrap="square" lIns="0" tIns="0" rIns="0" bIns="0" rtlCol="0" anchor="ctr"/>
          <a:lstStyle/>
          <a:p>
            <a:pPr indent="0" marL="0">
              <a:buNone/>
            </a:pPr>
            <a:r>
              <a:rPr lang="en-US" sz="1250" b="1" dirty="0">
                <a:solidFill>
                  <a:srgbClr val="4A5062"/>
                </a:solidFill>
                <a:latin typeface="Calibri" pitchFamily="34" charset="0"/>
                <a:ea typeface="Calibri" pitchFamily="34" charset="-122"/>
                <a:cs typeface="Calibri" pitchFamily="34" charset="-120"/>
              </a:rPr>
              <a:t>powerbi-report-cli · planning, design</a:t>
            </a:r>
            <a:endParaRPr lang="en-US" sz="1250" dirty="0"/>
          </a:p>
        </p:txBody>
      </p:sp>
      <p:sp>
        <p:nvSpPr>
          <p:cNvPr id="11" name="Text 8"/>
          <p:cNvSpPr/>
          <p:nvPr/>
        </p:nvSpPr>
        <p:spPr>
          <a:xfrm>
            <a:off x="7333488" y="1627632"/>
            <a:ext cx="4014216" cy="749808"/>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Requirements, archetypes, layout, colour, typography</a:t>
            </a:r>
            <a:endParaRPr lang="en-US" sz="1250" dirty="0"/>
          </a:p>
        </p:txBody>
      </p:sp>
      <p:sp>
        <p:nvSpPr>
          <p:cNvPr id="12" name="Shape 9"/>
          <p:cNvSpPr/>
          <p:nvPr/>
        </p:nvSpPr>
        <p:spPr>
          <a:xfrm>
            <a:off x="566928" y="2496312"/>
            <a:ext cx="11055096" cy="749808"/>
          </a:xfrm>
          <a:prstGeom prst="roundRect">
            <a:avLst>
              <a:gd name="adj" fmla="val 8537"/>
            </a:avLst>
          </a:prstGeom>
          <a:solidFill>
            <a:srgbClr val="FDF6E3"/>
          </a:solidFill>
          <a:ln w="12700">
            <a:solidFill>
              <a:srgbClr val="EBD9A8"/>
            </a:solidFill>
            <a:prstDash val="solid"/>
          </a:ln>
        </p:spPr>
        <p:txBody>
          <a:bodyPr/>
          <a:p/>
        </p:txBody>
      </p:sp>
      <p:sp>
        <p:nvSpPr>
          <p:cNvPr id="13" name="Text 10"/>
          <p:cNvSpPr/>
          <p:nvPr/>
        </p:nvSpPr>
        <p:spPr>
          <a:xfrm>
            <a:off x="841248" y="2496312"/>
            <a:ext cx="2286000" cy="749808"/>
          </a:xfrm>
          <a:prstGeom prst="rect">
            <a:avLst/>
          </a:prstGeom>
          <a:noFill/>
          <a:ln/>
        </p:spPr>
        <p:txBody>
          <a:bodyPr wrap="square" lIns="0" tIns="0" rIns="0" bIns="0" rtlCol="0" anchor="ctr"/>
          <a:lstStyle/>
          <a:p>
            <a:pPr indent="0" marL="0">
              <a:buNone/>
            </a:pPr>
            <a:r>
              <a:rPr lang="en-US" sz="1500" b="1" dirty="0">
                <a:solidFill>
                  <a:srgbClr val="14182E"/>
                </a:solidFill>
                <a:latin typeface="Cambria" pitchFamily="34" charset="0"/>
                <a:ea typeface="Cambria" pitchFamily="34" charset="-122"/>
                <a:cs typeface="Cambria" pitchFamily="34" charset="-120"/>
              </a:rPr>
              <a:t>Report layer</a:t>
            </a:r>
            <a:endParaRPr lang="en-US" sz="1500" dirty="0"/>
          </a:p>
        </p:txBody>
      </p:sp>
      <p:sp>
        <p:nvSpPr>
          <p:cNvPr id="14" name="Text 11"/>
          <p:cNvSpPr/>
          <p:nvPr/>
        </p:nvSpPr>
        <p:spPr>
          <a:xfrm>
            <a:off x="3264408" y="2496312"/>
            <a:ext cx="3931920" cy="749808"/>
          </a:xfrm>
          <a:prstGeom prst="rect">
            <a:avLst/>
          </a:prstGeom>
          <a:noFill/>
          <a:ln/>
        </p:spPr>
        <p:txBody>
          <a:bodyPr wrap="square" lIns="0" tIns="0" rIns="0" bIns="0" rtlCol="0" anchor="ctr"/>
          <a:lstStyle/>
          <a:p>
            <a:pPr indent="0" marL="0">
              <a:buNone/>
            </a:pPr>
            <a:r>
              <a:rPr lang="en-US" sz="1250" b="1" dirty="0">
                <a:solidFill>
                  <a:srgbClr val="8A6E12"/>
                </a:solidFill>
                <a:latin typeface="Calibri" pitchFamily="34" charset="0"/>
                <a:ea typeface="Calibri" pitchFamily="34" charset="-122"/>
                <a:cs typeface="Calibri" pitchFamily="34" charset="-120"/>
              </a:rPr>
              <a:t>powerbi-report-cli · authoring (PBIR / PBIP)</a:t>
            </a:r>
            <a:endParaRPr lang="en-US" sz="1250" dirty="0"/>
          </a:p>
        </p:txBody>
      </p:sp>
      <p:sp>
        <p:nvSpPr>
          <p:cNvPr id="15" name="Text 12"/>
          <p:cNvSpPr/>
          <p:nvPr/>
        </p:nvSpPr>
        <p:spPr>
          <a:xfrm>
            <a:off x="7333488" y="2496312"/>
            <a:ext cx="4014216" cy="749808"/>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Pages, visuals, filters, slicers, bookmarks, themes</a:t>
            </a:r>
            <a:endParaRPr lang="en-US" sz="1250" dirty="0"/>
          </a:p>
        </p:txBody>
      </p:sp>
      <p:sp>
        <p:nvSpPr>
          <p:cNvPr id="16" name="Shape 13"/>
          <p:cNvSpPr/>
          <p:nvPr/>
        </p:nvSpPr>
        <p:spPr>
          <a:xfrm>
            <a:off x="566928" y="3364992"/>
            <a:ext cx="11055096" cy="749808"/>
          </a:xfrm>
          <a:prstGeom prst="roundRect">
            <a:avLst>
              <a:gd name="adj" fmla="val 8537"/>
            </a:avLst>
          </a:prstGeom>
          <a:solidFill>
            <a:srgbClr val="FAFAFD"/>
          </a:solidFill>
          <a:ln w="12700">
            <a:solidFill>
              <a:srgbClr val="DFE2EC"/>
            </a:solidFill>
            <a:prstDash val="solid"/>
          </a:ln>
        </p:spPr>
        <p:txBody>
          <a:bodyPr/>
          <a:p/>
        </p:txBody>
      </p:sp>
      <p:sp>
        <p:nvSpPr>
          <p:cNvPr id="17" name="Text 14"/>
          <p:cNvSpPr/>
          <p:nvPr/>
        </p:nvSpPr>
        <p:spPr>
          <a:xfrm>
            <a:off x="841248" y="3364992"/>
            <a:ext cx="2286000" cy="749808"/>
          </a:xfrm>
          <a:prstGeom prst="rect">
            <a:avLst/>
          </a:prstGeom>
          <a:noFill/>
          <a:ln/>
        </p:spPr>
        <p:txBody>
          <a:bodyPr wrap="square" lIns="0" tIns="0" rIns="0" bIns="0" rtlCol="0" anchor="ctr"/>
          <a:lstStyle/>
          <a:p>
            <a:pPr indent="0" marL="0">
              <a:buNone/>
            </a:pPr>
            <a:r>
              <a:rPr lang="en-US" sz="1500" b="1" dirty="0">
                <a:solidFill>
                  <a:srgbClr val="14182E"/>
                </a:solidFill>
                <a:latin typeface="Cambria" pitchFamily="34" charset="0"/>
                <a:ea typeface="Cambria" pitchFamily="34" charset="-122"/>
                <a:cs typeface="Cambria" pitchFamily="34" charset="-120"/>
              </a:rPr>
              <a:t>Verification</a:t>
            </a:r>
            <a:endParaRPr lang="en-US" sz="1500" dirty="0"/>
          </a:p>
        </p:txBody>
      </p:sp>
      <p:sp>
        <p:nvSpPr>
          <p:cNvPr id="18" name="Text 15"/>
          <p:cNvSpPr/>
          <p:nvPr/>
        </p:nvSpPr>
        <p:spPr>
          <a:xfrm>
            <a:off x="3264408" y="3364992"/>
            <a:ext cx="3931920" cy="749808"/>
          </a:xfrm>
          <a:prstGeom prst="rect">
            <a:avLst/>
          </a:prstGeom>
          <a:noFill/>
          <a:ln/>
        </p:spPr>
        <p:txBody>
          <a:bodyPr wrap="square" lIns="0" tIns="0" rIns="0" bIns="0" rtlCol="0" anchor="ctr"/>
          <a:lstStyle/>
          <a:p>
            <a:pPr indent="0" marL="0">
              <a:buNone/>
            </a:pPr>
            <a:r>
              <a:rPr lang="en-US" sz="1250" b="1" dirty="0">
                <a:solidFill>
                  <a:srgbClr val="4A5062"/>
                </a:solidFill>
                <a:latin typeface="Calibri" pitchFamily="34" charset="0"/>
                <a:ea typeface="Calibri" pitchFamily="34" charset="-122"/>
                <a:cs typeface="Calibri" pitchFamily="34" charset="-120"/>
              </a:rPr>
              <a:t>powerbi-report-cli preview · Desktop Bridge</a:t>
            </a:r>
            <a:endParaRPr lang="en-US" sz="1250" dirty="0"/>
          </a:p>
        </p:txBody>
      </p:sp>
      <p:sp>
        <p:nvSpPr>
          <p:cNvPr id="19" name="Text 16"/>
          <p:cNvSpPr/>
          <p:nvPr/>
        </p:nvSpPr>
        <p:spPr>
          <a:xfrm>
            <a:off x="7333488" y="3364992"/>
            <a:ext cx="4014216" cy="749808"/>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Open, reload, screenshot — see the rendered result</a:t>
            </a:r>
            <a:endParaRPr lang="en-US" sz="1250" dirty="0"/>
          </a:p>
        </p:txBody>
      </p:sp>
      <p:sp>
        <p:nvSpPr>
          <p:cNvPr id="20" name="Shape 17"/>
          <p:cNvSpPr/>
          <p:nvPr/>
        </p:nvSpPr>
        <p:spPr>
          <a:xfrm>
            <a:off x="566928" y="4233672"/>
            <a:ext cx="11055096" cy="749808"/>
          </a:xfrm>
          <a:prstGeom prst="roundRect">
            <a:avLst>
              <a:gd name="adj" fmla="val 8537"/>
            </a:avLst>
          </a:prstGeom>
          <a:solidFill>
            <a:srgbClr val="EDF7F6"/>
          </a:solidFill>
          <a:ln w="12700">
            <a:solidFill>
              <a:srgbClr val="C7E4E1"/>
            </a:solidFill>
            <a:prstDash val="solid"/>
          </a:ln>
        </p:spPr>
        <p:txBody>
          <a:bodyPr/>
          <a:p/>
        </p:txBody>
      </p:sp>
      <p:sp>
        <p:nvSpPr>
          <p:cNvPr id="21" name="Text 18"/>
          <p:cNvSpPr/>
          <p:nvPr/>
        </p:nvSpPr>
        <p:spPr>
          <a:xfrm>
            <a:off x="841248" y="4233672"/>
            <a:ext cx="2286000" cy="749808"/>
          </a:xfrm>
          <a:prstGeom prst="rect">
            <a:avLst/>
          </a:prstGeom>
          <a:noFill/>
          <a:ln/>
        </p:spPr>
        <p:txBody>
          <a:bodyPr wrap="square" lIns="0" tIns="0" rIns="0" bIns="0" rtlCol="0" anchor="ctr"/>
          <a:lstStyle/>
          <a:p>
            <a:pPr indent="0" marL="0">
              <a:buNone/>
            </a:pPr>
            <a:r>
              <a:rPr lang="en-US" sz="1500" b="1" dirty="0">
                <a:solidFill>
                  <a:srgbClr val="14182E"/>
                </a:solidFill>
                <a:latin typeface="Cambria" pitchFamily="34" charset="0"/>
                <a:ea typeface="Cambria" pitchFamily="34" charset="-122"/>
                <a:cs typeface="Cambria" pitchFamily="34" charset="-120"/>
              </a:rPr>
              <a:t>Data queries</a:t>
            </a:r>
            <a:endParaRPr lang="en-US" sz="1500" dirty="0"/>
          </a:p>
        </p:txBody>
      </p:sp>
      <p:sp>
        <p:nvSpPr>
          <p:cNvPr id="22" name="Text 19"/>
          <p:cNvSpPr/>
          <p:nvPr/>
        </p:nvSpPr>
        <p:spPr>
          <a:xfrm>
            <a:off x="3264408" y="4233672"/>
            <a:ext cx="3931920" cy="749808"/>
          </a:xfrm>
          <a:prstGeom prst="rect">
            <a:avLst/>
          </a:prstGeom>
          <a:noFill/>
          <a:ln/>
        </p:spPr>
        <p:txBody>
          <a:bodyPr wrap="square" lIns="0" tIns="0" rIns="0" bIns="0" rtlCol="0" anchor="ctr"/>
          <a:lstStyle/>
          <a:p>
            <a:pPr indent="0" marL="0">
              <a:buNone/>
            </a:pPr>
            <a:r>
              <a:rPr lang="en-US" sz="1250" b="1" dirty="0">
                <a:solidFill>
                  <a:srgbClr val="17635E"/>
                </a:solidFill>
                <a:latin typeface="Calibri" pitchFamily="34" charset="0"/>
                <a:ea typeface="Calibri" pitchFamily="34" charset="-122"/>
                <a:cs typeface="Calibri" pitchFamily="34" charset="-120"/>
              </a:rPr>
              <a:t>Remote Power BI MCP · FabricIQ</a:t>
            </a:r>
            <a:endParaRPr lang="en-US" sz="1250" dirty="0"/>
          </a:p>
        </p:txBody>
      </p:sp>
      <p:sp>
        <p:nvSpPr>
          <p:cNvPr id="23" name="Text 20"/>
          <p:cNvSpPr/>
          <p:nvPr/>
        </p:nvSpPr>
        <p:spPr>
          <a:xfrm>
            <a:off x="7333488" y="4233672"/>
            <a:ext cx="4014216" cy="749808"/>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Generate and execute DAX against a published model</a:t>
            </a:r>
            <a:endParaRPr lang="en-US" sz="1250" dirty="0"/>
          </a:p>
        </p:txBody>
      </p:sp>
      <p:sp>
        <p:nvSpPr>
          <p:cNvPr id="24" name="Shape 21"/>
          <p:cNvSpPr/>
          <p:nvPr/>
        </p:nvSpPr>
        <p:spPr>
          <a:xfrm>
            <a:off x="566928" y="5102352"/>
            <a:ext cx="11055096" cy="749808"/>
          </a:xfrm>
          <a:prstGeom prst="roundRect">
            <a:avLst>
              <a:gd name="adj" fmla="val 8537"/>
            </a:avLst>
          </a:prstGeom>
          <a:solidFill>
            <a:srgbClr val="EDF7F6"/>
          </a:solidFill>
          <a:ln w="12700">
            <a:solidFill>
              <a:srgbClr val="C7E4E1"/>
            </a:solidFill>
            <a:prstDash val="solid"/>
          </a:ln>
        </p:spPr>
        <p:txBody>
          <a:bodyPr/>
          <a:p/>
        </p:txBody>
      </p:sp>
      <p:sp>
        <p:nvSpPr>
          <p:cNvPr id="25" name="Text 22"/>
          <p:cNvSpPr/>
          <p:nvPr/>
        </p:nvSpPr>
        <p:spPr>
          <a:xfrm>
            <a:off x="841248" y="5102352"/>
            <a:ext cx="2286000" cy="749808"/>
          </a:xfrm>
          <a:prstGeom prst="rect">
            <a:avLst/>
          </a:prstGeom>
          <a:noFill/>
          <a:ln/>
        </p:spPr>
        <p:txBody>
          <a:bodyPr wrap="square" lIns="0" tIns="0" rIns="0" bIns="0" rtlCol="0" anchor="ctr"/>
          <a:lstStyle/>
          <a:p>
            <a:pPr indent="0" marL="0">
              <a:buNone/>
            </a:pPr>
            <a:r>
              <a:rPr lang="en-US" sz="1500" b="1" dirty="0">
                <a:solidFill>
                  <a:srgbClr val="14182E"/>
                </a:solidFill>
                <a:latin typeface="Cambria" pitchFamily="34" charset="0"/>
                <a:ea typeface="Cambria" pitchFamily="34" charset="-122"/>
                <a:cs typeface="Cambria" pitchFamily="34" charset="-120"/>
              </a:rPr>
              <a:t>Semantic model</a:t>
            </a:r>
            <a:endParaRPr lang="en-US" sz="1500" dirty="0"/>
          </a:p>
        </p:txBody>
      </p:sp>
      <p:sp>
        <p:nvSpPr>
          <p:cNvPr id="26" name="Text 23"/>
          <p:cNvSpPr/>
          <p:nvPr/>
        </p:nvSpPr>
        <p:spPr>
          <a:xfrm>
            <a:off x="3264408" y="5102352"/>
            <a:ext cx="3931920" cy="749808"/>
          </a:xfrm>
          <a:prstGeom prst="rect">
            <a:avLst/>
          </a:prstGeom>
          <a:noFill/>
          <a:ln/>
        </p:spPr>
        <p:txBody>
          <a:bodyPr wrap="square" lIns="0" tIns="0" rIns="0" bIns="0" rtlCol="0" anchor="ctr"/>
          <a:lstStyle/>
          <a:p>
            <a:pPr indent="0" marL="0">
              <a:buNone/>
            </a:pPr>
            <a:r>
              <a:rPr lang="en-US" sz="1250" b="1" dirty="0">
                <a:solidFill>
                  <a:srgbClr val="17635E"/>
                </a:solidFill>
                <a:latin typeface="Calibri" pitchFamily="34" charset="0"/>
                <a:ea typeface="Calibri" pitchFamily="34" charset="-122"/>
                <a:cs typeface="Calibri" pitchFamily="34" charset="-120"/>
              </a:rPr>
              <a:t>Authoring MCP + semantic-model-authoring</a:t>
            </a:r>
            <a:endParaRPr lang="en-US" sz="1250" dirty="0"/>
          </a:p>
        </p:txBody>
      </p:sp>
      <p:sp>
        <p:nvSpPr>
          <p:cNvPr id="27" name="Text 24"/>
          <p:cNvSpPr/>
          <p:nvPr/>
        </p:nvSpPr>
        <p:spPr>
          <a:xfrm>
            <a:off x="7333488" y="5102352"/>
            <a:ext cx="4014216" cy="749808"/>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Tables, columns, measures, relationships, DAX</a:t>
            </a:r>
            <a:endParaRPr lang="en-US" sz="1250" dirty="0"/>
          </a:p>
        </p:txBody>
      </p:sp>
      <p:sp>
        <p:nvSpPr>
          <p:cNvPr id="28" name="Text 25"/>
          <p:cNvSpPr/>
          <p:nvPr/>
        </p:nvSpPr>
        <p:spPr>
          <a:xfrm>
            <a:off x="566928" y="5943600"/>
            <a:ext cx="8311896" cy="384048"/>
          </a:xfrm>
          <a:prstGeom prst="rect">
            <a:avLst/>
          </a:prstGeom>
          <a:noFill/>
          <a:ln/>
        </p:spPr>
        <p:txBody>
          <a:bodyPr wrap="square" lIns="0" tIns="0" rIns="0" bIns="0"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Fix the model with the MCP server and semantic-model-authoring, build the report with powerbi-report-cli, preview it in Desktop.</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14182E"/>
        </a:solidFill>
        <a:effectLst/>
      </p:bgPr>
    </p:bg>
    <p:spTree>
      <p:nvGrpSpPr>
        <p:cNvPr id="1" name=""/>
        <p:cNvGrpSpPr/>
        <p:nvPr/>
      </p:nvGrpSpPr>
      <p:grpSpPr>
        <a:xfrm>
          <a:off x="0" y="0"/>
          <a:ext cx="0" cy="0"/>
          <a:chOff x="0" y="0"/>
          <a:chExt cx="0" cy="0"/>
        </a:xfrm>
      </p:grpSpPr>
      <p:sp>
        <p:nvSpPr>
          <p:cNvPr id="3" name="Shape 0"/>
          <p:cNvSpPr/>
          <p:nvPr/>
        </p:nvSpPr>
        <p:spPr>
          <a:xfrm>
            <a:off x="9134856" y="6381598"/>
            <a:ext cx="310896" cy="20117"/>
          </a:xfrm>
          <a:prstGeom prst="rect">
            <a:avLst/>
          </a:prstGeom>
          <a:solidFill>
            <a:srgbClr val="F2C230"/>
          </a:solidFill>
          <a:ln w="12700">
            <a:solidFill>
              <a:srgbClr val="F2C230"/>
            </a:solidFill>
            <a:prstDash val="solid"/>
          </a:ln>
        </p:spPr>
        <p:txBody>
          <a:bodyPr/>
          <a:p/>
        </p:txBody>
      </p:sp>
      <p:sp>
        <p:nvSpPr>
          <p:cNvPr id="4" name="Text 1"/>
          <p:cNvSpPr/>
          <p:nvPr/>
        </p:nvSpPr>
        <p:spPr>
          <a:xfrm>
            <a:off x="9518904" y="6272784"/>
            <a:ext cx="2103120" cy="237744"/>
          </a:xfrm>
          <a:prstGeom prst="rect">
            <a:avLst/>
          </a:prstGeom>
          <a:noFill/>
          <a:ln/>
        </p:spPr>
        <p:txBody>
          <a:bodyPr wrap="square" lIns="0" tIns="0" rIns="0" bIns="0" rtlCol="0" anchor="ctr"/>
          <a:lstStyle/>
          <a:p>
            <a:pPr algn="r" indent="0" marL="0">
              <a:buNone/>
            </a:pPr>
            <a:r>
              <a:rPr lang="en-US" sz="900" b="1" spc="120" kern="0" dirty="0">
                <a:solidFill>
                  <a:srgbClr val="8A93B2"/>
                </a:solidFill>
                <a:latin typeface="Calibri" pitchFamily="34" charset="0"/>
                <a:ea typeface="Calibri" pitchFamily="34" charset="-122"/>
                <a:cs typeface="Calibri" pitchFamily="34" charset="-120"/>
              </a:rPr>
              <a:t>22 / 22  ·  CLOSE</a:t>
            </a:r>
            <a:endParaRPr lang="en-US" sz="900" dirty="0"/>
          </a:p>
        </p:txBody>
      </p:sp>
      <p:sp>
        <p:nvSpPr>
          <p:cNvPr id="5" name="Shape 2"/>
          <p:cNvSpPr/>
          <p:nvPr/>
        </p:nvSpPr>
        <p:spPr>
          <a:xfrm>
            <a:off x="9528048" y="3968496"/>
            <a:ext cx="2011680" cy="2011680"/>
          </a:xfrm>
          <a:prstGeom prst="ellipse">
            <a:avLst/>
          </a:prstGeom>
          <a:solidFill>
            <a:srgbClr val="14182E"/>
          </a:solidFill>
          <a:ln w="25400">
            <a:solidFill>
              <a:srgbClr val="F2C230"/>
            </a:solidFill>
            <a:prstDash val="solid"/>
          </a:ln>
        </p:spPr>
        <p:txBody>
          <a:bodyPr/>
          <a:p/>
        </p:txBody>
      </p:sp>
      <p:sp>
        <p:nvSpPr>
          <p:cNvPr id="6" name="Text 3"/>
          <p:cNvSpPr/>
          <p:nvPr/>
        </p:nvSpPr>
        <p:spPr>
          <a:xfrm>
            <a:off x="9528048" y="3968496"/>
            <a:ext cx="2011680" cy="2011680"/>
          </a:xfrm>
          <a:prstGeom prst="rect">
            <a:avLst/>
          </a:prstGeom>
          <a:noFill/>
          <a:ln/>
        </p:spPr>
        <p:txBody>
          <a:bodyPr wrap="square" lIns="0" tIns="0" rIns="0" bIns="0" rtlCol="0" anchor="ctr"/>
          <a:lstStyle/>
          <a:p>
            <a:pPr algn="ctr" indent="0" marL="0">
              <a:buNone/>
            </a:pPr>
            <a:r>
              <a:rPr lang="en-US" sz="5600" b="1" dirty="0">
                <a:solidFill>
                  <a:srgbClr val="F2C230"/>
                </a:solidFill>
                <a:latin typeface="Cambria" pitchFamily="34" charset="0"/>
                <a:ea typeface="Cambria" pitchFamily="34" charset="-122"/>
                <a:cs typeface="Cambria" pitchFamily="34" charset="-120"/>
              </a:rPr>
              <a:t>?</a:t>
            </a:r>
            <a:endParaRPr lang="en-US" sz="5600" dirty="0"/>
          </a:p>
        </p:txBody>
      </p:sp>
      <p:sp>
        <p:nvSpPr>
          <p:cNvPr id="7" name="Shape 4"/>
          <p:cNvSpPr/>
          <p:nvPr/>
        </p:nvSpPr>
        <p:spPr>
          <a:xfrm>
            <a:off x="566928" y="658368"/>
            <a:ext cx="566928" cy="45720"/>
          </a:xfrm>
          <a:prstGeom prst="rect">
            <a:avLst/>
          </a:prstGeom>
          <a:solidFill>
            <a:srgbClr val="F2C230"/>
          </a:solidFill>
          <a:ln w="12700">
            <a:solidFill>
              <a:srgbClr val="F2C230"/>
            </a:solidFill>
            <a:prstDash val="solid"/>
          </a:ln>
        </p:spPr>
        <p:txBody>
          <a:bodyPr/>
          <a:p/>
        </p:txBody>
      </p:sp>
      <p:sp>
        <p:nvSpPr>
          <p:cNvPr id="8" name="Text 5"/>
          <p:cNvSpPr/>
          <p:nvPr/>
        </p:nvSpPr>
        <p:spPr>
          <a:xfrm>
            <a:off x="566928" y="804672"/>
            <a:ext cx="8229600" cy="292608"/>
          </a:xfrm>
          <a:prstGeom prst="rect">
            <a:avLst/>
          </a:prstGeom>
          <a:noFill/>
          <a:ln/>
        </p:spPr>
        <p:txBody>
          <a:bodyPr wrap="square" lIns="0" tIns="0" rIns="0" bIns="0" rtlCol="0" anchor="ctr"/>
          <a:lstStyle/>
          <a:p>
            <a:pPr indent="0" marL="0">
              <a:buNone/>
            </a:pPr>
            <a:r>
              <a:rPr lang="en-US" sz="1200" b="1" spc="240" kern="0" dirty="0">
                <a:solidFill>
                  <a:srgbClr val="F2C230"/>
                </a:solidFill>
                <a:latin typeface="Calibri" pitchFamily="34" charset="0"/>
                <a:ea typeface="Calibri" pitchFamily="34" charset="-122"/>
                <a:cs typeface="Calibri" pitchFamily="34" charset="-120"/>
              </a:rPr>
              <a:t>TAKEAWAYS</a:t>
            </a:r>
            <a:endParaRPr lang="en-US" sz="1200" dirty="0"/>
          </a:p>
        </p:txBody>
      </p:sp>
      <p:sp>
        <p:nvSpPr>
          <p:cNvPr id="9" name="Text 6"/>
          <p:cNvSpPr/>
          <p:nvPr/>
        </p:nvSpPr>
        <p:spPr>
          <a:xfrm>
            <a:off x="566928" y="1115568"/>
            <a:ext cx="8595360" cy="6400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Take one thing away</a:t>
            </a:r>
            <a:endParaRPr lang="en-US" sz="3800" dirty="0"/>
          </a:p>
        </p:txBody>
      </p:sp>
      <p:sp>
        <p:nvSpPr>
          <p:cNvPr id="10" name="Text 7"/>
          <p:cNvSpPr/>
          <p:nvPr/>
        </p:nvSpPr>
        <p:spPr>
          <a:xfrm>
            <a:off x="566928" y="1847088"/>
            <a:ext cx="8686800" cy="1234440"/>
          </a:xfrm>
          <a:prstGeom prst="rect">
            <a:avLst/>
          </a:prstGeom>
          <a:noFill/>
          <a:ln/>
        </p:spPr>
        <p:txBody>
          <a:bodyPr wrap="square" lIns="0" tIns="0" rIns="0" bIns="0" rtlCol="0" anchor="ctr"/>
          <a:lstStyle/>
          <a:p>
            <a:pPr marL="342900" indent="-342900">
              <a:spcAft>
                <a:spcPts val="1000"/>
              </a:spcAft>
              <a:buSzPct val="100000"/>
              <a:buChar char="•"/>
            </a:pPr>
            <a:r>
              <a:rPr lang="en-US" sz="1500" dirty="0">
                <a:solidFill>
                  <a:srgbClr val="C6CBDD"/>
                </a:solidFill>
                <a:latin typeface="Calibri" pitchFamily="34" charset="0"/>
                <a:ea typeface="Calibri" pitchFamily="34" charset="-122"/>
                <a:cs typeface="Calibri" pitchFamily="34" charset="-120"/>
              </a:rPr>
              <a:t>Install the extension in --readonly mode and point it at a model you already understand.</a:t>
            </a:r>
            <a:endParaRPr lang="en-US" sz="1500" dirty="0"/>
          </a:p>
          <a:p>
            <a:pPr marL="342900" indent="-342900">
              <a:spcAft>
                <a:spcPts val="1000"/>
              </a:spcAft>
              <a:buSzPct val="100000"/>
              <a:buChar char="•"/>
            </a:pPr>
            <a:r>
              <a:rPr lang="en-US" sz="1500" dirty="0">
                <a:solidFill>
                  <a:srgbClr val="C6CBDD"/>
                </a:solidFill>
                <a:latin typeface="Calibri" pitchFamily="34" charset="0"/>
                <a:ea typeface="Calibri" pitchFamily="34" charset="-122"/>
                <a:cs typeface="Calibri" pitchFamily="34" charset="-120"/>
              </a:rPr>
              <a:t>The fastest real win is model hygiene: names, descriptions, standards. Tedious for you, trivial for an agent.</a:t>
            </a:r>
            <a:endParaRPr lang="en-US" sz="1500" dirty="0"/>
          </a:p>
          <a:p>
            <a:pPr marL="342900" indent="-342900">
              <a:spcAft>
                <a:spcPts val="1000"/>
              </a:spcAft>
              <a:buSzPct val="100000"/>
              <a:buChar char="•"/>
            </a:pPr>
            <a:r>
              <a:rPr lang="en-US" sz="1500" dirty="0">
                <a:solidFill>
                  <a:srgbClr val="C6CBDD"/>
                </a:solidFill>
                <a:latin typeface="Calibri" pitchFamily="34" charset="0"/>
                <a:ea typeface="Calibri" pitchFamily="34" charset="-122"/>
                <a:cs typeface="Calibri" pitchFamily="34" charset="-120"/>
              </a:rPr>
              <a:t>Parts are still preview. No undo, no autosave, no report layout, no synonyms. Keep a human on the review gate.</a:t>
            </a:r>
            <a:endParaRPr lang="en-US" sz="1500" dirty="0"/>
          </a:p>
        </p:txBody>
      </p:sp>
      <p:sp>
        <p:nvSpPr>
          <p:cNvPr id="11" name="Shape 8"/>
          <p:cNvSpPr/>
          <p:nvPr/>
        </p:nvSpPr>
        <p:spPr>
          <a:xfrm>
            <a:off x="566928" y="3200400"/>
            <a:ext cx="8686800" cy="457200"/>
          </a:xfrm>
          <a:prstGeom prst="roundRect">
            <a:avLst>
              <a:gd name="adj" fmla="val 14000"/>
            </a:avLst>
          </a:prstGeom>
          <a:solidFill>
            <a:srgbClr val="232A52"/>
          </a:solidFill>
          <a:ln w="12700">
            <a:solidFill>
              <a:srgbClr val="343C6B"/>
            </a:solidFill>
            <a:prstDash val="solid"/>
          </a:ln>
        </p:spPr>
        <p:txBody>
          <a:bodyPr/>
          <a:p/>
        </p:txBody>
      </p:sp>
      <p:sp>
        <p:nvSpPr>
          <p:cNvPr id="12" name="Text 9"/>
          <p:cNvSpPr/>
          <p:nvPr/>
        </p:nvSpPr>
        <p:spPr>
          <a:xfrm>
            <a:off x="768096" y="3200400"/>
            <a:ext cx="265176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Power BI MCP servers</a:t>
            </a:r>
            <a:endParaRPr lang="en-US" sz="1200" dirty="0"/>
          </a:p>
        </p:txBody>
      </p:sp>
      <p:sp>
        <p:nvSpPr>
          <p:cNvPr id="13" name="Text 10"/>
          <p:cNvSpPr/>
          <p:nvPr/>
        </p:nvSpPr>
        <p:spPr>
          <a:xfrm>
            <a:off x="3529584" y="3200400"/>
            <a:ext cx="5522976" cy="457200"/>
          </a:xfrm>
          <a:prstGeom prst="rect">
            <a:avLst/>
          </a:prstGeom>
          <a:noFill/>
          <a:ln/>
        </p:spPr>
        <p:txBody>
          <a:bodyPr wrap="square" lIns="0" tIns="0" rIns="0" bIns="0" rtlCol="0" anchor="ctr"/>
          <a:lstStyle/>
          <a:p>
            <a:pPr indent="0" marL="0">
              <a:buNone/>
            </a:pPr>
            <a:r>
              <a:rPr lang="en-US" sz="850" dirty="0">
                <a:solidFill>
                  <a:srgbClr val="9AA3C4"/>
                </a:solidFill>
                <a:latin typeface="Courier New" pitchFamily="34" charset="0"/>
                <a:ea typeface="Courier New" pitchFamily="34" charset="-122"/>
                <a:cs typeface="Courier New" pitchFamily="34" charset="-120"/>
              </a:rPr>
              <a:t>learn.microsoft.com/power-bi/developer/mcp/mcp-servers-overview</a:t>
            </a:r>
            <a:endParaRPr lang="en-US" sz="850" dirty="0"/>
          </a:p>
        </p:txBody>
      </p:sp>
      <p:sp>
        <p:nvSpPr>
          <p:cNvPr id="14" name="Shape 11"/>
          <p:cNvSpPr/>
          <p:nvPr/>
        </p:nvSpPr>
        <p:spPr>
          <a:xfrm>
            <a:off x="566928" y="3712464"/>
            <a:ext cx="8686800" cy="457200"/>
          </a:xfrm>
          <a:prstGeom prst="roundRect">
            <a:avLst>
              <a:gd name="adj" fmla="val 14000"/>
            </a:avLst>
          </a:prstGeom>
          <a:solidFill>
            <a:srgbClr val="232A52"/>
          </a:solidFill>
          <a:ln w="12700">
            <a:solidFill>
              <a:srgbClr val="343C6B"/>
            </a:solidFill>
            <a:prstDash val="solid"/>
          </a:ln>
        </p:spPr>
        <p:txBody>
          <a:bodyPr/>
          <a:p/>
        </p:txBody>
      </p:sp>
      <p:sp>
        <p:nvSpPr>
          <p:cNvPr id="15" name="Text 12"/>
          <p:cNvSpPr/>
          <p:nvPr/>
        </p:nvSpPr>
        <p:spPr>
          <a:xfrm>
            <a:off x="768096" y="3712464"/>
            <a:ext cx="265176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Remote server setup</a:t>
            </a:r>
            <a:endParaRPr lang="en-US" sz="1200" dirty="0"/>
          </a:p>
        </p:txBody>
      </p:sp>
      <p:sp>
        <p:nvSpPr>
          <p:cNvPr id="16" name="Text 13"/>
          <p:cNvSpPr/>
          <p:nvPr/>
        </p:nvSpPr>
        <p:spPr>
          <a:xfrm>
            <a:off x="3529584" y="3712464"/>
            <a:ext cx="5522976" cy="457200"/>
          </a:xfrm>
          <a:prstGeom prst="rect">
            <a:avLst/>
          </a:prstGeom>
          <a:noFill/>
          <a:ln/>
        </p:spPr>
        <p:txBody>
          <a:bodyPr wrap="square" lIns="0" tIns="0" rIns="0" bIns="0" rtlCol="0" anchor="ctr"/>
          <a:lstStyle/>
          <a:p>
            <a:pPr indent="0" marL="0">
              <a:buNone/>
            </a:pPr>
            <a:r>
              <a:rPr lang="en-US" sz="850" dirty="0">
                <a:solidFill>
                  <a:srgbClr val="9AA3C4"/>
                </a:solidFill>
                <a:latin typeface="Courier New" pitchFamily="34" charset="0"/>
                <a:ea typeface="Courier New" pitchFamily="34" charset="-122"/>
                <a:cs typeface="Courier New" pitchFamily="34" charset="-120"/>
              </a:rPr>
              <a:t>learn.microsoft.com/power-bi/developer/mcp/remote-mcp-server-get-started</a:t>
            </a:r>
            <a:endParaRPr lang="en-US" sz="850" dirty="0"/>
          </a:p>
        </p:txBody>
      </p:sp>
      <p:sp>
        <p:nvSpPr>
          <p:cNvPr id="17" name="Shape 14"/>
          <p:cNvSpPr/>
          <p:nvPr/>
        </p:nvSpPr>
        <p:spPr>
          <a:xfrm>
            <a:off x="566928" y="4224528"/>
            <a:ext cx="8686800" cy="457200"/>
          </a:xfrm>
          <a:prstGeom prst="roundRect">
            <a:avLst>
              <a:gd name="adj" fmla="val 14000"/>
            </a:avLst>
          </a:prstGeom>
          <a:solidFill>
            <a:srgbClr val="232A52"/>
          </a:solidFill>
          <a:ln w="12700">
            <a:solidFill>
              <a:srgbClr val="343C6B"/>
            </a:solidFill>
            <a:prstDash val="solid"/>
          </a:ln>
        </p:spPr>
        <p:txBody>
          <a:bodyPr/>
          <a:p/>
        </p:txBody>
      </p:sp>
      <p:sp>
        <p:nvSpPr>
          <p:cNvPr id="18" name="Text 15"/>
          <p:cNvSpPr/>
          <p:nvPr/>
        </p:nvSpPr>
        <p:spPr>
          <a:xfrm>
            <a:off x="768096" y="4224528"/>
            <a:ext cx="265176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Power BI Agentic &amp; skills</a:t>
            </a:r>
            <a:endParaRPr lang="en-US" sz="1200" dirty="0"/>
          </a:p>
        </p:txBody>
      </p:sp>
      <p:sp>
        <p:nvSpPr>
          <p:cNvPr id="19" name="Text 16"/>
          <p:cNvSpPr/>
          <p:nvPr/>
        </p:nvSpPr>
        <p:spPr>
          <a:xfrm>
            <a:off x="3529584" y="4224528"/>
            <a:ext cx="5522976" cy="457200"/>
          </a:xfrm>
          <a:prstGeom prst="rect">
            <a:avLst/>
          </a:prstGeom>
          <a:noFill/>
          <a:ln/>
        </p:spPr>
        <p:txBody>
          <a:bodyPr wrap="square" lIns="0" tIns="0" rIns="0" bIns="0" rtlCol="0" anchor="ctr"/>
          <a:lstStyle/>
          <a:p>
            <a:pPr indent="0" marL="0">
              <a:buNone/>
            </a:pPr>
            <a:r>
              <a:rPr lang="en-US" sz="850" dirty="0">
                <a:solidFill>
                  <a:srgbClr val="9AA3C4"/>
                </a:solidFill>
                <a:latin typeface="Courier New" pitchFamily="34" charset="0"/>
                <a:ea typeface="Courier New" pitchFamily="34" charset="-122"/>
                <a:cs typeface="Courier New" pitchFamily="34" charset="-120"/>
              </a:rPr>
              <a:t>learn.microsoft.com/power-bi/developer/agentic/power-bi-agentic-overview</a:t>
            </a:r>
            <a:endParaRPr lang="en-US" sz="850" dirty="0"/>
          </a:p>
        </p:txBody>
      </p:sp>
      <p:sp>
        <p:nvSpPr>
          <p:cNvPr id="20" name="Shape 17"/>
          <p:cNvSpPr/>
          <p:nvPr/>
        </p:nvSpPr>
        <p:spPr>
          <a:xfrm>
            <a:off x="566928" y="4736592"/>
            <a:ext cx="8686800" cy="457200"/>
          </a:xfrm>
          <a:prstGeom prst="roundRect">
            <a:avLst>
              <a:gd name="adj" fmla="val 14000"/>
            </a:avLst>
          </a:prstGeom>
          <a:solidFill>
            <a:srgbClr val="232A52"/>
          </a:solidFill>
          <a:ln w="12700">
            <a:solidFill>
              <a:srgbClr val="343C6B"/>
            </a:solidFill>
            <a:prstDash val="solid"/>
          </a:ln>
        </p:spPr>
        <p:txBody>
          <a:bodyPr/>
          <a:p/>
        </p:txBody>
      </p:sp>
      <p:sp>
        <p:nvSpPr>
          <p:cNvPr id="21" name="Text 18"/>
          <p:cNvSpPr/>
          <p:nvPr/>
        </p:nvSpPr>
        <p:spPr>
          <a:xfrm>
            <a:off x="768096" y="4736592"/>
            <a:ext cx="265176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Fabric MCP servers</a:t>
            </a:r>
            <a:endParaRPr lang="en-US" sz="1200" dirty="0"/>
          </a:p>
        </p:txBody>
      </p:sp>
      <p:sp>
        <p:nvSpPr>
          <p:cNvPr id="22" name="Text 19"/>
          <p:cNvSpPr/>
          <p:nvPr/>
        </p:nvSpPr>
        <p:spPr>
          <a:xfrm>
            <a:off x="3529584" y="4736592"/>
            <a:ext cx="5522976" cy="457200"/>
          </a:xfrm>
          <a:prstGeom prst="rect">
            <a:avLst/>
          </a:prstGeom>
          <a:noFill/>
          <a:ln/>
        </p:spPr>
        <p:txBody>
          <a:bodyPr wrap="square" lIns="0" tIns="0" rIns="0" bIns="0" rtlCol="0" anchor="ctr"/>
          <a:lstStyle/>
          <a:p>
            <a:pPr indent="0" marL="0">
              <a:buNone/>
            </a:pPr>
            <a:r>
              <a:rPr lang="en-US" sz="850" dirty="0">
                <a:solidFill>
                  <a:srgbClr val="9AA3C4"/>
                </a:solidFill>
                <a:latin typeface="Courier New" pitchFamily="34" charset="0"/>
                <a:ea typeface="Courier New" pitchFamily="34" charset="-122"/>
                <a:cs typeface="Courier New" pitchFamily="34" charset="-120"/>
              </a:rPr>
              <a:t>learn.microsoft.com/rest/api/fabric/articles/mcp-servers/what-is-fabric-mcp-server</a:t>
            </a:r>
            <a:endParaRPr lang="en-US" sz="850" dirty="0"/>
          </a:p>
        </p:txBody>
      </p:sp>
      <p:sp>
        <p:nvSpPr>
          <p:cNvPr id="23" name="Shape 20"/>
          <p:cNvSpPr/>
          <p:nvPr/>
        </p:nvSpPr>
        <p:spPr>
          <a:xfrm>
            <a:off x="566928" y="5248656"/>
            <a:ext cx="8686800" cy="457200"/>
          </a:xfrm>
          <a:prstGeom prst="roundRect">
            <a:avLst>
              <a:gd name="adj" fmla="val 14000"/>
            </a:avLst>
          </a:prstGeom>
          <a:solidFill>
            <a:srgbClr val="232A52"/>
          </a:solidFill>
          <a:ln w="12700">
            <a:solidFill>
              <a:srgbClr val="343C6B"/>
            </a:solidFill>
            <a:prstDash val="solid"/>
          </a:ln>
        </p:spPr>
        <p:txBody>
          <a:bodyPr/>
          <a:p/>
        </p:txBody>
      </p:sp>
      <p:sp>
        <p:nvSpPr>
          <p:cNvPr id="24" name="Text 21"/>
          <p:cNvSpPr/>
          <p:nvPr/>
        </p:nvSpPr>
        <p:spPr>
          <a:xfrm>
            <a:off x="768096" y="5248656"/>
            <a:ext cx="265176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MCP servers in VS Code</a:t>
            </a:r>
            <a:endParaRPr lang="en-US" sz="1200" dirty="0"/>
          </a:p>
        </p:txBody>
      </p:sp>
      <p:sp>
        <p:nvSpPr>
          <p:cNvPr id="25" name="Text 22"/>
          <p:cNvSpPr/>
          <p:nvPr/>
        </p:nvSpPr>
        <p:spPr>
          <a:xfrm>
            <a:off x="3529584" y="5248656"/>
            <a:ext cx="5522976" cy="457200"/>
          </a:xfrm>
          <a:prstGeom prst="rect">
            <a:avLst/>
          </a:prstGeom>
          <a:noFill/>
          <a:ln/>
        </p:spPr>
        <p:txBody>
          <a:bodyPr wrap="square" lIns="0" tIns="0" rIns="0" bIns="0" rtlCol="0" anchor="ctr"/>
          <a:lstStyle/>
          <a:p>
            <a:pPr indent="0" marL="0">
              <a:buNone/>
            </a:pPr>
            <a:r>
              <a:rPr lang="en-US" sz="850" dirty="0">
                <a:solidFill>
                  <a:srgbClr val="9AA3C4"/>
                </a:solidFill>
                <a:latin typeface="Courier New" pitchFamily="34" charset="0"/>
                <a:ea typeface="Courier New" pitchFamily="34" charset="-122"/>
                <a:cs typeface="Courier New" pitchFamily="34" charset="-120"/>
              </a:rPr>
              <a:t>code.visualstudio.com/docs/copilot/customization/mcp-servers</a:t>
            </a:r>
            <a:endParaRPr lang="en-US" sz="850" dirty="0"/>
          </a:p>
        </p:txBody>
      </p:sp>
      <p:sp>
        <p:nvSpPr>
          <p:cNvPr id="26" name="Shape 23"/>
          <p:cNvSpPr/>
          <p:nvPr/>
        </p:nvSpPr>
        <p:spPr>
          <a:xfrm>
            <a:off x="566928" y="5760720"/>
            <a:ext cx="8686800" cy="457200"/>
          </a:xfrm>
          <a:prstGeom prst="roundRect">
            <a:avLst>
              <a:gd name="adj" fmla="val 14000"/>
            </a:avLst>
          </a:prstGeom>
          <a:solidFill>
            <a:srgbClr val="232A52"/>
          </a:solidFill>
          <a:ln w="12700">
            <a:solidFill>
              <a:srgbClr val="343C6B"/>
            </a:solidFill>
            <a:prstDash val="solid"/>
          </a:ln>
        </p:spPr>
        <p:txBody>
          <a:bodyPr/>
          <a:p/>
        </p:txBody>
      </p:sp>
      <p:sp>
        <p:nvSpPr>
          <p:cNvPr id="27" name="Text 24"/>
          <p:cNvSpPr/>
          <p:nvPr/>
        </p:nvSpPr>
        <p:spPr>
          <a:xfrm>
            <a:off x="768096" y="5760720"/>
            <a:ext cx="265176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Skills for Fabric</a:t>
            </a:r>
            <a:endParaRPr lang="en-US" sz="1200" dirty="0"/>
          </a:p>
        </p:txBody>
      </p:sp>
      <p:sp>
        <p:nvSpPr>
          <p:cNvPr id="28" name="Text 25"/>
          <p:cNvSpPr/>
          <p:nvPr/>
        </p:nvSpPr>
        <p:spPr>
          <a:xfrm>
            <a:off x="3529584" y="5760720"/>
            <a:ext cx="5522976" cy="457200"/>
          </a:xfrm>
          <a:prstGeom prst="rect">
            <a:avLst/>
          </a:prstGeom>
          <a:noFill/>
          <a:ln/>
        </p:spPr>
        <p:txBody>
          <a:bodyPr wrap="square" lIns="0" tIns="0" rIns="0" bIns="0" rtlCol="0" anchor="ctr"/>
          <a:lstStyle/>
          <a:p>
            <a:pPr indent="0" marL="0">
              <a:buNone/>
            </a:pPr>
            <a:r>
              <a:rPr lang="en-US" sz="850" dirty="0">
                <a:solidFill>
                  <a:srgbClr val="9AA3C4"/>
                </a:solidFill>
                <a:latin typeface="Courier New" pitchFamily="34" charset="0"/>
                <a:ea typeface="Courier New" pitchFamily="34" charset="-122"/>
                <a:cs typeface="Courier New" pitchFamily="34" charset="-120"/>
              </a:rPr>
              <a:t>github.com/microsoft/skills-for-fabric</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147</TotalTime>
  <Words>4154</Words>
  <Application>Microsoft Office PowerPoint</Application>
  <PresentationFormat>Widescreen</PresentationFormat>
  <Paragraphs>485</Paragraphs>
  <Slides>22</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 BI + Fabric MCP</dc:title>
  <dc:subject>PptxGenJS Presentation</dc:subject>
  <dc:creator>PptxGenJS</dc:creator>
  <cp:lastModifiedBy>natarajan manivasagan</cp:lastModifiedBy>
  <cp:revision>5</cp:revision>
  <dcterms:created xsi:type="dcterms:W3CDTF">2026-08-27T15:49:09Z</dcterms:created>
  <dcterms:modified xsi:type="dcterms:W3CDTF">2026-08-29T14:41:30Z</dcterms:modified>
</cp:coreProperties>
</file>